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2" r:id="rId14"/>
    <p:sldId id="261" r:id="rId1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7.xml"/><Relationship Id="rId14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ENGLISH SCRIPT (spoken)</a:t>
            </a:r>
          </a:p>
          <a:p/>
          <a:p>
            <a:r>
              <a:t>STANDARD OPENING:</a:t>
            </a:r>
          </a:p>
          <a:p>
            <a:r>
              <a:t>"Hello everyone. I'm Yair Gordin — a geologist, and the founder of Drillzy.</a:t>
            </a:r>
          </a:p>
          <a:p/>
          <a:p>
            <a:r>
              <a:t>Every mine, and every critical-mineral supply chain, starts the same way: with a drill going into the ground.</a:t>
            </a:r>
          </a:p>
          <a:p/>
          <a:p>
            <a:r>
              <a:t>At Drillzy, we turn every drilling rig into a real-time source of drilling and subsurface intelligence."</a:t>
            </a:r>
          </a:p>
          <a:p/>
          <a:p>
            <a:r>
              <a:t>OPTIONAL OPENING (if earlier speakers focused on processing and high-tech):</a:t>
            </a:r>
          </a:p>
          <a:p>
            <a:r>
              <a:t>"After processing, advanced materials and high-tech, I'm going to take us back to rocks. I'm a geologist — I can't help it.</a:t>
            </a:r>
          </a:p>
          <a:p/>
          <a:p>
            <a:r>
              <a:t>I'm Yair Gordin, founder of Drillzy. Every critical-mineral supply chain starts the same way: with a drill going into the ground. We turn every drilling rig into a real-time source of drilling and subsurface intelligence."</a:t>
            </a:r>
          </a:p>
          <a:p/>
          <a:p>
            <a:r>
              <a:t>--------------------</a:t>
            </a:r>
          </a:p>
          <a:p>
            <a:r>
              <a:t>הנחיות למציג (עברית, לא חלק מהנאום)</a:t>
            </a:r>
          </a:p>
          <a:p/>
          <a:p>
            <a:r>
              <a:t>זמן יעד: 25 שניות.</a:t>
            </a:r>
          </a:p>
          <a:p>
            <a:r>
              <a:t>לבחור פתיחה אחת לפי מה שנאמר לפניך. בפתיחה האופציונלית לחייך ולעצור רגע אחרי "I can't help it".</a:t>
            </a:r>
          </a:p>
          <a:p>
            <a:r>
              <a:t>המשפט האחרון ("we turn every drilling rig...") הוא המשפט שצריך להיזכר — לומר אותו לאט, מול הקהל ולא מול המסך.</a:t>
            </a:r>
          </a:p>
          <a:p>
            <a:r>
              <a:t>לא להקריא את הפרס: הוא על המסך, והוא חוזר בשקף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ENGLISH SCRIPT (spoken)</a:t>
            </a:r>
          </a:p>
          <a:p/>
          <a:p>
            <a:r>
              <a:t>"Here is the problem. Drilling is the only moment we physically touch the rock.</a:t>
            </a:r>
          </a:p>
          <a:p/>
          <a:p>
            <a:r>
              <a:t>And this is how that moment is recorded today, on most rigs in the world: a notebook, a pen, and trays of samples.</a:t>
            </a:r>
          </a:p>
          <a:p/>
          <a:p>
            <a:r>
              <a:t>The rig feels the rock every second — and almost none of it is kept.</a:t>
            </a:r>
          </a:p>
          <a:p/>
          <a:p>
            <a:r>
              <a:t>So decisions worth millions — where the ore begins, where it ends, where to drill next — are made on a picture that is partial, subjective, and late."</a:t>
            </a:r>
          </a:p>
          <a:p/>
          <a:p>
            <a:r>
              <a:t>--------------------</a:t>
            </a:r>
          </a:p>
          <a:p>
            <a:r>
              <a:t>הנחיות למציג (עברית, לא חלק מהנאום)</a:t>
            </a:r>
          </a:p>
          <a:p/>
          <a:p>
            <a:r>
              <a:t>זמן יעד: 35 שניות.</a:t>
            </a:r>
          </a:p>
          <a:p>
            <a:r>
              <a:t>להצביע על התמונה במשפט השני ("this is how that moment is recorded") ולתת לה שנייה לעבוד — זו תמונה אמיתית מהשטח.</a:t>
            </a:r>
          </a:p>
          <a:p>
            <a:r>
              <a:t>לא לקרוא את שלוש הנקודות מימין; הן מהדהדות את "partial, subjective, and late" שבסוף.</a:t>
            </a:r>
          </a:p>
          <a:p>
            <a:r>
              <a:t>הטון: לא ביקורת על אנשי השטח, אלא הזדמנות שמתפספסת.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ENGLISH SCRIPT (spoken)</a:t>
            </a:r>
          </a:p>
          <a:p/>
          <a:p>
            <a:r>
              <a:t>"Our answer: make every meter drilled work twice.</a:t>
            </a:r>
          </a:p>
          <a:p/>
          <a:p>
            <a:r>
              <a:t>We add a sensing and software layer to the rigs that are already in the field. Many signals, tied to depth, turned into a picture of the rock with physics and AI.</a:t>
            </a:r>
          </a:p>
          <a:p/>
          <a:p>
            <a:r>
              <a:t>Once — here and now, at the rig: the driller knows when to stop, when to sample, where the ore starts and ends.</a:t>
            </a:r>
          </a:p>
          <a:p/>
          <a:p>
            <a:r>
              <a:t>And twice — over time: every hole adds to a geological model of the subsurface, so the client understands better and better how to develop the deposit.</a:t>
            </a:r>
          </a:p>
          <a:p/>
          <a:p>
            <a:r>
              <a:t>The result: shorter drilling cycles, faster reports, reliable data — and decisions based on evidence, not on gut feeling."</a:t>
            </a:r>
          </a:p>
          <a:p/>
          <a:p>
            <a:r>
              <a:t>--------------------</a:t>
            </a:r>
          </a:p>
          <a:p>
            <a:r>
              <a:t>הנחיות למציג (עברית, לא חלק מהנאום)</a:t>
            </a:r>
          </a:p>
          <a:p/>
          <a:p>
            <a:r>
              <a:t>זמן יעד: 45 שניות.</a:t>
            </a:r>
          </a:p>
          <a:p>
            <a:r>
              <a:t>זה השקף שמסביר את ה"פעמיים": 1 = החלטות כאן ועכשיו בקידוח, 2 = בניית המודל התת-קרקעי והבנה מצטברת של הלקוח. להצביע על המספרים 1 ו-2 בזמן שאומרים "once" ו-"twice".</a:t>
            </a:r>
          </a:p>
          <a:p>
            <a:r>
              <a:t>Capture → Process → Deliver — לא להרחיב, שורה אחת מספיקה. לא לפרט אילו חיישנים או מה כל אחד מודד.</a:t>
            </a:r>
          </a:p>
          <a:p>
            <a:r>
              <a:t>המשפט האחרון (evidence, not gut feeling) הוא המסר למשרד החוץ — לומר לאט, מול הקהל.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ENGLISH SCRIPT (spoken)</a:t>
            </a:r>
          </a:p>
          <a:p/>
          <a:p>
            <a:r>
              <a:t>"And this is not a concept.</a:t>
            </a:r>
          </a:p>
          <a:p/>
          <a:p>
            <a:r>
              <a:t>This is our team on a working rig. Next to it is real data from one of our boreholes: four signals, aligned to depth, down to fifty-two meters.</a:t>
            </a:r>
          </a:p>
          <a:p/>
          <a:p>
            <a:r>
              <a:t>You can see the rhythm of every drill rod — and at about twenty-six meters, several signals shift at once. Changes like that are exactly what we are teaching our models to read.</a:t>
            </a:r>
          </a:p>
          <a:p/>
          <a:p>
            <a:r>
              <a:t>We have recorded more than thirty boreholes like this, at three sites with three very different geologies — together with our design partners: a phosphate mine, a government body working in hard rock, and a water utility.</a:t>
            </a:r>
          </a:p>
          <a:p/>
          <a:p>
            <a:r>
              <a:t>And this summer, Drillzy won first place in Israel's national Critical Minerals competition."</a:t>
            </a:r>
          </a:p>
          <a:p/>
          <a:p>
            <a:r>
              <a:t>--------------------</a:t>
            </a:r>
          </a:p>
          <a:p>
            <a:r>
              <a:t>הנחיות למציג (עברית, לא חלק מהנאום)</a:t>
            </a:r>
          </a:p>
          <a:p/>
          <a:p>
            <a:r>
              <a:t>זמן יעד: 45 שניות. זה שקף ההוכחה — הכי חשוב במצגת.</a:t>
            </a:r>
          </a:p>
          <a:p>
            <a:r>
              <a:t>סדר ההצבעה: התמונה ← הלוג ← הפס המסומן בעומק ~26 מ' ← המספרים מימין.</a:t>
            </a:r>
          </a:p>
          <a:p>
            <a:r>
              <a:t>הנתונים אמיתיים: קידוח K7, אתר הסלע הקשה, 10.2.2026, 11–52 מ'. האותות מנורמלים ומוצגים בשמות כלליים (Signal A–D) — לא לומר מה כל אחד מודד.</a:t>
            </a:r>
          </a:p>
          <a:p>
            <a:r>
              <a:t>ניסוח זהיר במכוון: "several signals shift at once" ו-"we are teaching our models to read" — לא לטעון שזיהינו שם שכבה מסוימת.</a:t>
            </a:r>
          </a:p>
          <a:p>
            <a:r>
              <a:t>התמונה והנתונים מאתרים שונים (התמונה: מכרה פתוח; הנתונים: אתר הסלע הקשה) — הכיתובים על השקף מפרידים ביניהם.</a:t>
            </a:r>
          </a:p>
          <a:p>
            <a:r>
              <a:t>לא לומר את שם הגוף הממשלתי. "hard rock" מספיק.</a:t>
            </a:r>
          </a:p>
          <a:p>
            <a:r>
              <a:t>שותפי התכנון (design partners) מודגשים בשורה התחתונה — לומר את המילים design partners במפורש: זה מראה שהלקוחות בונים איתנו את המוצר.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ENGLISH SCRIPT (spoken)</a:t>
            </a:r>
          </a:p>
          <a:p/>
          <a:p>
            <a:r>
              <a:t>"So what does this give the people on site? One shared picture, and three decisions.</a:t>
            </a:r>
          </a:p>
          <a:p/>
          <a:p>
            <a:r>
              <a:t>The driller sees the ground change as it happens — and knows when to stop, and when to sample.</a:t>
            </a:r>
          </a:p>
          <a:p/>
          <a:p>
            <a:r>
              <a:t>The operations manager sees every rig and every hole against the plan.</a:t>
            </a:r>
          </a:p>
          <a:p/>
          <a:p>
            <a:r>
              <a:t>And the geologist and the engineer get a subsurface model that updates with every hole — showing where we are confident, and where to drill next.</a:t>
            </a:r>
          </a:p>
          <a:p/>
          <a:p>
            <a:r>
              <a:t>This is where the product is going, and we are building it together with our partners in the field."</a:t>
            </a:r>
          </a:p>
          <a:p/>
          <a:p>
            <a:r>
              <a:t>--------------------</a:t>
            </a:r>
          </a:p>
          <a:p>
            <a:r>
              <a:t>הנחיות למציג (עברית, לא חלק מהנאום)</a:t>
            </a:r>
          </a:p>
          <a:p/>
          <a:p>
            <a:r>
              <a:t>זמן יעד: 30 שניות.</a:t>
            </a:r>
          </a:p>
          <a:p>
            <a:r>
              <a:t>המסך בשקף הוא הדמיית מוצר (מסומן Product preview) — לכן המשפט האחרון: "this is where the product is going".</a:t>
            </a:r>
          </a:p>
          <a:p>
            <a:r>
              <a:t>לדבר על ההחלטה של כל אחד, לא על הפיצ'רים. להתקדם קודח ← מנהל ← גיאולוג/מהנדס, בקצב אחיד.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ENGLISH SCRIPT (spoken)</a:t>
            </a:r>
          </a:p>
          <a:p/>
          <a:p>
            <a:r>
              <a:t>"Our vision is a mine that learns as it works — where every meter drilled improves the next decision.</a:t>
            </a:r>
          </a:p>
          <a:p/>
          <a:p>
            <a:r>
              <a:t>We built this in Israel: a small country with remarkably varied geology, and deep experience in sensors and AI. Now we want to take it to the mines of the world.</a:t>
            </a:r>
          </a:p>
          <a:p/>
          <a:p>
            <a:r>
              <a:t>So we are looking for three things: pilot sites, strategic partners, and investors who want to build this with us.</a:t>
            </a:r>
          </a:p>
          <a:p/>
          <a:p>
            <a:r>
              <a:t>I'm Yair, this is Drillzy — come and talk to me. Thank you."</a:t>
            </a:r>
          </a:p>
          <a:p/>
          <a:p>
            <a:r>
              <a:t>--------------------</a:t>
            </a:r>
          </a:p>
          <a:p>
            <a:r>
              <a:t>הנחיות למציג (עברית, לא חלק מהנאום)</a:t>
            </a:r>
          </a:p>
          <a:p/>
          <a:p>
            <a:r>
              <a:t>זמן יעד: 35 שניות.</a:t>
            </a:r>
          </a:p>
          <a:p>
            <a:r>
              <a:t>להאט. בשלוש הבקשות (pilot sites / strategic partners / investors) להסתכל על הקהל ולספור אותן בקצב.</a:t>
            </a:r>
          </a:p>
          <a:p>
            <a:r>
              <a:t>לסיים ב-"come and talk to me" ולהישאר לעמוד שנייה — לא להוסיף נושא חדש.</a:t>
            </a:r>
          </a:p>
          <a:p>
            <a:r>
              <a:t>השקף נשאר על המסך בזמן שאלות או מעבר לדובר הבא, ולכן פרטי הקשר עליו.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ENGLISH SCRIPT (spoken)</a:t>
            </a:r>
          </a:p>
          <a:p/>
          <a:p>
            <a:r>
              <a:t>"A word on who is building this. I'm a geoscientist — a Ph.D. in petrophysics and geophysics, and an engineering geologist by training, with peer-reviewed work in rock physics.</a:t>
            </a:r>
          </a:p>
          <a:p/>
          <a:p>
            <a:r>
              <a:t>For the last five years I've led research at Matrix's defense division, building AI and data systems.</a:t>
            </a:r>
          </a:p>
          <a:p/>
          <a:p>
            <a:r>
              <a:t>Drillzy is where those two worlds meet: the rock, and the data."</a:t>
            </a:r>
          </a:p>
          <a:p/>
          <a:p>
            <a:r>
              <a:t>--------------------</a:t>
            </a:r>
          </a:p>
          <a:p>
            <a:r>
              <a:t>הנחיות למציג (עברית, לא חלק מהנאום)</a:t>
            </a:r>
          </a:p>
          <a:p/>
          <a:p>
            <a:r>
              <a:t>זמן יעד: 20 שניות.</a:t>
            </a:r>
          </a:p>
          <a:p>
            <a:r>
              <a:t>לא להקריא את הרשימה — השקף עושה את העבודה. משפט אחד על כל צד: גיאולוגיה/פטרופיזיקה, ואז דאטה/AI במטריקס.</a:t>
            </a:r>
          </a:p>
          <a:p>
            <a:r>
              <a:t>הפרסומים מופיעים לאמינות — לא לפרט אותם בעל פה, אלא אם שואלים.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jpg"/><Relationship Id="rId7" Type="http://schemas.openxmlformats.org/officeDocument/2006/relationships/notesSlide" Target="../notesSlides/notesSlide4.xml"/><Relationship Id="rId8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3.jpg"/><Relationship Id="rId5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over image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Logo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2336"/>
            <a:ext cx="1307592" cy="1330213"/>
          </a:xfrm>
          <a:prstGeom prst="rect">
            <a:avLst/>
          </a:prstGeom>
        </p:spPr>
      </p:pic>
      <p:sp>
        <p:nvSpPr>
          <p:cNvPr id="4" name="Eyebrow"/>
          <p:cNvSpPr txBox="1"/>
          <p:nvPr/>
        </p:nvSpPr>
        <p:spPr>
          <a:xfrm>
            <a:off x="777240" y="22402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C488"/>
                </a:solidFill>
                <a:latin typeface="Arial"/>
              </a:rPr>
              <a:t>THE INTELLIGENCE LAYER FOR CRITICAL MINERALS — STARTING AT THE DRILL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758952" y="2743200"/>
            <a:ext cx="78638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Arial"/>
              </a:rPr>
              <a:t>Turn every drilling rig into a</a:t>
            </a:r>
          </a:p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Arial"/>
              </a:rPr>
              <a:t>real‑time source of drilling &amp;</a:t>
            </a:r>
          </a:p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Arial"/>
              </a:rPr>
              <a:t>subsurface intelligence.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777240" y="498348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DDEDE7"/>
                </a:solidFill>
                <a:latin typeface="Arial"/>
              </a:rPr>
              <a:t>Every meter drilled becomes data — operational and geological.</a:t>
            </a:r>
          </a:p>
        </p:txBody>
      </p:sp>
      <p:sp>
        <p:nvSpPr>
          <p:cNvPr id="7" name="Award chip"/>
          <p:cNvSpPr/>
          <p:nvPr/>
        </p:nvSpPr>
        <p:spPr>
          <a:xfrm>
            <a:off x="777240" y="5897880"/>
            <a:ext cx="6035040" cy="868680"/>
          </a:xfrm>
          <a:prstGeom prst="roundRect">
            <a:avLst>
              <a:gd name="adj" fmla="val 22000"/>
            </a:avLst>
          </a:prstGeom>
          <a:solidFill>
            <a:srgbClr val="0B3A2B"/>
          </a:solidFill>
          <a:ln w="15875">
            <a:solidFill>
              <a:srgbClr val="2EC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edal"/>
          <p:cNvSpPr/>
          <p:nvPr/>
        </p:nvSpPr>
        <p:spPr>
          <a:xfrm>
            <a:off x="1005840" y="6117336"/>
            <a:ext cx="429768" cy="429768"/>
          </a:xfrm>
          <a:prstGeom prst="ellipse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edal number"/>
          <p:cNvSpPr txBox="1"/>
          <p:nvPr/>
        </p:nvSpPr>
        <p:spPr>
          <a:xfrm>
            <a:off x="1005840" y="6117336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63D2B"/>
                </a:solidFill>
                <a:latin typeface="Arial"/>
              </a:rPr>
              <a:t>1</a:t>
            </a:r>
          </a:p>
        </p:txBody>
      </p:sp>
      <p:sp>
        <p:nvSpPr>
          <p:cNvPr id="10" name="Award text"/>
          <p:cNvSpPr txBox="1"/>
          <p:nvPr/>
        </p:nvSpPr>
        <p:spPr>
          <a:xfrm>
            <a:off x="1645920" y="5998464"/>
            <a:ext cx="50292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rial"/>
              </a:rPr>
              <a:t>1st place — Israel’s Critical Minerals competition</a:t>
            </a:r>
          </a:p>
          <a:p>
            <a:pPr algn="l"/>
            <a:r>
              <a:rPr sz="1200" b="0">
                <a:solidFill>
                  <a:srgbClr val="CFE6DD"/>
                </a:solidFill>
                <a:latin typeface="Arial"/>
              </a:rPr>
              <a:t>Israel Innovation Authority &amp; Ministry of Energy · 2026</a:t>
            </a:r>
          </a:p>
        </p:txBody>
      </p:sp>
      <p:sp>
        <p:nvSpPr>
          <p:cNvPr id="11" name="Presenter"/>
          <p:cNvSpPr txBox="1"/>
          <p:nvPr/>
        </p:nvSpPr>
        <p:spPr>
          <a:xfrm>
            <a:off x="777240" y="75438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DEDE7"/>
                </a:solidFill>
                <a:latin typeface="Arial"/>
              </a:rPr>
              <a:t>Yair Gordin, Ph.D. · Founder &amp; CEO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and strip"/>
          <p:cNvSpPr/>
          <p:nvPr/>
        </p:nvSpPr>
        <p:spPr>
          <a:xfrm>
            <a:off x="0" y="0"/>
            <a:ext cx="164592" cy="8229600"/>
          </a:xfrm>
          <a:prstGeom prst="rect">
            <a:avLst/>
          </a:prstGeom>
          <a:solidFill>
            <a:srgbClr val="1FB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yebrow"/>
          <p:cNvSpPr txBox="1"/>
          <p:nvPr/>
        </p:nvSpPr>
        <p:spPr>
          <a:xfrm>
            <a:off x="77724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B480"/>
                </a:solidFill>
                <a:latin typeface="Arial"/>
              </a:rPr>
              <a:t>THE PROBLEM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758952" y="1005840"/>
            <a:ext cx="12801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63D2B"/>
                </a:solidFill>
                <a:latin typeface="Arial"/>
              </a:rPr>
              <a:t>Every discovery starts at the drill — and that’s where data stops.</a:t>
            </a:r>
          </a:p>
        </p:txBody>
      </p:sp>
      <p:pic>
        <p:nvPicPr>
          <p:cNvPr id="6" name="Logo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8568" y="246888"/>
            <a:ext cx="658368" cy="669758"/>
          </a:xfrm>
          <a:prstGeom prst="rect">
            <a:avLst/>
          </a:prstGeom>
        </p:spPr>
      </p:pic>
      <p:sp>
        <p:nvSpPr>
          <p:cNvPr id="7" name="Footer"/>
          <p:cNvSpPr txBox="1"/>
          <p:nvPr/>
        </p:nvSpPr>
        <p:spPr>
          <a:xfrm>
            <a:off x="777240" y="7818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E7A70"/>
                </a:solidFill>
                <a:latin typeface="Arial"/>
              </a:rPr>
              <a:t>Drillzy.AI · 2026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3167360" y="78181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E7A70"/>
                </a:solidFill>
                <a:latin typeface="Arial"/>
              </a:rPr>
              <a:t>2</a:t>
            </a:r>
          </a:p>
        </p:txBody>
      </p:sp>
      <p:pic>
        <p:nvPicPr>
          <p:cNvPr id="9" name="Photo: hand-written drilling log" descr="logboo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48840"/>
            <a:ext cx="7589520" cy="4743450"/>
          </a:xfrm>
          <a:prstGeom prst="rect">
            <a:avLst/>
          </a:prstGeom>
        </p:spPr>
      </p:pic>
      <p:sp>
        <p:nvSpPr>
          <p:cNvPr id="10" name="Photo caption"/>
          <p:cNvSpPr txBox="1"/>
          <p:nvPr/>
        </p:nvSpPr>
        <p:spPr>
          <a:xfrm>
            <a:off x="777240" y="7022592"/>
            <a:ext cx="7589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E7A70"/>
                </a:solidFill>
                <a:latin typeface="Arial"/>
              </a:rPr>
              <a:t>A real drilling site: the record of the ground is a notebook and sample trays.</a:t>
            </a:r>
          </a:p>
        </p:txBody>
      </p:sp>
      <p:sp>
        <p:nvSpPr>
          <p:cNvPr id="11" name="Dot 1"/>
          <p:cNvSpPr/>
          <p:nvPr/>
        </p:nvSpPr>
        <p:spPr>
          <a:xfrm>
            <a:off x="8915400" y="2350008"/>
            <a:ext cx="566928" cy="566928"/>
          </a:xfrm>
          <a:prstGeom prst="ellipse">
            <a:avLst/>
          </a:prstGeom>
          <a:solidFill>
            <a:srgbClr val="1FB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t num 1"/>
          <p:cNvSpPr txBox="1"/>
          <p:nvPr/>
        </p:nvSpPr>
        <p:spPr>
          <a:xfrm>
            <a:off x="8915400" y="235000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Point 1"/>
          <p:cNvSpPr txBox="1"/>
          <p:nvPr/>
        </p:nvSpPr>
        <p:spPr>
          <a:xfrm>
            <a:off x="9738360" y="233172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63D2B"/>
                </a:solidFill>
                <a:latin typeface="Arial"/>
              </a:rPr>
              <a:t>Logged by hand</a:t>
            </a:r>
          </a:p>
        </p:txBody>
      </p:sp>
      <p:sp>
        <p:nvSpPr>
          <p:cNvPr id="14" name="Point body 1"/>
          <p:cNvSpPr txBox="1"/>
          <p:nvPr/>
        </p:nvSpPr>
        <p:spPr>
          <a:xfrm>
            <a:off x="9738360" y="2862072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B3A35"/>
                </a:solidFill>
                <a:latin typeface="Arial"/>
              </a:rPr>
              <a:t>Subjective — and different with every person.</a:t>
            </a:r>
          </a:p>
        </p:txBody>
      </p:sp>
      <p:sp>
        <p:nvSpPr>
          <p:cNvPr id="15" name="Dot 2"/>
          <p:cNvSpPr/>
          <p:nvPr/>
        </p:nvSpPr>
        <p:spPr>
          <a:xfrm>
            <a:off x="8915400" y="3922775"/>
            <a:ext cx="566928" cy="566928"/>
          </a:xfrm>
          <a:prstGeom prst="ellipse">
            <a:avLst/>
          </a:prstGeom>
          <a:solidFill>
            <a:srgbClr val="1FB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t num 2"/>
          <p:cNvSpPr txBox="1"/>
          <p:nvPr/>
        </p:nvSpPr>
        <p:spPr>
          <a:xfrm>
            <a:off x="8915400" y="3922775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Point 2"/>
          <p:cNvSpPr txBox="1"/>
          <p:nvPr/>
        </p:nvSpPr>
        <p:spPr>
          <a:xfrm>
            <a:off x="9738360" y="3904487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63D2B"/>
                </a:solidFill>
                <a:latin typeface="Arial"/>
              </a:rPr>
              <a:t>Mostly never captured</a:t>
            </a:r>
          </a:p>
        </p:txBody>
      </p:sp>
      <p:sp>
        <p:nvSpPr>
          <p:cNvPr id="18" name="Point body 2"/>
          <p:cNvSpPr txBox="1"/>
          <p:nvPr/>
        </p:nvSpPr>
        <p:spPr>
          <a:xfrm>
            <a:off x="9738360" y="443484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B3A35"/>
                </a:solidFill>
                <a:latin typeface="Arial"/>
              </a:rPr>
              <a:t>The rig feels the rock every second. Almost none of it is kept.</a:t>
            </a:r>
          </a:p>
        </p:txBody>
      </p:sp>
      <p:sp>
        <p:nvSpPr>
          <p:cNvPr id="19" name="Dot 3"/>
          <p:cNvSpPr/>
          <p:nvPr/>
        </p:nvSpPr>
        <p:spPr>
          <a:xfrm>
            <a:off x="8915400" y="5495544"/>
            <a:ext cx="566928" cy="566928"/>
          </a:xfrm>
          <a:prstGeom prst="ellipse">
            <a:avLst/>
          </a:prstGeom>
          <a:solidFill>
            <a:srgbClr val="1FB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t num 3"/>
          <p:cNvSpPr txBox="1"/>
          <p:nvPr/>
        </p:nvSpPr>
        <p:spPr>
          <a:xfrm>
            <a:off x="8915400" y="5495544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Point 3"/>
          <p:cNvSpPr txBox="1"/>
          <p:nvPr/>
        </p:nvSpPr>
        <p:spPr>
          <a:xfrm>
            <a:off x="9738360" y="5477256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63D2B"/>
                </a:solidFill>
                <a:latin typeface="Arial"/>
              </a:rPr>
              <a:t>Too late to act</a:t>
            </a:r>
          </a:p>
        </p:txBody>
      </p:sp>
      <p:sp>
        <p:nvSpPr>
          <p:cNvPr id="22" name="Point body 3"/>
          <p:cNvSpPr txBox="1"/>
          <p:nvPr/>
        </p:nvSpPr>
        <p:spPr>
          <a:xfrm>
            <a:off x="9738360" y="6007608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B3A35"/>
                </a:solidFill>
                <a:latin typeface="Arial"/>
              </a:rPr>
              <a:t>By the time it is a report, the decision has already been made.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olution image" descr="image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Brand strip"/>
          <p:cNvSpPr/>
          <p:nvPr/>
        </p:nvSpPr>
        <p:spPr>
          <a:xfrm>
            <a:off x="0" y="0"/>
            <a:ext cx="164592" cy="8229600"/>
          </a:xfrm>
          <a:prstGeom prst="rect">
            <a:avLst/>
          </a:prstGeom>
          <a:solidFill>
            <a:srgbClr val="1FB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Logo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8568" y="246888"/>
            <a:ext cx="658368" cy="669758"/>
          </a:xfrm>
          <a:prstGeom prst="rect">
            <a:avLst/>
          </a:prstGeom>
        </p:spPr>
      </p:pic>
      <p:sp>
        <p:nvSpPr>
          <p:cNvPr id="5" name="Eyebrow"/>
          <p:cNvSpPr txBox="1"/>
          <p:nvPr/>
        </p:nvSpPr>
        <p:spPr>
          <a:xfrm>
            <a:off x="777240" y="6858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C488"/>
                </a:solidFill>
                <a:latin typeface="Arial"/>
              </a:rPr>
              <a:t>THE SOLUTION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758952" y="1188720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FFFFF"/>
                </a:solidFill>
                <a:latin typeface="Arial"/>
              </a:rPr>
              <a:t>Make every meter drilled work twice.</a:t>
            </a:r>
          </a:p>
        </p:txBody>
      </p:sp>
      <p:sp>
        <p:nvSpPr>
          <p:cNvPr id="7" name="How it works"/>
          <p:cNvSpPr txBox="1"/>
          <p:nvPr/>
        </p:nvSpPr>
        <p:spPr>
          <a:xfrm>
            <a:off x="804672" y="2743200"/>
            <a:ext cx="5760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C488"/>
                </a:solidFill>
                <a:latin typeface="Arial"/>
              </a:rPr>
              <a:t>Capture → Process → Deliver  </a:t>
            </a:r>
            <a:r>
              <a:rPr sz="1400" b="0">
                <a:solidFill>
                  <a:srgbClr val="FFFFFF"/>
                </a:solidFill>
                <a:latin typeface="Arial"/>
              </a:rPr>
              <a:t>a sensing layer on the rigs already in the field; physics + AI, tied to depth.</a:t>
            </a:r>
          </a:p>
        </p:txBody>
      </p:sp>
      <p:sp>
        <p:nvSpPr>
          <p:cNvPr id="8" name="Twice card 1"/>
          <p:cNvSpPr/>
          <p:nvPr/>
        </p:nvSpPr>
        <p:spPr>
          <a:xfrm>
            <a:off x="777240" y="3520440"/>
            <a:ext cx="5897880" cy="1188720"/>
          </a:xfrm>
          <a:prstGeom prst="roundRect">
            <a:avLst>
              <a:gd name="adj" fmla="val 14000"/>
            </a:avLst>
          </a:prstGeom>
          <a:solidFill>
            <a:srgbClr val="0B3A2B">
              <a:alpha val="88000"/>
            </a:srgbClr>
          </a:solidFill>
          <a:ln w="15875">
            <a:solidFill>
              <a:srgbClr val="2EC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wice number 1"/>
          <p:cNvSpPr/>
          <p:nvPr/>
        </p:nvSpPr>
        <p:spPr>
          <a:xfrm>
            <a:off x="978408" y="3822191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FB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6281D"/>
                </a:solidFill>
                <a:latin typeface="Arial"/>
              </a:rPr>
              <a:t>1</a:t>
            </a:r>
          </a:p>
        </p:txBody>
      </p:sp>
      <p:sp>
        <p:nvSpPr>
          <p:cNvPr id="10" name="Twice head 1"/>
          <p:cNvSpPr txBox="1"/>
          <p:nvPr/>
        </p:nvSpPr>
        <p:spPr>
          <a:xfrm>
            <a:off x="1783080" y="365760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Here and now: at the rig</a:t>
            </a:r>
          </a:p>
        </p:txBody>
      </p:sp>
      <p:sp>
        <p:nvSpPr>
          <p:cNvPr id="11" name="Twice body 1"/>
          <p:cNvSpPr txBox="1"/>
          <p:nvPr/>
        </p:nvSpPr>
        <p:spPr>
          <a:xfrm>
            <a:off x="1783080" y="4023360"/>
            <a:ext cx="4709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DEDE7"/>
                </a:solidFill>
                <a:latin typeface="Arial"/>
              </a:rPr>
              <a:t>Real-time drilling decisions on site: when to stop, when to sample, where the ore starts and ends.</a:t>
            </a:r>
          </a:p>
        </p:txBody>
      </p:sp>
      <p:sp>
        <p:nvSpPr>
          <p:cNvPr id="12" name="Twice card 2"/>
          <p:cNvSpPr/>
          <p:nvPr/>
        </p:nvSpPr>
        <p:spPr>
          <a:xfrm>
            <a:off x="777240" y="4846320"/>
            <a:ext cx="5897880" cy="1188720"/>
          </a:xfrm>
          <a:prstGeom prst="roundRect">
            <a:avLst>
              <a:gd name="adj" fmla="val 14000"/>
            </a:avLst>
          </a:prstGeom>
          <a:solidFill>
            <a:srgbClr val="0B3A2B">
              <a:alpha val="88000"/>
            </a:srgbClr>
          </a:solidFill>
          <a:ln w="15875">
            <a:solidFill>
              <a:srgbClr val="2EC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wice number 2"/>
          <p:cNvSpPr/>
          <p:nvPr/>
        </p:nvSpPr>
        <p:spPr>
          <a:xfrm>
            <a:off x="978408" y="514807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FB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6281D"/>
                </a:solidFill>
                <a:latin typeface="Arial"/>
              </a:rPr>
              <a:t>2</a:t>
            </a:r>
          </a:p>
        </p:txBody>
      </p:sp>
      <p:sp>
        <p:nvSpPr>
          <p:cNvPr id="14" name="Twice head 2"/>
          <p:cNvSpPr txBox="1"/>
          <p:nvPr/>
        </p:nvSpPr>
        <p:spPr>
          <a:xfrm>
            <a:off x="1783080" y="498348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Over time: the subsurface model</a:t>
            </a:r>
          </a:p>
        </p:txBody>
      </p:sp>
      <p:sp>
        <p:nvSpPr>
          <p:cNvPr id="15" name="Twice body 2"/>
          <p:cNvSpPr txBox="1"/>
          <p:nvPr/>
        </p:nvSpPr>
        <p:spPr>
          <a:xfrm>
            <a:off x="1783080" y="5349240"/>
            <a:ext cx="4709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DEDE7"/>
                </a:solidFill>
                <a:latin typeface="Arial"/>
              </a:rPr>
              <a:t>Every hole adds to a cumulative geological model, building the client's understanding of how to develop the deposit.</a:t>
            </a:r>
          </a:p>
        </p:txBody>
      </p:sp>
      <p:sp>
        <p:nvSpPr>
          <p:cNvPr id="16" name="Value label"/>
          <p:cNvSpPr txBox="1"/>
          <p:nvPr/>
        </p:nvSpPr>
        <p:spPr>
          <a:xfrm>
            <a:off x="804672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C488"/>
                </a:solidFill>
                <a:latin typeface="Arial"/>
              </a:rPr>
              <a:t>THE VALUE</a:t>
            </a:r>
          </a:p>
        </p:txBody>
      </p:sp>
      <p:sp>
        <p:nvSpPr>
          <p:cNvPr id="17" name="Value chip 1"/>
          <p:cNvSpPr/>
          <p:nvPr/>
        </p:nvSpPr>
        <p:spPr>
          <a:xfrm>
            <a:off x="777240" y="6583680"/>
            <a:ext cx="2880360" cy="548640"/>
          </a:xfrm>
          <a:prstGeom prst="roundRect">
            <a:avLst>
              <a:gd name="adj" fmla="val 20000"/>
            </a:avLst>
          </a:prstGeom>
          <a:solidFill>
            <a:srgbClr val="1FB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Value text 1"/>
          <p:cNvSpPr txBox="1"/>
          <p:nvPr/>
        </p:nvSpPr>
        <p:spPr>
          <a:xfrm>
            <a:off x="941832" y="658368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6281D"/>
                </a:solidFill>
                <a:latin typeface="Arial"/>
              </a:rPr>
              <a:t>Shorter drilling cycles</a:t>
            </a:r>
          </a:p>
        </p:txBody>
      </p:sp>
      <p:sp>
        <p:nvSpPr>
          <p:cNvPr id="19" name="Value chip 2"/>
          <p:cNvSpPr/>
          <p:nvPr/>
        </p:nvSpPr>
        <p:spPr>
          <a:xfrm>
            <a:off x="3794759" y="6583680"/>
            <a:ext cx="2880360" cy="548640"/>
          </a:xfrm>
          <a:prstGeom prst="roundRect">
            <a:avLst>
              <a:gd name="adj" fmla="val 20000"/>
            </a:avLst>
          </a:prstGeom>
          <a:solidFill>
            <a:srgbClr val="1FB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Value text 2"/>
          <p:cNvSpPr txBox="1"/>
          <p:nvPr/>
        </p:nvSpPr>
        <p:spPr>
          <a:xfrm>
            <a:off x="3959351" y="658368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6281D"/>
                </a:solidFill>
                <a:latin typeface="Arial"/>
              </a:rPr>
              <a:t>Faster reporting</a:t>
            </a:r>
          </a:p>
        </p:txBody>
      </p:sp>
      <p:sp>
        <p:nvSpPr>
          <p:cNvPr id="21" name="Value chip 3"/>
          <p:cNvSpPr/>
          <p:nvPr/>
        </p:nvSpPr>
        <p:spPr>
          <a:xfrm>
            <a:off x="777240" y="7242048"/>
            <a:ext cx="2880360" cy="548640"/>
          </a:xfrm>
          <a:prstGeom prst="roundRect">
            <a:avLst>
              <a:gd name="adj" fmla="val 20000"/>
            </a:avLst>
          </a:prstGeom>
          <a:solidFill>
            <a:srgbClr val="1FB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Value text 3"/>
          <p:cNvSpPr txBox="1"/>
          <p:nvPr/>
        </p:nvSpPr>
        <p:spPr>
          <a:xfrm>
            <a:off x="941832" y="7242048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6281D"/>
                </a:solidFill>
                <a:latin typeface="Arial"/>
              </a:rPr>
              <a:t>Reliable, consistent data</a:t>
            </a:r>
          </a:p>
        </p:txBody>
      </p:sp>
      <p:sp>
        <p:nvSpPr>
          <p:cNvPr id="23" name="Value chip 4"/>
          <p:cNvSpPr/>
          <p:nvPr/>
        </p:nvSpPr>
        <p:spPr>
          <a:xfrm>
            <a:off x="3794759" y="7242048"/>
            <a:ext cx="2880360" cy="548640"/>
          </a:xfrm>
          <a:prstGeom prst="roundRect">
            <a:avLst>
              <a:gd name="adj" fmla="val 20000"/>
            </a:avLst>
          </a:prstGeom>
          <a:solidFill>
            <a:srgbClr val="1FB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Value text 4"/>
          <p:cNvSpPr txBox="1"/>
          <p:nvPr/>
        </p:nvSpPr>
        <p:spPr>
          <a:xfrm>
            <a:off x="3959351" y="7242048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6281D"/>
                </a:solidFill>
                <a:latin typeface="Arial"/>
              </a:rPr>
              <a:t>Gut feeling → evidence &amp;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and strip"/>
          <p:cNvSpPr/>
          <p:nvPr/>
        </p:nvSpPr>
        <p:spPr>
          <a:xfrm>
            <a:off x="0" y="0"/>
            <a:ext cx="164592" cy="8229600"/>
          </a:xfrm>
          <a:prstGeom prst="rect">
            <a:avLst/>
          </a:prstGeom>
          <a:solidFill>
            <a:srgbClr val="1FB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yebrow"/>
          <p:cNvSpPr txBox="1"/>
          <p:nvPr/>
        </p:nvSpPr>
        <p:spPr>
          <a:xfrm>
            <a:off x="77724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B480"/>
                </a:solidFill>
                <a:latin typeface="Arial"/>
              </a:rPr>
              <a:t>IN THE FIELD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758952" y="1005840"/>
            <a:ext cx="12801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63D2B"/>
                </a:solidFill>
                <a:latin typeface="Arial"/>
              </a:rPr>
              <a:t>Real rigs. Real drilling. Real data.</a:t>
            </a:r>
          </a:p>
        </p:txBody>
      </p:sp>
      <p:pic>
        <p:nvPicPr>
          <p:cNvPr id="6" name="Logo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8568" y="246888"/>
            <a:ext cx="658368" cy="669758"/>
          </a:xfrm>
          <a:prstGeom prst="rect">
            <a:avLst/>
          </a:prstGeom>
        </p:spPr>
      </p:pic>
      <p:sp>
        <p:nvSpPr>
          <p:cNvPr id="7" name="Footer"/>
          <p:cNvSpPr txBox="1"/>
          <p:nvPr/>
        </p:nvSpPr>
        <p:spPr>
          <a:xfrm>
            <a:off x="777240" y="7818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E7A70"/>
                </a:solidFill>
                <a:latin typeface="Arial"/>
              </a:rPr>
              <a:t>Drillzy.AI · 2026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3167360" y="78181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E7A70"/>
                </a:solidFill>
                <a:latin typeface="Arial"/>
              </a:rPr>
              <a:t>4</a:t>
            </a:r>
          </a:p>
        </p:txBody>
      </p:sp>
      <p:pic>
        <p:nvPicPr>
          <p:cNvPr id="9" name="Photo: team at the rig" descr="t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20240"/>
            <a:ext cx="5486400" cy="4114800"/>
          </a:xfrm>
          <a:prstGeom prst="rect">
            <a:avLst/>
          </a:prstGeom>
        </p:spPr>
      </p:pic>
      <p:sp>
        <p:nvSpPr>
          <p:cNvPr id="10" name="Photo caption"/>
          <p:cNvSpPr txBox="1"/>
          <p:nvPr/>
        </p:nvSpPr>
        <p:spPr>
          <a:xfrm>
            <a:off x="777240" y="6126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E7A70"/>
                </a:solidFill>
                <a:latin typeface="Arial"/>
              </a:rPr>
              <a:t>The Drillzy team on a working rig · open-pit mine</a:t>
            </a:r>
          </a:p>
        </p:txBody>
      </p:sp>
      <p:sp>
        <p:nvSpPr>
          <p:cNvPr id="11" name="Data card"/>
          <p:cNvSpPr/>
          <p:nvPr/>
        </p:nvSpPr>
        <p:spPr>
          <a:xfrm>
            <a:off x="6537960" y="1920240"/>
            <a:ext cx="461772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Real depth log" descr="log_K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1993392"/>
            <a:ext cx="4206240" cy="3568931"/>
          </a:xfrm>
          <a:prstGeom prst="rect">
            <a:avLst/>
          </a:prstGeom>
        </p:spPr>
      </p:pic>
      <p:sp>
        <p:nvSpPr>
          <p:cNvPr id="13" name="Legend swatch"/>
          <p:cNvSpPr/>
          <p:nvPr/>
        </p:nvSpPr>
        <p:spPr>
          <a:xfrm>
            <a:off x="8503920" y="5705856"/>
            <a:ext cx="274320" cy="182880"/>
          </a:xfrm>
          <a:prstGeom prst="rect">
            <a:avLst/>
          </a:prstGeom>
          <a:solidFill>
            <a:srgbClr val="F3D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gend label"/>
          <p:cNvSpPr txBox="1"/>
          <p:nvPr/>
        </p:nvSpPr>
        <p:spPr>
          <a:xfrm>
            <a:off x="8851392" y="565099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B3A35"/>
                </a:solidFill>
                <a:latin typeface="Arial"/>
              </a:rPr>
              <a:t>Measured signal change</a:t>
            </a:r>
          </a:p>
        </p:txBody>
      </p:sp>
      <p:sp>
        <p:nvSpPr>
          <p:cNvPr id="15" name="Data caption"/>
          <p:cNvSpPr txBox="1"/>
          <p:nvPr/>
        </p:nvSpPr>
        <p:spPr>
          <a:xfrm>
            <a:off x="6537960" y="61264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E7A70"/>
                </a:solidFill>
                <a:latin typeface="Arial"/>
              </a:rPr>
              <a:t>Real 52 m borehole · hard-rock site · normalized signals</a:t>
            </a:r>
          </a:p>
        </p:txBody>
      </p:sp>
      <p:sp>
        <p:nvSpPr>
          <p:cNvPr id="16" name="Stat card 1"/>
          <p:cNvSpPr/>
          <p:nvPr/>
        </p:nvSpPr>
        <p:spPr>
          <a:xfrm>
            <a:off x="11430000" y="1920240"/>
            <a:ext cx="24231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 1"/>
          <p:cNvSpPr txBox="1"/>
          <p:nvPr/>
        </p:nvSpPr>
        <p:spPr>
          <a:xfrm>
            <a:off x="11612880" y="2011680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FB480"/>
                </a:solidFill>
                <a:latin typeface="Arial"/>
              </a:rPr>
              <a:t>30+</a:t>
            </a:r>
          </a:p>
        </p:txBody>
      </p:sp>
      <p:sp>
        <p:nvSpPr>
          <p:cNvPr id="18" name="Stat label 1"/>
          <p:cNvSpPr txBox="1"/>
          <p:nvPr/>
        </p:nvSpPr>
        <p:spPr>
          <a:xfrm>
            <a:off x="11612880" y="2633472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B3A35"/>
                </a:solidFill>
                <a:latin typeface="Arial"/>
              </a:rPr>
              <a:t>boreholes recorded</a:t>
            </a:r>
          </a:p>
        </p:txBody>
      </p:sp>
      <p:sp>
        <p:nvSpPr>
          <p:cNvPr id="19" name="Stat card 2"/>
          <p:cNvSpPr/>
          <p:nvPr/>
        </p:nvSpPr>
        <p:spPr>
          <a:xfrm>
            <a:off x="11430000" y="3337559"/>
            <a:ext cx="24231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 2"/>
          <p:cNvSpPr txBox="1"/>
          <p:nvPr/>
        </p:nvSpPr>
        <p:spPr>
          <a:xfrm>
            <a:off x="11612880" y="3428999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FB480"/>
                </a:solidFill>
                <a:latin typeface="Arial"/>
              </a:rPr>
              <a:t>3</a:t>
            </a:r>
          </a:p>
        </p:txBody>
      </p:sp>
      <p:sp>
        <p:nvSpPr>
          <p:cNvPr id="21" name="Stat label 2"/>
          <p:cNvSpPr txBox="1"/>
          <p:nvPr/>
        </p:nvSpPr>
        <p:spPr>
          <a:xfrm>
            <a:off x="11612880" y="4050792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B3A35"/>
                </a:solidFill>
                <a:latin typeface="Arial"/>
              </a:rPr>
              <a:t>sites, three different geologies</a:t>
            </a:r>
          </a:p>
        </p:txBody>
      </p:sp>
      <p:sp>
        <p:nvSpPr>
          <p:cNvPr id="22" name="Stat card 3"/>
          <p:cNvSpPr/>
          <p:nvPr/>
        </p:nvSpPr>
        <p:spPr>
          <a:xfrm>
            <a:off x="11430000" y="4754880"/>
            <a:ext cx="24231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t 3"/>
          <p:cNvSpPr txBox="1"/>
          <p:nvPr/>
        </p:nvSpPr>
        <p:spPr>
          <a:xfrm>
            <a:off x="11612880" y="4846320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FB480"/>
                </a:solidFill>
                <a:latin typeface="Arial"/>
              </a:rPr>
              <a:t>#1</a:t>
            </a:r>
          </a:p>
        </p:txBody>
      </p:sp>
      <p:sp>
        <p:nvSpPr>
          <p:cNvPr id="24" name="Stat label 3"/>
          <p:cNvSpPr txBox="1"/>
          <p:nvPr/>
        </p:nvSpPr>
        <p:spPr>
          <a:xfrm>
            <a:off x="11612880" y="5468112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B3A35"/>
                </a:solidFill>
                <a:latin typeface="Arial"/>
              </a:rPr>
              <a:t>Israel’s Critical Minerals competition, 2026</a:t>
            </a:r>
          </a:p>
        </p:txBody>
      </p:sp>
      <p:sp>
        <p:nvSpPr>
          <p:cNvPr id="25" name="Partners label"/>
          <p:cNvSpPr txBox="1"/>
          <p:nvPr/>
        </p:nvSpPr>
        <p:spPr>
          <a:xfrm>
            <a:off x="777240" y="651052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B480"/>
                </a:solidFill>
                <a:latin typeface="Arial"/>
              </a:rPr>
              <a:t>OUR DESIGN PARTNERS</a:t>
            </a:r>
          </a:p>
        </p:txBody>
      </p:sp>
      <p:sp>
        <p:nvSpPr>
          <p:cNvPr id="26" name="Partner box 1"/>
          <p:cNvSpPr/>
          <p:nvPr/>
        </p:nvSpPr>
        <p:spPr>
          <a:xfrm>
            <a:off x="777240" y="6858000"/>
            <a:ext cx="4175760" cy="804672"/>
          </a:xfrm>
          <a:prstGeom prst="roundRect">
            <a:avLst>
              <a:gd name="adj" fmla="val 16000"/>
            </a:avLst>
          </a:prstGeom>
          <a:solidFill>
            <a:srgbClr val="1FB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Partner tile 1"/>
          <p:cNvSpPr/>
          <p:nvPr/>
        </p:nvSpPr>
        <p:spPr>
          <a:xfrm>
            <a:off x="905256" y="6967728"/>
            <a:ext cx="1188720" cy="5852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artner logo 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5" y="7056562"/>
            <a:ext cx="1005840" cy="407546"/>
          </a:xfrm>
          <a:prstGeom prst="rect">
            <a:avLst/>
          </a:prstGeom>
        </p:spPr>
      </p:pic>
      <p:sp>
        <p:nvSpPr>
          <p:cNvPr id="29" name="Partner 1"/>
          <p:cNvSpPr txBox="1"/>
          <p:nvPr/>
        </p:nvSpPr>
        <p:spPr>
          <a:xfrm>
            <a:off x="2258568" y="6858000"/>
            <a:ext cx="257556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6281D"/>
                </a:solidFill>
                <a:latin typeface="Arial"/>
              </a:rPr>
              <a:t>Mining</a:t>
            </a:r>
          </a:p>
          <a:p>
            <a:pPr algn="l"/>
            <a:r>
              <a:rPr sz="1300" b="0">
                <a:solidFill>
                  <a:srgbClr val="06281D"/>
                </a:solidFill>
                <a:latin typeface="Arial"/>
              </a:rPr>
              <a:t>Phosphate mine</a:t>
            </a:r>
          </a:p>
        </p:txBody>
      </p:sp>
      <p:sp>
        <p:nvSpPr>
          <p:cNvPr id="30" name="Partner box 2"/>
          <p:cNvSpPr/>
          <p:nvPr/>
        </p:nvSpPr>
        <p:spPr>
          <a:xfrm>
            <a:off x="5227320" y="6858000"/>
            <a:ext cx="4175760" cy="804672"/>
          </a:xfrm>
          <a:prstGeom prst="roundRect">
            <a:avLst>
              <a:gd name="adj" fmla="val 16000"/>
            </a:avLst>
          </a:prstGeom>
          <a:solidFill>
            <a:srgbClr val="1FB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artner tile 2"/>
          <p:cNvSpPr/>
          <p:nvPr/>
        </p:nvSpPr>
        <p:spPr>
          <a:xfrm>
            <a:off x="5355336" y="6967728"/>
            <a:ext cx="1188720" cy="5852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artner logo 2" descr="gov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1952" y="7022592"/>
            <a:ext cx="475488" cy="475488"/>
          </a:xfrm>
          <a:prstGeom prst="rect">
            <a:avLst/>
          </a:prstGeom>
        </p:spPr>
      </p:pic>
      <p:sp>
        <p:nvSpPr>
          <p:cNvPr id="33" name="Partner 2"/>
          <p:cNvSpPr txBox="1"/>
          <p:nvPr/>
        </p:nvSpPr>
        <p:spPr>
          <a:xfrm>
            <a:off x="6708648" y="6858000"/>
            <a:ext cx="257556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6281D"/>
                </a:solidFill>
                <a:latin typeface="Arial"/>
              </a:rPr>
              <a:t>Government body</a:t>
            </a:r>
          </a:p>
          <a:p>
            <a:pPr algn="l"/>
            <a:r>
              <a:rPr sz="1300" b="0">
                <a:solidFill>
                  <a:srgbClr val="06281D"/>
                </a:solidFill>
                <a:latin typeface="Arial"/>
              </a:rPr>
              <a:t>Hard rock</a:t>
            </a:r>
          </a:p>
        </p:txBody>
      </p:sp>
      <p:sp>
        <p:nvSpPr>
          <p:cNvPr id="34" name="Partner box 3"/>
          <p:cNvSpPr/>
          <p:nvPr/>
        </p:nvSpPr>
        <p:spPr>
          <a:xfrm>
            <a:off x="9677400" y="6858000"/>
            <a:ext cx="4175760" cy="804672"/>
          </a:xfrm>
          <a:prstGeom prst="roundRect">
            <a:avLst>
              <a:gd name="adj" fmla="val 16000"/>
            </a:avLst>
          </a:prstGeom>
          <a:solidFill>
            <a:srgbClr val="1FB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Partner tile 3"/>
          <p:cNvSpPr/>
          <p:nvPr/>
        </p:nvSpPr>
        <p:spPr>
          <a:xfrm>
            <a:off x="9805416" y="6967728"/>
            <a:ext cx="1188720" cy="5852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artner logo 3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4019" y="7022592"/>
            <a:ext cx="411513" cy="475488"/>
          </a:xfrm>
          <a:prstGeom prst="rect">
            <a:avLst/>
          </a:prstGeom>
        </p:spPr>
      </p:pic>
      <p:sp>
        <p:nvSpPr>
          <p:cNvPr id="37" name="Partner 3"/>
          <p:cNvSpPr txBox="1"/>
          <p:nvPr/>
        </p:nvSpPr>
        <p:spPr>
          <a:xfrm>
            <a:off x="11158728" y="6858000"/>
            <a:ext cx="257556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6281D"/>
                </a:solidFill>
                <a:latin typeface="Arial"/>
              </a:rPr>
              <a:t>Water utility</a:t>
            </a:r>
          </a:p>
          <a:p>
            <a:pPr algn="l"/>
            <a:r>
              <a:rPr sz="1300" b="0">
                <a:solidFill>
                  <a:srgbClr val="06281D"/>
                </a:solidFill>
                <a:latin typeface="Arial"/>
              </a:rPr>
              <a:t>Aquifer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and strip"/>
          <p:cNvSpPr/>
          <p:nvPr/>
        </p:nvSpPr>
        <p:spPr>
          <a:xfrm>
            <a:off x="0" y="0"/>
            <a:ext cx="164592" cy="8229600"/>
          </a:xfrm>
          <a:prstGeom prst="rect">
            <a:avLst/>
          </a:prstGeom>
          <a:solidFill>
            <a:srgbClr val="1FB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yebrow"/>
          <p:cNvSpPr txBox="1"/>
          <p:nvPr/>
        </p:nvSpPr>
        <p:spPr>
          <a:xfrm>
            <a:off x="77724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B480"/>
                </a:solidFill>
                <a:latin typeface="Arial"/>
              </a:rPr>
              <a:t>THE PLATFORM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758952" y="1005840"/>
            <a:ext cx="12801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63D2B"/>
                </a:solidFill>
                <a:latin typeface="Arial"/>
              </a:rPr>
              <a:t>One shared picture. Three decisions.</a:t>
            </a:r>
          </a:p>
        </p:txBody>
      </p:sp>
      <p:pic>
        <p:nvPicPr>
          <p:cNvPr id="6" name="Logo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8568" y="246888"/>
            <a:ext cx="658368" cy="669758"/>
          </a:xfrm>
          <a:prstGeom prst="rect">
            <a:avLst/>
          </a:prstGeom>
        </p:spPr>
      </p:pic>
      <p:sp>
        <p:nvSpPr>
          <p:cNvPr id="7" name="Footer"/>
          <p:cNvSpPr txBox="1"/>
          <p:nvPr/>
        </p:nvSpPr>
        <p:spPr>
          <a:xfrm>
            <a:off x="777240" y="7818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E7A70"/>
                </a:solidFill>
                <a:latin typeface="Arial"/>
              </a:rPr>
              <a:t>Drillzy.AI · 2026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3167360" y="78181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E7A70"/>
                </a:solidFill>
                <a:latin typeface="Arial"/>
              </a:rPr>
              <a:t>5</a:t>
            </a:r>
          </a:p>
        </p:txBody>
      </p:sp>
      <p:sp>
        <p:nvSpPr>
          <p:cNvPr id="9" name="Tag outline"/>
          <p:cNvSpPr/>
          <p:nvPr/>
        </p:nvSpPr>
        <p:spPr>
          <a:xfrm>
            <a:off x="11567160" y="1115568"/>
            <a:ext cx="1828800" cy="40233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FB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"/>
          <p:cNvSpPr txBox="1"/>
          <p:nvPr/>
        </p:nvSpPr>
        <p:spPr>
          <a:xfrm>
            <a:off x="11567160" y="1115568"/>
            <a:ext cx="18288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E7C5A"/>
                </a:solidFill>
                <a:latin typeface="Arial"/>
              </a:rPr>
              <a:t>Product preview</a:t>
            </a:r>
          </a:p>
        </p:txBody>
      </p:sp>
      <p:pic>
        <p:nvPicPr>
          <p:cNvPr id="11" name="Platform screen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03120"/>
            <a:ext cx="8321040" cy="5200650"/>
          </a:xfrm>
          <a:prstGeom prst="rect">
            <a:avLst/>
          </a:prstGeom>
        </p:spPr>
      </p:pic>
      <p:sp>
        <p:nvSpPr>
          <p:cNvPr id="12" name="Role card 1"/>
          <p:cNvSpPr/>
          <p:nvPr/>
        </p:nvSpPr>
        <p:spPr>
          <a:xfrm>
            <a:off x="9418320" y="2103120"/>
            <a:ext cx="4434840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le 1"/>
          <p:cNvSpPr txBox="1"/>
          <p:nvPr/>
        </p:nvSpPr>
        <p:spPr>
          <a:xfrm>
            <a:off x="9674352" y="2286000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63D2B"/>
                </a:solidFill>
                <a:latin typeface="Arial"/>
              </a:rPr>
              <a:t>Driller</a:t>
            </a:r>
          </a:p>
        </p:txBody>
      </p:sp>
      <p:sp>
        <p:nvSpPr>
          <p:cNvPr id="14" name="Role body 1"/>
          <p:cNvSpPr txBox="1"/>
          <p:nvPr/>
        </p:nvSpPr>
        <p:spPr>
          <a:xfrm>
            <a:off x="9674352" y="2761487"/>
            <a:ext cx="3931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0">
                <a:solidFill>
                  <a:srgbClr val="2B3A35"/>
                </a:solidFill>
                <a:latin typeface="Arial"/>
              </a:rPr>
              <a:t>Sees the ground change as it happens. Knows when to stop — and when to sample.</a:t>
            </a:r>
          </a:p>
        </p:txBody>
      </p:sp>
      <p:sp>
        <p:nvSpPr>
          <p:cNvPr id="15" name="Role card 2"/>
          <p:cNvSpPr/>
          <p:nvPr/>
        </p:nvSpPr>
        <p:spPr>
          <a:xfrm>
            <a:off x="9418320" y="3913631"/>
            <a:ext cx="4434840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le 2"/>
          <p:cNvSpPr txBox="1"/>
          <p:nvPr/>
        </p:nvSpPr>
        <p:spPr>
          <a:xfrm>
            <a:off x="9674352" y="4096511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63D2B"/>
                </a:solidFill>
                <a:latin typeface="Arial"/>
              </a:rPr>
              <a:t>Operations</a:t>
            </a:r>
          </a:p>
        </p:txBody>
      </p:sp>
      <p:sp>
        <p:nvSpPr>
          <p:cNvPr id="17" name="Role body 2"/>
          <p:cNvSpPr txBox="1"/>
          <p:nvPr/>
        </p:nvSpPr>
        <p:spPr>
          <a:xfrm>
            <a:off x="9674352" y="4571999"/>
            <a:ext cx="3931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0">
                <a:solidFill>
                  <a:srgbClr val="2B3A35"/>
                </a:solidFill>
                <a:latin typeface="Arial"/>
              </a:rPr>
              <a:t>Every rig and every hole, against the plan.</a:t>
            </a:r>
          </a:p>
        </p:txBody>
      </p:sp>
      <p:sp>
        <p:nvSpPr>
          <p:cNvPr id="18" name="Role card 3"/>
          <p:cNvSpPr/>
          <p:nvPr/>
        </p:nvSpPr>
        <p:spPr>
          <a:xfrm>
            <a:off x="9418320" y="5724144"/>
            <a:ext cx="4434840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le 3"/>
          <p:cNvSpPr txBox="1"/>
          <p:nvPr/>
        </p:nvSpPr>
        <p:spPr>
          <a:xfrm>
            <a:off x="9674352" y="5907024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63D2B"/>
                </a:solidFill>
                <a:latin typeface="Arial"/>
              </a:rPr>
              <a:t>Geology &amp; engineering</a:t>
            </a:r>
          </a:p>
        </p:txBody>
      </p:sp>
      <p:sp>
        <p:nvSpPr>
          <p:cNvPr id="20" name="Role body 3"/>
          <p:cNvSpPr txBox="1"/>
          <p:nvPr/>
        </p:nvSpPr>
        <p:spPr>
          <a:xfrm>
            <a:off x="9674352" y="6382512"/>
            <a:ext cx="3931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0">
                <a:solidFill>
                  <a:srgbClr val="2B3A35"/>
                </a:solidFill>
                <a:latin typeface="Arial"/>
              </a:rPr>
              <a:t>A model that updates with every hole — and shows where to drill next.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and strip"/>
          <p:cNvSpPr/>
          <p:nvPr/>
        </p:nvSpPr>
        <p:spPr>
          <a:xfrm>
            <a:off x="0" y="0"/>
            <a:ext cx="164592" cy="8229600"/>
          </a:xfrm>
          <a:prstGeom prst="rect">
            <a:avLst/>
          </a:prstGeom>
          <a:solidFill>
            <a:srgbClr val="1FB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yebrow"/>
          <p:cNvSpPr txBox="1"/>
          <p:nvPr/>
        </p:nvSpPr>
        <p:spPr>
          <a:xfrm>
            <a:off x="77724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B480"/>
                </a:solidFill>
                <a:latin typeface="Arial"/>
              </a:rPr>
              <a:t>THE FOUNDER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758952" y="1005840"/>
            <a:ext cx="12801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63D2B"/>
                </a:solidFill>
                <a:latin typeface="Arial"/>
              </a:rPr>
              <a:t>Deep geoscience. Real data systems.</a:t>
            </a:r>
          </a:p>
        </p:txBody>
      </p:sp>
      <p:pic>
        <p:nvPicPr>
          <p:cNvPr id="6" name="Logo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8568" y="246888"/>
            <a:ext cx="658368" cy="669758"/>
          </a:xfrm>
          <a:prstGeom prst="rect">
            <a:avLst/>
          </a:prstGeom>
        </p:spPr>
      </p:pic>
      <p:sp>
        <p:nvSpPr>
          <p:cNvPr id="7" name="Footer"/>
          <p:cNvSpPr txBox="1"/>
          <p:nvPr/>
        </p:nvSpPr>
        <p:spPr>
          <a:xfrm>
            <a:off x="777240" y="7818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E7A70"/>
                </a:solidFill>
                <a:latin typeface="Arial"/>
              </a:rPr>
              <a:t>Drillzy.AI · 2026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3167360" y="78181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E7A70"/>
                </a:solidFill>
                <a:latin typeface="Arial"/>
              </a:rPr>
              <a:t>6</a:t>
            </a:r>
          </a:p>
        </p:txBody>
      </p:sp>
      <p:pic>
        <p:nvPicPr>
          <p:cNvPr id="9" name="Photo: Yair Gordin" descr="yair_cr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920240"/>
            <a:ext cx="3511296" cy="4389120"/>
          </a:xfrm>
          <a:prstGeom prst="roundRect">
            <a:avLst>
              <a:gd name="adj" fmla="val 6000"/>
            </a:avLst>
          </a:prstGeom>
        </p:spPr>
      </p:pic>
      <p:sp>
        <p:nvSpPr>
          <p:cNvPr id="10" name="Founder name"/>
          <p:cNvSpPr txBox="1"/>
          <p:nvPr/>
        </p:nvSpPr>
        <p:spPr>
          <a:xfrm>
            <a:off x="777240" y="6473952"/>
            <a:ext cx="35112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63D2B"/>
                </a:solidFill>
                <a:latin typeface="Arial"/>
              </a:rPr>
              <a:t>Yair Gordin, Ph.D.</a:t>
            </a:r>
          </a:p>
        </p:txBody>
      </p:sp>
      <p:sp>
        <p:nvSpPr>
          <p:cNvPr id="11" name="Founder role"/>
          <p:cNvSpPr txBox="1"/>
          <p:nvPr/>
        </p:nvSpPr>
        <p:spPr>
          <a:xfrm>
            <a:off x="777240" y="6876288"/>
            <a:ext cx="35112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B480"/>
                </a:solidFill>
                <a:latin typeface="Arial"/>
              </a:rPr>
              <a:t>Founder &amp; CEO, Drillzy</a:t>
            </a:r>
          </a:p>
        </p:txBody>
      </p:sp>
      <p:sp>
        <p:nvSpPr>
          <p:cNvPr id="12" name="Background label"/>
          <p:cNvSpPr txBox="1"/>
          <p:nvPr/>
        </p:nvSpPr>
        <p:spPr>
          <a:xfrm>
            <a:off x="4526280" y="19202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B480"/>
                </a:solidFill>
                <a:latin typeface="Arial"/>
              </a:rPr>
              <a:t>BACKGROUND</a:t>
            </a:r>
          </a:p>
        </p:txBody>
      </p:sp>
      <p:sp>
        <p:nvSpPr>
          <p:cNvPr id="13" name="Background card 1"/>
          <p:cNvSpPr/>
          <p:nvPr/>
        </p:nvSpPr>
        <p:spPr>
          <a:xfrm>
            <a:off x="4526280" y="2331720"/>
            <a:ext cx="512064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3A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Background mark 1"/>
          <p:cNvSpPr/>
          <p:nvPr/>
        </p:nvSpPr>
        <p:spPr>
          <a:xfrm>
            <a:off x="4709160" y="2532888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1FB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Background head 1"/>
          <p:cNvSpPr txBox="1"/>
          <p:nvPr/>
        </p:nvSpPr>
        <p:spPr>
          <a:xfrm>
            <a:off x="5120640" y="2478024"/>
            <a:ext cx="4389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3D2B"/>
                </a:solidFill>
                <a:latin typeface="Arial"/>
              </a:rPr>
              <a:t>Ph.D. Petrophysics &amp; Geophysics</a:t>
            </a:r>
          </a:p>
        </p:txBody>
      </p:sp>
      <p:sp>
        <p:nvSpPr>
          <p:cNvPr id="16" name="Background body 1"/>
          <p:cNvSpPr txBox="1"/>
          <p:nvPr/>
        </p:nvSpPr>
        <p:spPr>
          <a:xfrm>
            <a:off x="5120640" y="2843784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E7A70"/>
                </a:solidFill>
                <a:latin typeface="Arial"/>
              </a:rPr>
              <a:t>Earth Sciences, Ben-Gurion University of the Negev, 2022</a:t>
            </a:r>
          </a:p>
        </p:txBody>
      </p:sp>
      <p:sp>
        <p:nvSpPr>
          <p:cNvPr id="17" name="Background card 2"/>
          <p:cNvSpPr/>
          <p:nvPr/>
        </p:nvSpPr>
        <p:spPr>
          <a:xfrm>
            <a:off x="4526280" y="3547872"/>
            <a:ext cx="512064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3A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Background mark 2"/>
          <p:cNvSpPr/>
          <p:nvPr/>
        </p:nvSpPr>
        <p:spPr>
          <a:xfrm>
            <a:off x="4709160" y="3749039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1FB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Background head 2"/>
          <p:cNvSpPr txBox="1"/>
          <p:nvPr/>
        </p:nvSpPr>
        <p:spPr>
          <a:xfrm>
            <a:off x="5120640" y="3694176"/>
            <a:ext cx="4389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3D2B"/>
                </a:solidFill>
                <a:latin typeface="Arial"/>
              </a:rPr>
              <a:t>M.Sc. (honors) &amp; B.Sc.: Engineering Geology</a:t>
            </a:r>
          </a:p>
        </p:txBody>
      </p:sp>
      <p:sp>
        <p:nvSpPr>
          <p:cNvPr id="20" name="Background body 2"/>
          <p:cNvSpPr txBox="1"/>
          <p:nvPr/>
        </p:nvSpPr>
        <p:spPr>
          <a:xfrm>
            <a:off x="5120640" y="4059935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E7A70"/>
                </a:solidFill>
                <a:latin typeface="Arial"/>
              </a:rPr>
              <a:t>Ben-Gurion University of the Negev</a:t>
            </a:r>
          </a:p>
        </p:txBody>
      </p:sp>
      <p:sp>
        <p:nvSpPr>
          <p:cNvPr id="21" name="Background card 3"/>
          <p:cNvSpPr/>
          <p:nvPr/>
        </p:nvSpPr>
        <p:spPr>
          <a:xfrm>
            <a:off x="4526280" y="4764024"/>
            <a:ext cx="512064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3A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Background mark 3"/>
          <p:cNvSpPr/>
          <p:nvPr/>
        </p:nvSpPr>
        <p:spPr>
          <a:xfrm>
            <a:off x="4709160" y="4965192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1FB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Background head 3"/>
          <p:cNvSpPr txBox="1"/>
          <p:nvPr/>
        </p:nvSpPr>
        <p:spPr>
          <a:xfrm>
            <a:off x="5120640" y="4910328"/>
            <a:ext cx="4389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3D2B"/>
                </a:solidFill>
                <a:latin typeface="Arial"/>
              </a:rPr>
              <a:t>Head of Research, Defense Division, Matrix</a:t>
            </a:r>
          </a:p>
        </p:txBody>
      </p:sp>
      <p:sp>
        <p:nvSpPr>
          <p:cNvPr id="24" name="Background body 3"/>
          <p:cNvSpPr txBox="1"/>
          <p:nvPr/>
        </p:nvSpPr>
        <p:spPr>
          <a:xfrm>
            <a:off x="5120640" y="527608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E7A70"/>
                </a:solidFill>
                <a:latin typeface="Arial"/>
              </a:rPr>
              <a:t>Leads R&amp;D teams in AI &amp; ML, geospatial data and analytics · 2021–present</a:t>
            </a:r>
          </a:p>
        </p:txBody>
      </p:sp>
      <p:sp>
        <p:nvSpPr>
          <p:cNvPr id="25" name="Background card 4"/>
          <p:cNvSpPr/>
          <p:nvPr/>
        </p:nvSpPr>
        <p:spPr>
          <a:xfrm>
            <a:off x="4526280" y="5980176"/>
            <a:ext cx="512064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3A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Background mark 4"/>
          <p:cNvSpPr/>
          <p:nvPr/>
        </p:nvSpPr>
        <p:spPr>
          <a:xfrm>
            <a:off x="4709160" y="6181344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1FB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Background head 4"/>
          <p:cNvSpPr txBox="1"/>
          <p:nvPr/>
        </p:nvSpPr>
        <p:spPr>
          <a:xfrm>
            <a:off x="5120640" y="6126480"/>
            <a:ext cx="4389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3D2B"/>
                </a:solidFill>
                <a:latin typeface="Arial"/>
              </a:rPr>
              <a:t>Engineering geologist and university lecturer</a:t>
            </a:r>
          </a:p>
        </p:txBody>
      </p:sp>
      <p:sp>
        <p:nvSpPr>
          <p:cNvPr id="28" name="Background body 4"/>
          <p:cNvSpPr txBox="1"/>
          <p:nvPr/>
        </p:nvSpPr>
        <p:spPr>
          <a:xfrm>
            <a:off x="5120640" y="649224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E7A70"/>
                </a:solidFill>
                <a:latin typeface="Arial"/>
              </a:rPr>
              <a:t>Site investigations for major infrastructure (Geo-Log) · 8 courses in geology &amp; geophysics (BGU)</a:t>
            </a:r>
          </a:p>
        </p:txBody>
      </p:sp>
      <p:sp>
        <p:nvSpPr>
          <p:cNvPr id="29" name="Publications card"/>
          <p:cNvSpPr/>
          <p:nvPr/>
        </p:nvSpPr>
        <p:spPr>
          <a:xfrm>
            <a:off x="9921240" y="1920240"/>
            <a:ext cx="3931920" cy="5111496"/>
          </a:xfrm>
          <a:prstGeom prst="roundRect">
            <a:avLst>
              <a:gd name="adj" fmla="val 6000"/>
            </a:avLst>
          </a:prstGeom>
          <a:solidFill>
            <a:srgbClr val="0B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ublications label"/>
          <p:cNvSpPr txBox="1"/>
          <p:nvPr/>
        </p:nvSpPr>
        <p:spPr>
          <a:xfrm>
            <a:off x="10195560" y="217627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C488"/>
                </a:solidFill>
                <a:latin typeface="Arial"/>
              </a:rPr>
              <a:t>SELECTED PUBLICATIONS</a:t>
            </a:r>
          </a:p>
        </p:txBody>
      </p:sp>
      <p:sp>
        <p:nvSpPr>
          <p:cNvPr id="31" name="Publication 1"/>
          <p:cNvSpPr txBox="1"/>
          <p:nvPr/>
        </p:nvSpPr>
        <p:spPr>
          <a:xfrm>
            <a:off x="10195560" y="2651760"/>
            <a:ext cx="34290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Journal of Petroleum Science and Engineering, 2020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DDEDE7"/>
                </a:solidFill>
                <a:latin typeface="Arial"/>
              </a:rPr>
              <a:t>Anisotropy evolution during early maturation of organic-rich carbonates</a:t>
            </a:r>
          </a:p>
        </p:txBody>
      </p:sp>
      <p:sp>
        <p:nvSpPr>
          <p:cNvPr id="32" name="Publication 2"/>
          <p:cNvSpPr txBox="1"/>
          <p:nvPr/>
        </p:nvSpPr>
        <p:spPr>
          <a:xfrm>
            <a:off x="10195560" y="4114800"/>
            <a:ext cx="34290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SPE Annual Technical Conference &amp; Exhibition, Dubai, 2021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DDEDE7"/>
                </a:solidFill>
                <a:latin typeface="Arial"/>
              </a:rPr>
              <a:t>Relating acoustic anisotropy to kerogen content in unconventional formations</a:t>
            </a:r>
          </a:p>
        </p:txBody>
      </p:sp>
      <p:sp>
        <p:nvSpPr>
          <p:cNvPr id="33" name="Publication 3"/>
          <p:cNvSpPr txBox="1"/>
          <p:nvPr/>
        </p:nvSpPr>
        <p:spPr>
          <a:xfrm>
            <a:off x="10195560" y="5577840"/>
            <a:ext cx="34290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Ph.D. thesis, 2022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DDEDE7"/>
                </a:solidFill>
                <a:latin typeface="Arial"/>
              </a:rPr>
              <a:t>Remote detection of thermal maturation in source rocks using seismic anisotropy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losing image" descr="clo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Brand strip"/>
          <p:cNvSpPr/>
          <p:nvPr/>
        </p:nvSpPr>
        <p:spPr>
          <a:xfrm>
            <a:off x="0" y="0"/>
            <a:ext cx="164592" cy="8229600"/>
          </a:xfrm>
          <a:prstGeom prst="rect">
            <a:avLst/>
          </a:prstGeom>
          <a:solidFill>
            <a:srgbClr val="1FB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Logo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7200"/>
            <a:ext cx="1097280" cy="1116263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758952" y="214884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rial"/>
              </a:rPr>
              <a:t>A mine that learns as it works.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777240" y="31546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DDEDE7"/>
                </a:solidFill>
                <a:latin typeface="Arial"/>
              </a:rPr>
              <a:t>Every meter drilled improves the next decision.</a:t>
            </a:r>
          </a:p>
        </p:txBody>
      </p:sp>
      <p:sp>
        <p:nvSpPr>
          <p:cNvPr id="7" name="Ask eyebrow"/>
          <p:cNvSpPr txBox="1"/>
          <p:nvPr/>
        </p:nvSpPr>
        <p:spPr>
          <a:xfrm>
            <a:off x="777240" y="4526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EC488"/>
                </a:solidFill>
                <a:latin typeface="Arial"/>
              </a:rPr>
              <a:t>WE ARE LOOKING FOR</a:t>
            </a:r>
          </a:p>
        </p:txBody>
      </p:sp>
      <p:sp>
        <p:nvSpPr>
          <p:cNvPr id="8" name="Ask pill Pilot sites"/>
          <p:cNvSpPr/>
          <p:nvPr/>
        </p:nvSpPr>
        <p:spPr>
          <a:xfrm>
            <a:off x="777240" y="5029200"/>
            <a:ext cx="2286000" cy="713232"/>
          </a:xfrm>
          <a:prstGeom prst="roundRect">
            <a:avLst>
              <a:gd name="adj" fmla="val 50000"/>
            </a:avLst>
          </a:prstGeom>
          <a:solidFill>
            <a:srgbClr val="0B3A2B"/>
          </a:solidFill>
          <a:ln w="15875">
            <a:solidFill>
              <a:srgbClr val="2EC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sk Pilot sites"/>
          <p:cNvSpPr txBox="1"/>
          <p:nvPr/>
        </p:nvSpPr>
        <p:spPr>
          <a:xfrm>
            <a:off x="777240" y="5029200"/>
            <a:ext cx="22860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Pilot sites</a:t>
            </a:r>
          </a:p>
        </p:txBody>
      </p:sp>
      <p:sp>
        <p:nvSpPr>
          <p:cNvPr id="10" name="Ask pill Strategic partners"/>
          <p:cNvSpPr/>
          <p:nvPr/>
        </p:nvSpPr>
        <p:spPr>
          <a:xfrm>
            <a:off x="3337560" y="5029200"/>
            <a:ext cx="3291840" cy="713232"/>
          </a:xfrm>
          <a:prstGeom prst="roundRect">
            <a:avLst>
              <a:gd name="adj" fmla="val 50000"/>
            </a:avLst>
          </a:prstGeom>
          <a:solidFill>
            <a:srgbClr val="0B3A2B"/>
          </a:solidFill>
          <a:ln w="15875">
            <a:solidFill>
              <a:srgbClr val="2EC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sk Strategic partners"/>
          <p:cNvSpPr txBox="1"/>
          <p:nvPr/>
        </p:nvSpPr>
        <p:spPr>
          <a:xfrm>
            <a:off x="3337560" y="5029200"/>
            <a:ext cx="32918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Strategic partners</a:t>
            </a:r>
          </a:p>
        </p:txBody>
      </p:sp>
      <p:sp>
        <p:nvSpPr>
          <p:cNvPr id="12" name="Ask pill Investors"/>
          <p:cNvSpPr/>
          <p:nvPr/>
        </p:nvSpPr>
        <p:spPr>
          <a:xfrm>
            <a:off x="6903720" y="5029200"/>
            <a:ext cx="2103120" cy="713232"/>
          </a:xfrm>
          <a:prstGeom prst="roundRect">
            <a:avLst>
              <a:gd name="adj" fmla="val 50000"/>
            </a:avLst>
          </a:prstGeom>
          <a:solidFill>
            <a:srgbClr val="0B3A2B"/>
          </a:solidFill>
          <a:ln w="15875">
            <a:solidFill>
              <a:srgbClr val="2EC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sk Investors"/>
          <p:cNvSpPr txBox="1"/>
          <p:nvPr/>
        </p:nvSpPr>
        <p:spPr>
          <a:xfrm>
            <a:off x="6903720" y="5029200"/>
            <a:ext cx="21031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Investors</a:t>
            </a:r>
          </a:p>
        </p:txBody>
      </p:sp>
      <p:sp>
        <p:nvSpPr>
          <p:cNvPr id="14" name="Contact"/>
          <p:cNvSpPr txBox="1"/>
          <p:nvPr/>
        </p:nvSpPr>
        <p:spPr>
          <a:xfrm>
            <a:off x="777240" y="7406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rial"/>
              </a:rPr>
              <a:t>Yair Gordin, Ph.D. · Founder &amp; CEO  ·  </a:t>
            </a:r>
            <a:r>
              <a:rPr sz="1700" b="1">
                <a:solidFill>
                  <a:srgbClr val="2EC488"/>
                </a:solidFill>
                <a:latin typeface="Arial"/>
              </a:rPr>
              <a:t>info@drillzy.ai  ·  drillzy.ai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