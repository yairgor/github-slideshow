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jpg" ContentType="image/jpg"/>
  <Override PartName="/ppt/media/image33.jpg" ContentType="image/jpg"/>
  <Override PartName="/ppt/media/image4.jpg" ContentType="image/jpg"/>
  <Override PartName="/ppt/media/image6.jpg" ContentType="image/jpg"/>
  <Override PartName="/ppt/media/image7.jpg" ContentType="image/jpg"/>
  <Override PartName="/ppt/media/image8.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3" r:id="rId1"/>
  </p:sldMasterIdLst>
  <p:notesMasterIdLst>
    <p:notesMasterId r:id="rId13"/>
  </p:notesMasterIdLst>
  <p:sldIdLst>
    <p:sldId id="303" r:id="rId2"/>
    <p:sldId id="306" r:id="rId3"/>
    <p:sldId id="297" r:id="rId4"/>
    <p:sldId id="288" r:id="rId5"/>
    <p:sldId id="294" r:id="rId6"/>
    <p:sldId id="286" r:id="rId7"/>
    <p:sldId id="301" r:id="rId8"/>
    <p:sldId id="305" r:id="rId9"/>
    <p:sldId id="295" r:id="rId10"/>
    <p:sldId id="260" r:id="rId11"/>
    <p:sldId id="264" r:id="rId12"/>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0026605-BD75-4BBA-BFAC-7D86C3618C0F}">
          <p14:sldIdLst>
            <p14:sldId id="303"/>
            <p14:sldId id="306"/>
            <p14:sldId id="297"/>
            <p14:sldId id="288"/>
            <p14:sldId id="294"/>
            <p14:sldId id="286"/>
            <p14:sldId id="301"/>
            <p14:sldId id="305"/>
            <p14:sldId id="295"/>
          </p14:sldIdLst>
        </p14:section>
        <p14:section name="Aux" id="{E3BE6D09-EE90-48BD-9081-3C4C16E53B40}">
          <p14:sldIdLst>
            <p14:sldId id="260"/>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7F23"/>
    <a:srgbClr val="017D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6898" autoAdjust="0"/>
  </p:normalViewPr>
  <p:slideViewPr>
    <p:cSldViewPr snapToGrid="0" snapToObjects="1">
      <p:cViewPr varScale="1">
        <p:scale>
          <a:sx n="61" d="100"/>
          <a:sy n="61" d="100"/>
        </p:scale>
        <p:origin x="102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356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Everyone here has drilled into a wall. First it's easy: plaster, white dust. Then it gets hard and slow, and the dust turns grey: concrete. And then, suddenly, the drill jumps forward: you're through. Without seeing anything, you know exactly what's inside.</a:t>
            </a:r>
          </a:p>
          <a:p>
            <a:r>
              <a:t>[CLICK: the ground appears]</a:t>
            </a:r>
          </a:p>
          <a:p>
            <a:r>
              <a:t>Now imagine that wall is a hundred meters of rock. A drilling rig feels every layer: hard, soft, a new color in the cuttings. Every hole, all day long.</a:t>
            </a:r>
          </a:p>
          <a:p>
            <a:r>
              <a:t>So, a quick question. In the wall, you knew what was inside in one second. When a mine drills a hundred meters of rock, how long until it knows what it hit? A few hours? A few days? Weeks to months? Think of your answer.</a:t>
            </a:r>
          </a:p>
          <a:p/>
          <a:p>
            <a:r>
              <a:t>TRANSITION (before click): "Let's see."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Weeks to months. The samples go to a lab, and the results typically come back four to ten weeks later, sometimes longer.</a:t>
            </a:r>
          </a:p>
          <a:p>
            <a:r>
              <a:t>By then, the rig has moved on, and the decisions have already been made.</a:t>
            </a:r>
          </a:p>
          <a:p>
            <a:r>
              <a:t>Zoom out, and the whole journey from discovery to a working mine takes about sixteen years on average.</a:t>
            </a:r>
          </a:p>
          <a:p>
            <a:r>
              <a:t>Meanwhile, the drill felt every meter, in real time. And almost nobody was listening.</a:t>
            </a:r>
          </a:p>
          <a:p/>
          <a:p>
            <a:r>
              <a:t>TRANSITION (before click): "So, who are we, and how do we change that?"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 Yair Gordin, founder and CEO of Drillzy.</a:t>
            </a:r>
          </a:p>
          <a:p>
            <a:r>
              <a:t>We turn every drilling rig into a real-time source of drilling and subsurface intelligence.</a:t>
            </a:r>
          </a:p>
          <a:p>
            <a:r>
              <a:t>In the next three minutes, I'll show you how.</a:t>
            </a:r>
          </a:p>
          <a:p>
            <a:endParaRPr/>
          </a:p>
          <a:p>
            <a:r>
              <a:t>TRANSITION (before click): "Let's start with what happens at the rig today."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Drilling is the first and only time we actually touch the rock. And that's exactly where data stops.</a:t>
            </a:r>
          </a:p>
          <a:p>
            <a:r>
              <a:t>On a good day, a geologist logs it by hand: a notebook, a pen and sample trays. Subjective, and different with every person.</a:t>
            </a:r>
          </a:p>
          <a:p>
            <a:r>
              <a:t>And that's the good case. On many rigs, nothing is recorded at all.</a:t>
            </a:r>
          </a:p>
          <a:p>
            <a:r>
              <a:t>And there is no common standard, so data from one rig, one site or one contractor can't be compared with the next.</a:t>
            </a:r>
          </a:p>
          <a:p>
            <a:r>
              <a:t>And by the time it becomes a report, it's too late: the decision on site has already been made.</a:t>
            </a:r>
          </a:p>
          <a:p>
            <a:endParaRPr/>
          </a:p>
          <a:p>
            <a:r>
              <a:t>TRANSITION (before click): "That's the gap we close: data in time for the decisions that can make or break a project."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answer: make every meter drilled work twice.</a:t>
            </a:r>
          </a:p>
          <a:p>
            <a:r>
              <a:t>We add a vendor-agnostic sensing layer to rigs already in the field, old or new, and turn many signals, tied to depth, into a picture of the rock, with physics and AI.</a:t>
            </a:r>
          </a:p>
          <a:p>
            <a:r>
              <a:t>Once, at the rig: the driller knows when to stop, when to sample, and where the ore starts and ends.</a:t>
            </a:r>
          </a:p>
          <a:p>
            <a:r>
              <a:t>And twice, over time: every hole updates one shared model for operations, geology and engineering.</a:t>
            </a:r>
          </a:p>
          <a:p>
            <a:r>
              <a:t>The value runs from drill to mill: shorter drilling cycles and cleaner feed to the plant.</a:t>
            </a:r>
          </a:p>
          <a:p>
            <a:r>
              <a:t>And the technology is proprietary: it is our own.</a:t>
            </a:r>
          </a:p>
          <a:p>
            <a:endParaRPr/>
          </a:p>
          <a:p>
            <a:r>
              <a:t>TRANSITION (before click): "And this is already working in the field."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our team on a working rig in an open-pit mine, with real sensor data, aligned to time and depth.</a:t>
            </a:r>
          </a:p>
          <a:p>
            <a:r>
              <a:t>We have recorded dozens of boreholes, many deeper than a hundred meters, in both dry and wet drilling conditions, across three geologies that represent critical minerals.</a:t>
            </a:r>
          </a:p>
          <a:p>
            <a:r>
              <a:t>Our design partners: an open-pit mine, a government body working in hard rock, and a water utility drilling aquifers and brines.</a:t>
            </a:r>
          </a:p>
          <a:p>
            <a:endParaRPr/>
          </a:p>
          <a:p>
            <a:r>
              <a:t>TRANSITION (before click): "So how does this compare with what exists today?"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you have to choose: rich data from expensive instruments, slow manual logging, or software that only reads data someone already collected.</a:t>
            </a:r>
          </a:p>
          <a:p>
            <a:r>
              <a:t>Drillzy breaks that trade-off: rich data, read from the drilling itself, on every hole and any rig.</a:t>
            </a:r>
          </a:p>
          <a:p>
            <a:endParaRPr/>
          </a:p>
          <a:p>
            <a:r>
              <a:t>TRANSITION (before click): "Doing this takes a rare combination of people."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Building this takes four disciplines that rarely sit in one room.</a:t>
            </a:r>
          </a:p>
          <a:p>
            <a:r>
              <a:rPr dirty="0"/>
              <a:t>I lead geoscience and data. Asaf, our CTO, leads AI and algorithms.</a:t>
            </a:r>
          </a:p>
          <a:p>
            <a:r>
              <a:rPr dirty="0" err="1"/>
              <a:t>Achikam</a:t>
            </a:r>
            <a:r>
              <a:rPr dirty="0"/>
              <a:t> leads hardware and sensors, and Efi leads field experience and business development.</a:t>
            </a:r>
          </a:p>
          <a:p>
            <a:r>
              <a:rPr dirty="0"/>
              <a:t>Together, we cover the whole path: from the sensor on the rig to the decision on site.</a:t>
            </a:r>
          </a:p>
          <a:p>
            <a:endParaRPr dirty="0"/>
          </a:p>
          <a:p>
            <a:r>
              <a:rPr dirty="0"/>
              <a:t>TRANSITION (before click): "So where do we go from here?"</a:t>
            </a:r>
          </a:p>
        </p:txBody>
      </p:sp>
      <p:sp>
        <p:nvSpPr>
          <p:cNvPr id="4" name="Slide Number Placeholder 3"/>
          <p:cNvSpPr>
            <a:spLocks noGrp="1"/>
          </p:cNvSpPr>
          <p:nvPr>
            <p:ph type="sldNum" sz="quarter" idx="5"/>
          </p:nvPr>
        </p:nvSpPr>
        <p:spPr/>
        <p:txBody>
          <a:bodyPr/>
          <a:lstStyle/>
          <a:p>
            <a:fld id="{B606C0BB-A519-440F-ACA4-2965182BB12E}" type="slidenum">
              <a:rPr lang="en-IL" smtClean="0"/>
              <a:t>8</a:t>
            </a:fld>
            <a:endParaRPr lang="en-IL"/>
          </a:p>
        </p:txBody>
      </p:sp>
    </p:spTree>
    <p:extLst>
      <p:ext uri="{BB962C8B-B14F-4D97-AF65-F5344CB8AC3E}">
        <p14:creationId xmlns:p14="http://schemas.microsoft.com/office/powerpoint/2010/main" val="716148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vision: certainty underground, where every meter drilled improves the next decision.</a:t>
            </a:r>
          </a:p>
          <a:p>
            <a:r>
              <a:t>We start with open-pit mines, in exploration and blast-hole drilling, where we already work. Next come underground mining and tunneling.</a:t>
            </a:r>
          </a:p>
          <a:p>
            <a:r>
              <a:t>And then construction, foundations and underground infrastructure, an industry worth nearly ten trillion dollars a year.</a:t>
            </a:r>
          </a:p>
          <a:p>
            <a:r>
              <a:t>Wherever there is a drill, there is data we can read.</a:t>
            </a:r>
          </a:p>
          <a:p>
            <a:r>
              <a:t>We are looking for pilot sites, strategic partners, and investors who want to build this with us.</a:t>
            </a:r>
          </a:p>
          <a:p>
            <a:r>
              <a:t>I'm Yair, this is Drillzy. Come and talk to us. Thank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give the people on site? One shared picture, and three decisions. The driller sees the ground change as it happens, and knows when to stop and when to sample. The operations manager sees every rig and every hole against the plan. And the geologist and the engineer get a subsurface model that updates with every hole, showing where we are confident, and where to drill next.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A284D-7B82-5E71-DED5-521EE773A4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412E45-0DF5-6A86-ACEB-B5C1CE9D51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3CC5D6-94AB-5412-360C-8A945FEC84BC}"/>
              </a:ext>
            </a:extLst>
          </p:cNvPr>
          <p:cNvSpPr>
            <a:spLocks noGrp="1"/>
          </p:cNvSpPr>
          <p:nvPr>
            <p:ph type="body" idx="1"/>
          </p:nvPr>
        </p:nvSpPr>
        <p:spPr/>
        <p:txBody>
          <a:bodyPr/>
          <a:lstStyle/>
          <a:p>
            <a:r>
              <a:rPr lang="en-US" dirty="0"/>
              <a:t>And this is not a concept. This is our team on a working rig. Next to it, an illustrative borehole through a phosphate section, with four sensors aligned to depth. At every change in the rock, from the overburden, into the phosphate ore, and down into hard chert, the sensors shift together. That is exactly what our models learn to read. We have recorded dozens of boreholes, many deeper than a hundred meters, on three different rigs and three very different geologies. We work with our design partners: a phosphate mine, a government body working in hard rock, and a water utility. Next, we are extending to reverse-circulation and core drilling. And this year, Drillzy won first place in Israel's national Critical Minerals competition.</a:t>
            </a:r>
          </a:p>
        </p:txBody>
      </p:sp>
      <p:sp>
        <p:nvSpPr>
          <p:cNvPr id="4" name="Slide Number Placeholder 3">
            <a:extLst>
              <a:ext uri="{FF2B5EF4-FFF2-40B4-BE49-F238E27FC236}">
                <a16:creationId xmlns:a16="http://schemas.microsoft.com/office/drawing/2014/main" id="{2ECAC579-ECBD-45BF-5918-9DBBA538251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192649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LIGHT">
    <p:bg>
      <p:bgPr>
        <a:solidFill>
          <a:srgbClr val="F4FBF8"/>
        </a:solidFill>
        <a:effectLst/>
      </p:bgPr>
    </p:bg>
    <p:spTree>
      <p:nvGrpSpPr>
        <p:cNvPr id="1" name=""/>
        <p:cNvGrpSpPr/>
        <p:nvPr/>
      </p:nvGrpSpPr>
      <p:grpSpPr>
        <a:xfrm>
          <a:off x="0" y="0"/>
          <a:ext cx="0" cy="0"/>
          <a:chOff x="0" y="0"/>
          <a:chExt cx="0" cy="0"/>
        </a:xfrm>
      </p:grpSpPr>
      <p:sp>
        <p:nvSpPr>
          <p:cNvPr id="2" name="Shape 0"/>
          <p:cNvSpPr/>
          <p:nvPr/>
        </p:nvSpPr>
        <p:spPr>
          <a:xfrm>
            <a:off x="0" y="0"/>
            <a:ext cx="164592" cy="8229600"/>
          </a:xfrm>
          <a:prstGeom prst="rect">
            <a:avLst/>
          </a:prstGeom>
          <a:solidFill>
            <a:srgbClr val="1FB480"/>
          </a:solidFill>
          <a:ln w="12700">
            <a:solidFill>
              <a:srgbClr val="1FB480"/>
            </a:solidFill>
            <a:prstDash val="solid"/>
          </a:ln>
        </p:spPr>
        <p:txBody>
          <a:bodyPr/>
          <a:lstStyle/>
          <a:p>
            <a:endParaRPr lang="en-IL"/>
          </a:p>
        </p:txBody>
      </p:sp>
      <p:pic>
        <p:nvPicPr>
          <p:cNvPr id="3" name="Image 0" descr="/tmp/claude-0/-home-claude/02ea35b7-58d5-5806-896b-11c93173863e/scratchpad/build/img/image3.png"/>
          <p:cNvPicPr>
            <a:picLocks noChangeAspect="1"/>
          </p:cNvPicPr>
          <p:nvPr/>
        </p:nvPicPr>
        <p:blipFill>
          <a:blip r:embed="rId2"/>
          <a:stretch>
            <a:fillRect/>
          </a:stretch>
        </p:blipFill>
        <p:spPr>
          <a:xfrm>
            <a:off x="13462000" y="279400"/>
            <a:ext cx="889000" cy="558800"/>
          </a:xfrm>
          <a:prstGeom prst="rect">
            <a:avLst/>
          </a:prstGeom>
        </p:spPr>
      </p:pic>
      <p:sp>
        <p:nvSpPr>
          <p:cNvPr id="4" name="Text 1"/>
          <p:cNvSpPr/>
          <p:nvPr/>
        </p:nvSpPr>
        <p:spPr>
          <a:xfrm>
            <a:off x="777240" y="7818120"/>
            <a:ext cx="5486400" cy="274320"/>
          </a:xfrm>
          <a:prstGeom prst="rect">
            <a:avLst/>
          </a:prstGeom>
          <a:noFill/>
          <a:ln/>
        </p:spPr>
        <p:txBody>
          <a:bodyPr wrap="square" lIns="0" tIns="0" rIns="0" bIns="0" rtlCol="0" anchor="ctr"/>
          <a:lstStyle/>
          <a:p>
            <a:pPr marL="0" indent="0">
              <a:buNone/>
            </a:pPr>
            <a:r>
              <a:rPr lang="en-US" sz="1000" dirty="0">
                <a:solidFill>
                  <a:srgbClr val="5E7A70"/>
                </a:solidFill>
              </a:rPr>
              <a:t>Drillzy.AI · 2026</a:t>
            </a:r>
            <a:endParaRPr lang="en-US" sz="1000" dirty="0"/>
          </a:p>
        </p:txBody>
      </p:sp>
      <p:sp>
        <p:nvSpPr>
          <p:cNvPr id="25" name="Slide Number Placeholder 0"/>
          <p:cNvSpPr>
            <a:spLocks noGrp="1"/>
          </p:cNvSpPr>
          <p:nvPr>
            <p:ph type="sldNum" sz="quarter" idx="4294967295"/>
          </p:nvPr>
        </p:nvSpPr>
        <p:spPr>
          <a:xfrm>
            <a:off x="13167360" y="7818120"/>
            <a:ext cx="9144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PHOTO">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545680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3167360" y="7818120"/>
            <a:ext cx="9144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9.png"/><Relationship Id="rId5" Type="http://schemas.openxmlformats.org/officeDocument/2006/relationships/image" Target="../media/image10.jpg"/><Relationship Id="rId6" Type="http://schemas.openxmlformats.org/officeDocument/2006/relationships/image" Target="../media/image11.png"/><Relationship Id="rId7"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4.jpeg"/><Relationship Id="rId5" Type="http://schemas.openxmlformats.org/officeDocument/2006/relationships/image" Target="../media/image15.jpeg"/><Relationship Id="rId6" Type="http://schemas.openxmlformats.org/officeDocument/2006/relationships/image" Target="../media/image16.jpeg"/><Relationship Id="rId7" Type="http://schemas.openxmlformats.org/officeDocument/2006/relationships/image" Target="../media/image17.jpeg"/><Relationship Id="rId8" Type="http://schemas.openxmlformats.org/officeDocument/2006/relationships/image" Target="../media/image18.jpeg"/><Relationship Id="rId9" Type="http://schemas.openxmlformats.org/officeDocument/2006/relationships/image" Target="../media/image19.jpeg"/><Relationship Id="rId10" Type="http://schemas.openxmlformats.org/officeDocument/2006/relationships/image" Target="../media/image20.jpeg"/><Relationship Id="rId11" Type="http://schemas.openxmlformats.org/officeDocument/2006/relationships/image" Target="../media/image21.jpeg"/><Relationship Id="rId12" Type="http://schemas.openxmlformats.org/officeDocument/2006/relationships/image" Target="../media/image22.png"/><Relationship Id="rId13" Type="http://schemas.openxmlformats.org/officeDocument/2006/relationships/image" Target="../media/image23.jpeg"/><Relationship Id="rId14" Type="http://schemas.openxmlformats.org/officeDocument/2006/relationships/image" Target="../media/image24.jpeg"/><Relationship Id="rId15" Type="http://schemas.openxmlformats.org/officeDocument/2006/relationships/image" Target="../media/image25.jpeg"/><Relationship Id="rId16" Type="http://schemas.openxmlformats.org/officeDocument/2006/relationships/image" Target="../media/image26.jpeg"/><Relationship Id="rId17" Type="http://schemas.openxmlformats.org/officeDocument/2006/relationships/image" Target="../media/image27.jpeg"/><Relationship Id="rId18" Type="http://schemas.openxmlformats.org/officeDocument/2006/relationships/image" Target="../media/image28.png"/><Relationship Id="rId19" Type="http://schemas.openxmlformats.org/officeDocument/2006/relationships/image" Target="../media/image1.png"/><Relationship Id="rId20" Type="http://schemas.openxmlformats.org/officeDocument/2006/relationships/image" Target="../media/image29.jpeg"/><Relationship Id="rId21" Type="http://schemas.openxmlformats.org/officeDocument/2006/relationships/image" Target="../media/image30.jpeg"/><Relationship Id="rId22" Type="http://schemas.openxmlformats.org/officeDocument/2006/relationships/image" Target="../media/image31.jpeg"/><Relationship Id="rId23" Type="http://schemas.openxmlformats.org/officeDocument/2006/relationships/image" Target="../media/image3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3.jp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jpg"/><Relationship Id="rId4" Type="http://schemas.openxmlformats.org/officeDocument/2006/relationships/image" Target="../media/image35.png"/><Relationship Id="rId5" Type="http://schemas.openxmlformats.org/officeDocument/2006/relationships/image" Target="../media/image9.png"/><Relationship Id="rId6" Type="http://schemas.openxmlformats.org/officeDocument/2006/relationships/image" Target="../media/image36.png"/><Relationship Id="rId7"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777240" y="502920"/>
            <a:ext cx="10972800" cy="365760"/>
          </a:xfrm>
          <a:prstGeom prst="rect">
            <a:avLst/>
          </a:prstGeom>
          <a:noFill/>
          <a:ln/>
        </p:spPr>
        <p:txBody>
          <a:bodyPr wrap="square" lIns="0" tIns="0" rIns="0" bIns="0" rtlCol="0" anchor="ctr"/>
          <a:lstStyle/>
          <a:p>
            <a:pPr marL="0" indent="0">
              <a:buNone/>
            </a:pPr>
            <a:r>
              <a:rPr lang="en-US" sz="1500" b="1" kern="0" spc="100" dirty="0">
                <a:solidFill>
                  <a:srgbClr val="1FB480"/>
                </a:solidFill>
                <a:latin typeface="Arial" pitchFamily="34" charset="0"/>
                <a:ea typeface="Arial" pitchFamily="34" charset="-122"/>
                <a:cs typeface="Arial" pitchFamily="34" charset="-120"/>
              </a:rPr>
              <a:t>A QUICK QUESTION</a:t>
            </a:r>
            <a:endParaRPr lang="en-US" sz="1500" dirty="0"/>
          </a:p>
        </p:txBody>
      </p:sp>
      <p:sp>
        <p:nvSpPr>
          <p:cNvPr id="3" name="Title"/>
          <p:cNvSpPr txBox="1"/>
          <p:nvPr/>
        </p:nvSpPr>
        <p:spPr>
          <a:xfrm>
            <a:off x="777240" y="914400"/>
            <a:ext cx="12435840" cy="731520"/>
          </a:xfrm>
          <a:prstGeom prst="rect">
            <a:avLst/>
          </a:prstGeom>
          <a:noFill/>
          <a:ln/>
        </p:spPr>
        <p:txBody>
          <a:bodyPr wrap="square" lIns="0" tIns="0" rIns="0" bIns="0" rtlCol="0" anchor="ctr"/>
          <a:lstStyle/>
          <a:p>
            <a:pPr marL="0" indent="0">
              <a:buNone/>
            </a:pPr>
            <a:r>
              <a:rPr lang="en-US" sz="3200" b="1" dirty="0">
                <a:solidFill>
                  <a:srgbClr val="063D2B"/>
                </a:solidFill>
                <a:latin typeface="Arial" pitchFamily="34" charset="0"/>
                <a:ea typeface="Arial" pitchFamily="34" charset="-122"/>
                <a:cs typeface="Arial" pitchFamily="34" charset="-120"/>
              </a:rPr>
              <a:t>The drill already knows what’s inside</a:t>
            </a:r>
            <a:endParaRPr lang="en-US" sz="3200" dirty="0">
              <a:solidFill>
                <a:schemeClr val="tx1">
                  <a:lumMod val="85000"/>
                  <a:lumOff val="15000"/>
                </a:schemeClr>
              </a:solidFill>
            </a:endParaRPr>
          </a:p>
        </p:txBody>
      </p:sp>
      <p:sp>
        <p:nvSpPr>
          <p:cNvPr id="25" name="Slide Number Placeholder 0"/>
          <p:cNvSpPr>
            <a:spLocks noGrp="1"/>
          </p:cNvSpPr>
          <p:nvPr>
            <p:ph type="sldNum" sz="quarter" idx="4294967295"/>
          </p:nvPr>
        </p:nvSpPr>
        <p:spPr>
          <a:xfrm>
            <a:off x="13167360" y="7818120"/>
            <a:ext cx="9144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1</a:t>
            </a:fld>
            <a:endParaRPr lang="en-US"/>
          </a:p>
        </p:txBody>
      </p:sp>
      <p:pic>
        <p:nvPicPr>
          <p:cNvPr id="26" name="Drilling a wall" descr="wall_L.jpg"/>
          <p:cNvPicPr>
            <a:picLocks noChangeAspect="1"/>
          </p:cNvPicPr>
          <p:nvPr/>
        </p:nvPicPr>
        <p:blipFill>
          <a:blip r:embed="rId3"/>
          <a:stretch>
            <a:fillRect/>
          </a:stretch>
        </p:blipFill>
        <p:spPr>
          <a:xfrm>
            <a:off x="777240" y="1874519"/>
            <a:ext cx="3770054" cy="5059680"/>
          </a:xfrm>
          <a:prstGeom prst="rect">
            <a:avLst/>
          </a:prstGeom>
        </p:spPr>
      </p:pic>
      <p:sp>
        <p:nvSpPr>
          <p:cNvPr id="27" name="Label A WALL"/>
          <p:cNvSpPr/>
          <p:nvPr/>
        </p:nvSpPr>
        <p:spPr>
          <a:xfrm>
            <a:off x="914400" y="2011679"/>
            <a:ext cx="1143000" cy="329184"/>
          </a:xfrm>
          <a:prstGeom prst="roundRect">
            <a:avLst>
              <a:gd name="adj" fmla="val 50000"/>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4400" y="2011679"/>
            <a:ext cx="1143000" cy="329184"/>
          </a:xfrm>
          <a:prstGeom prst="rect">
            <a:avLst/>
          </a:prstGeom>
          <a:noFill/>
        </p:spPr>
        <p:txBody>
          <a:bodyPr wrap="square" lIns="0" tIns="0" rIns="0" bIns="0" anchor="ctr">
            <a:spAutoFit/>
          </a:bodyPr>
          <a:lstStyle/>
          <a:p>
            <a:pPr algn="ctr"/>
            <a:r>
              <a:rPr sz="1200" b="1" i="0">
                <a:solidFill>
                  <a:srgbClr val="FFFFFF"/>
                </a:solidFill>
                <a:latin typeface="Arial"/>
              </a:rPr>
              <a:t>A WALL</a:t>
            </a:r>
          </a:p>
        </p:txBody>
      </p:sp>
      <p:sp>
        <p:nvSpPr>
          <p:cNvPr id="29" name="Label 1  easy · white dust"/>
          <p:cNvSpPr/>
          <p:nvPr/>
        </p:nvSpPr>
        <p:spPr>
          <a:xfrm>
            <a:off x="2011680" y="5608320"/>
            <a:ext cx="196596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011680" y="5608320"/>
            <a:ext cx="1965960" cy="329184"/>
          </a:xfrm>
          <a:prstGeom prst="rect">
            <a:avLst/>
          </a:prstGeom>
          <a:noFill/>
        </p:spPr>
        <p:txBody>
          <a:bodyPr wrap="square" lIns="0" tIns="0" rIns="0" bIns="0" anchor="ctr">
            <a:spAutoFit/>
          </a:bodyPr>
          <a:lstStyle/>
          <a:p>
            <a:pPr algn="ctr"/>
            <a:r>
              <a:rPr sz="1200" b="1" i="0">
                <a:solidFill>
                  <a:srgbClr val="FFFFFF"/>
                </a:solidFill>
                <a:latin typeface="Arial"/>
              </a:rPr>
              <a:t>1  easy · white dust</a:t>
            </a:r>
          </a:p>
        </p:txBody>
      </p:sp>
      <p:sp>
        <p:nvSpPr>
          <p:cNvPr id="31" name="Layer 1 marker"/>
          <p:cNvSpPr/>
          <p:nvPr/>
        </p:nvSpPr>
        <p:spPr>
          <a:xfrm>
            <a:off x="2786729" y="2560320"/>
            <a:ext cx="329184" cy="329184"/>
          </a:xfrm>
          <a:prstGeom prst="ellipse">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786729" y="2560320"/>
            <a:ext cx="329184" cy="329184"/>
          </a:xfrm>
          <a:prstGeom prst="rect">
            <a:avLst/>
          </a:prstGeom>
          <a:noFill/>
        </p:spPr>
        <p:txBody>
          <a:bodyPr wrap="square" lIns="0" tIns="0" rIns="0" bIns="0" anchor="ctr">
            <a:spAutoFit/>
          </a:bodyPr>
          <a:lstStyle/>
          <a:p>
            <a:pPr algn="ctr"/>
            <a:r>
              <a:rPr sz="1300" b="1" i="0">
                <a:solidFill>
                  <a:srgbClr val="FFFFFF"/>
                </a:solidFill>
                <a:latin typeface="Arial"/>
              </a:rPr>
              <a:t>1</a:t>
            </a:r>
          </a:p>
        </p:txBody>
      </p:sp>
      <p:sp>
        <p:nvSpPr>
          <p:cNvPr id="33" name="Label 2  hard · grey dust"/>
          <p:cNvSpPr/>
          <p:nvPr/>
        </p:nvSpPr>
        <p:spPr>
          <a:xfrm>
            <a:off x="2011680" y="6001512"/>
            <a:ext cx="196596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011680" y="6001512"/>
            <a:ext cx="1965960" cy="329184"/>
          </a:xfrm>
          <a:prstGeom prst="rect">
            <a:avLst/>
          </a:prstGeom>
          <a:noFill/>
        </p:spPr>
        <p:txBody>
          <a:bodyPr wrap="square" lIns="0" tIns="0" rIns="0" bIns="0" anchor="ctr">
            <a:spAutoFit/>
          </a:bodyPr>
          <a:lstStyle/>
          <a:p>
            <a:pPr algn="ctr"/>
            <a:r>
              <a:rPr sz="1200" b="1" i="0">
                <a:solidFill>
                  <a:srgbClr val="FFFFFF"/>
                </a:solidFill>
                <a:latin typeface="Arial"/>
              </a:rPr>
              <a:t>2  hard · grey dust</a:t>
            </a:r>
          </a:p>
        </p:txBody>
      </p:sp>
      <p:sp>
        <p:nvSpPr>
          <p:cNvPr id="35" name="Layer 2 marker"/>
          <p:cNvSpPr/>
          <p:nvPr/>
        </p:nvSpPr>
        <p:spPr>
          <a:xfrm>
            <a:off x="3379660" y="2560320"/>
            <a:ext cx="329184" cy="329184"/>
          </a:xfrm>
          <a:prstGeom prst="ellipse">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379660" y="2560320"/>
            <a:ext cx="329184" cy="329184"/>
          </a:xfrm>
          <a:prstGeom prst="rect">
            <a:avLst/>
          </a:prstGeom>
          <a:noFill/>
        </p:spPr>
        <p:txBody>
          <a:bodyPr wrap="square" lIns="0" tIns="0" rIns="0" bIns="0" anchor="ctr">
            <a:spAutoFit/>
          </a:bodyPr>
          <a:lstStyle/>
          <a:p>
            <a:pPr algn="ctr"/>
            <a:r>
              <a:rPr sz="1300" b="1" i="0">
                <a:solidFill>
                  <a:srgbClr val="FFFFFF"/>
                </a:solidFill>
                <a:latin typeface="Arial"/>
              </a:rPr>
              <a:t>2</a:t>
            </a:r>
          </a:p>
        </p:txBody>
      </p:sp>
      <p:sp>
        <p:nvSpPr>
          <p:cNvPr id="37" name="Label 3  sudden jump"/>
          <p:cNvSpPr/>
          <p:nvPr/>
        </p:nvSpPr>
        <p:spPr>
          <a:xfrm>
            <a:off x="2011680" y="6394704"/>
            <a:ext cx="196596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011680" y="6394704"/>
            <a:ext cx="1965960" cy="329184"/>
          </a:xfrm>
          <a:prstGeom prst="rect">
            <a:avLst/>
          </a:prstGeom>
          <a:noFill/>
        </p:spPr>
        <p:txBody>
          <a:bodyPr wrap="square" lIns="0" tIns="0" rIns="0" bIns="0" anchor="ctr">
            <a:spAutoFit/>
          </a:bodyPr>
          <a:lstStyle/>
          <a:p>
            <a:pPr algn="ctr"/>
            <a:r>
              <a:rPr sz="1200" b="1" i="0">
                <a:solidFill>
                  <a:srgbClr val="FFFFFF"/>
                </a:solidFill>
                <a:latin typeface="Arial"/>
              </a:rPr>
              <a:t>3  sudden jump</a:t>
            </a:r>
          </a:p>
        </p:txBody>
      </p:sp>
      <p:sp>
        <p:nvSpPr>
          <p:cNvPr id="39" name="Layer 3 marker"/>
          <p:cNvSpPr/>
          <p:nvPr/>
        </p:nvSpPr>
        <p:spPr>
          <a:xfrm>
            <a:off x="3849064" y="2560320"/>
            <a:ext cx="329184" cy="329184"/>
          </a:xfrm>
          <a:prstGeom prst="ellipse">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849064" y="2560320"/>
            <a:ext cx="329184" cy="329184"/>
          </a:xfrm>
          <a:prstGeom prst="rect">
            <a:avLst/>
          </a:prstGeom>
          <a:noFill/>
        </p:spPr>
        <p:txBody>
          <a:bodyPr wrap="square" lIns="0" tIns="0" rIns="0" bIns="0" anchor="ctr">
            <a:spAutoFit/>
          </a:bodyPr>
          <a:lstStyle/>
          <a:p>
            <a:pPr algn="ctr"/>
            <a:r>
              <a:rPr sz="1300" b="1" i="0">
                <a:solidFill>
                  <a:srgbClr val="FFFFFF"/>
                </a:solidFill>
                <a:latin typeface="Arial"/>
              </a:rPr>
              <a:t>3</a:t>
            </a:r>
          </a:p>
        </p:txBody>
      </p:sp>
      <p:grpSp>
        <p:nvGrpSpPr>
          <p:cNvPr id="4" name="Ground (appears on click)"/>
          <p:cNvGrpSpPr/>
          <p:nvPr/>
        </p:nvGrpSpPr>
        <p:grpSpPr>
          <a:xfrm>
            <a:off x="4606587" y="1874519"/>
            <a:ext cx="3760172" cy="5059680"/>
            <a:chOff x="4606587" y="1874519"/>
            <a:chExt cx="3760172" cy="5059680"/>
          </a:xfrm>
        </p:grpSpPr>
        <p:pic>
          <p:nvPicPr>
            <p:cNvPr id="41" name="Drilling the ground" descr="ground_R.jpg"/>
            <p:cNvPicPr>
              <a:picLocks noChangeAspect="1"/>
            </p:cNvPicPr>
            <p:nvPr/>
          </p:nvPicPr>
          <p:blipFill>
            <a:blip r:embed="rId4"/>
            <a:stretch>
              <a:fillRect/>
            </a:stretch>
          </p:blipFill>
          <p:spPr>
            <a:xfrm>
              <a:off x="4606587" y="1874519"/>
              <a:ext cx="3760172" cy="5059680"/>
            </a:xfrm>
            <a:prstGeom prst="rect">
              <a:avLst/>
            </a:prstGeom>
          </p:spPr>
        </p:pic>
        <p:sp>
          <p:nvSpPr>
            <p:cNvPr id="42" name="Label 100 m OF ROCK"/>
            <p:cNvSpPr/>
            <p:nvPr/>
          </p:nvSpPr>
          <p:spPr>
            <a:xfrm>
              <a:off x="4743747" y="2011679"/>
              <a:ext cx="1737360" cy="329184"/>
            </a:xfrm>
            <a:prstGeom prst="roundRect">
              <a:avLst>
                <a:gd name="adj" fmla="val 50000"/>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743747" y="2011679"/>
              <a:ext cx="1737360" cy="329184"/>
            </a:xfrm>
            <a:prstGeom prst="rect">
              <a:avLst/>
            </a:prstGeom>
            <a:noFill/>
          </p:spPr>
          <p:txBody>
            <a:bodyPr wrap="square" lIns="0" tIns="0" rIns="0" bIns="0" anchor="ctr">
              <a:spAutoFit/>
            </a:bodyPr>
            <a:lstStyle/>
            <a:p>
              <a:pPr algn="ctr"/>
              <a:r>
                <a:rPr sz="1200" b="1" i="0">
                  <a:solidFill>
                    <a:srgbClr val="FFFFFF"/>
                  </a:solidFill>
                  <a:latin typeface="Arial"/>
                </a:rPr>
                <a:t>100 m OF ROCK</a:t>
              </a:r>
            </a:p>
          </p:txBody>
        </p:sp>
        <p:sp>
          <p:nvSpPr>
            <p:cNvPr id="44" name="Label soft"/>
            <p:cNvSpPr/>
            <p:nvPr/>
          </p:nvSpPr>
          <p:spPr>
            <a:xfrm>
              <a:off x="4679739" y="3291839"/>
              <a:ext cx="123444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79739" y="3291839"/>
              <a:ext cx="1234440" cy="329184"/>
            </a:xfrm>
            <a:prstGeom prst="rect">
              <a:avLst/>
            </a:prstGeom>
            <a:noFill/>
          </p:spPr>
          <p:txBody>
            <a:bodyPr wrap="square" lIns="0" tIns="0" rIns="0" bIns="0" anchor="ctr">
              <a:spAutoFit/>
            </a:bodyPr>
            <a:lstStyle/>
            <a:p>
              <a:pPr algn="ctr"/>
              <a:r>
                <a:rPr sz="1200" b="1" i="0">
                  <a:solidFill>
                    <a:srgbClr val="FFFFFF"/>
                  </a:solidFill>
                  <a:latin typeface="Arial"/>
                </a:rPr>
                <a:t>soft</a:t>
              </a:r>
            </a:p>
          </p:txBody>
        </p:sp>
        <p:sp>
          <p:nvSpPr>
            <p:cNvPr id="46" name="Label hard · slow"/>
            <p:cNvSpPr/>
            <p:nvPr/>
          </p:nvSpPr>
          <p:spPr>
            <a:xfrm>
              <a:off x="4679739" y="4206240"/>
              <a:ext cx="123444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679739" y="4206240"/>
              <a:ext cx="1234440" cy="329184"/>
            </a:xfrm>
            <a:prstGeom prst="rect">
              <a:avLst/>
            </a:prstGeom>
            <a:noFill/>
          </p:spPr>
          <p:txBody>
            <a:bodyPr wrap="square" lIns="0" tIns="0" rIns="0" bIns="0" anchor="ctr">
              <a:spAutoFit/>
            </a:bodyPr>
            <a:lstStyle/>
            <a:p>
              <a:pPr algn="ctr"/>
              <a:r>
                <a:rPr sz="1200" b="1" i="0">
                  <a:solidFill>
                    <a:srgbClr val="FFFFFF"/>
                  </a:solidFill>
                  <a:latin typeface="Arial"/>
                </a:rPr>
                <a:t>hard · slow</a:t>
              </a:r>
            </a:p>
          </p:txBody>
        </p:sp>
        <p:sp>
          <p:nvSpPr>
            <p:cNvPr id="48" name="Label new rock, new cuttings"/>
            <p:cNvSpPr/>
            <p:nvPr/>
          </p:nvSpPr>
          <p:spPr>
            <a:xfrm>
              <a:off x="4679739" y="5394960"/>
              <a:ext cx="214884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679739" y="5394960"/>
              <a:ext cx="2148840" cy="329184"/>
            </a:xfrm>
            <a:prstGeom prst="rect">
              <a:avLst/>
            </a:prstGeom>
            <a:noFill/>
          </p:spPr>
          <p:txBody>
            <a:bodyPr wrap="square" lIns="0" tIns="0" rIns="0" bIns="0" anchor="ctr">
              <a:spAutoFit/>
            </a:bodyPr>
            <a:lstStyle/>
            <a:p>
              <a:pPr algn="ctr"/>
              <a:r>
                <a:rPr sz="1200" b="1" i="0">
                  <a:solidFill>
                    <a:srgbClr val="FFFFFF"/>
                  </a:solidFill>
                  <a:latin typeface="Arial"/>
                </a:rPr>
                <a:t>new rock, new cuttings</a:t>
              </a:r>
            </a:p>
          </p:txBody>
        </p:sp>
      </p:grpSp>
      <p:sp>
        <p:nvSpPr>
          <p:cNvPr id="50" name="Question"/>
          <p:cNvSpPr txBox="1"/>
          <p:nvPr/>
        </p:nvSpPr>
        <p:spPr>
          <a:xfrm>
            <a:off x="8823960" y="1965960"/>
            <a:ext cx="5029200" cy="868680"/>
          </a:xfrm>
          <a:prstGeom prst="rect">
            <a:avLst/>
          </a:prstGeom>
          <a:noFill/>
        </p:spPr>
        <p:txBody>
          <a:bodyPr wrap="square" lIns="0" tIns="0" rIns="0" bIns="0" anchor="t">
            <a:spAutoFit/>
          </a:bodyPr>
          <a:lstStyle/>
          <a:p>
            <a:pPr algn="l"/>
            <a:r>
              <a:rPr sz="2000" b="1" i="0">
                <a:solidFill>
                  <a:srgbClr val="063D2B"/>
                </a:solidFill>
                <a:latin typeface="Arial"/>
              </a:rPr>
              <a:t>A mine drills 100 m of rock. How long until it knows what it hit?</a:t>
            </a:r>
          </a:p>
        </p:txBody>
      </p:sp>
      <p:sp>
        <p:nvSpPr>
          <p:cNvPr id="51" name="Option A"/>
          <p:cNvSpPr/>
          <p:nvPr/>
        </p:nvSpPr>
        <p:spPr>
          <a:xfrm>
            <a:off x="8823960" y="2926080"/>
            <a:ext cx="5029200" cy="475488"/>
          </a:xfrm>
          <a:prstGeom prst="roundRect">
            <a:avLst>
              <a:gd name="adj" fmla="val 20000"/>
            </a:avLst>
          </a:prstGeom>
          <a:solidFill>
            <a:srgbClr val="FFFFFF"/>
          </a:solidFill>
          <a:ln w="15875">
            <a:solidFill>
              <a:srgbClr val="DDE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ption A badge"/>
          <p:cNvSpPr/>
          <p:nvPr/>
        </p:nvSpPr>
        <p:spPr>
          <a:xfrm>
            <a:off x="8933688" y="2999232"/>
            <a:ext cx="329184" cy="329184"/>
          </a:xfrm>
          <a:prstGeom prst="ellipse">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933688" y="2999232"/>
            <a:ext cx="329184" cy="329184"/>
          </a:xfrm>
          <a:prstGeom prst="rect">
            <a:avLst/>
          </a:prstGeom>
          <a:noFill/>
        </p:spPr>
        <p:txBody>
          <a:bodyPr wrap="square" lIns="0" tIns="0" rIns="0" bIns="0" anchor="ctr">
            <a:spAutoFit/>
          </a:bodyPr>
          <a:lstStyle/>
          <a:p>
            <a:pPr algn="ctr"/>
            <a:r>
              <a:rPr sz="1200" b="1" i="0">
                <a:solidFill>
                  <a:srgbClr val="FFFFFF"/>
                </a:solidFill>
                <a:latin typeface="Arial"/>
              </a:rPr>
              <a:t>A</a:t>
            </a:r>
          </a:p>
        </p:txBody>
      </p:sp>
      <p:sp>
        <p:nvSpPr>
          <p:cNvPr id="54" name="Option A text"/>
          <p:cNvSpPr txBox="1"/>
          <p:nvPr/>
        </p:nvSpPr>
        <p:spPr>
          <a:xfrm>
            <a:off x="9464040" y="2926080"/>
            <a:ext cx="3200400" cy="475488"/>
          </a:xfrm>
          <a:prstGeom prst="rect">
            <a:avLst/>
          </a:prstGeom>
          <a:noFill/>
        </p:spPr>
        <p:txBody>
          <a:bodyPr wrap="square" lIns="0" tIns="0" rIns="0" bIns="0" anchor="ctr">
            <a:spAutoFit/>
          </a:bodyPr>
          <a:lstStyle/>
          <a:p>
            <a:pPr algn="l"/>
            <a:r>
              <a:rPr sz="1700" b="1" i="0">
                <a:solidFill>
                  <a:srgbClr val="063D2B"/>
                </a:solidFill>
                <a:latin typeface="Arial"/>
              </a:rPr>
              <a:t>A few hours</a:t>
            </a:r>
          </a:p>
        </p:txBody>
      </p:sp>
      <p:sp>
        <p:nvSpPr>
          <p:cNvPr id="55" name="Option B"/>
          <p:cNvSpPr/>
          <p:nvPr/>
        </p:nvSpPr>
        <p:spPr>
          <a:xfrm>
            <a:off x="8823960" y="3493008"/>
            <a:ext cx="5029200" cy="475488"/>
          </a:xfrm>
          <a:prstGeom prst="roundRect">
            <a:avLst>
              <a:gd name="adj" fmla="val 20000"/>
            </a:avLst>
          </a:prstGeom>
          <a:solidFill>
            <a:srgbClr val="FFFFFF"/>
          </a:solidFill>
          <a:ln w="15875">
            <a:solidFill>
              <a:srgbClr val="DDE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ption B badge"/>
          <p:cNvSpPr/>
          <p:nvPr/>
        </p:nvSpPr>
        <p:spPr>
          <a:xfrm>
            <a:off x="8933688" y="3566160"/>
            <a:ext cx="329184" cy="329184"/>
          </a:xfrm>
          <a:prstGeom prst="ellipse">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933688" y="3566160"/>
            <a:ext cx="329184" cy="329184"/>
          </a:xfrm>
          <a:prstGeom prst="rect">
            <a:avLst/>
          </a:prstGeom>
          <a:noFill/>
        </p:spPr>
        <p:txBody>
          <a:bodyPr wrap="square" lIns="0" tIns="0" rIns="0" bIns="0" anchor="ctr">
            <a:spAutoFit/>
          </a:bodyPr>
          <a:lstStyle/>
          <a:p>
            <a:pPr algn="ctr"/>
            <a:r>
              <a:rPr sz="1200" b="1" i="0">
                <a:solidFill>
                  <a:srgbClr val="FFFFFF"/>
                </a:solidFill>
                <a:latin typeface="Arial"/>
              </a:rPr>
              <a:t>B</a:t>
            </a:r>
          </a:p>
        </p:txBody>
      </p:sp>
      <p:sp>
        <p:nvSpPr>
          <p:cNvPr id="58" name="Option B text"/>
          <p:cNvSpPr txBox="1"/>
          <p:nvPr/>
        </p:nvSpPr>
        <p:spPr>
          <a:xfrm>
            <a:off x="9464040" y="3493008"/>
            <a:ext cx="3200400" cy="475488"/>
          </a:xfrm>
          <a:prstGeom prst="rect">
            <a:avLst/>
          </a:prstGeom>
          <a:noFill/>
        </p:spPr>
        <p:txBody>
          <a:bodyPr wrap="square" lIns="0" tIns="0" rIns="0" bIns="0" anchor="ctr">
            <a:spAutoFit/>
          </a:bodyPr>
          <a:lstStyle/>
          <a:p>
            <a:pPr algn="l"/>
            <a:r>
              <a:rPr sz="1700" b="1" i="0">
                <a:solidFill>
                  <a:srgbClr val="063D2B"/>
                </a:solidFill>
                <a:latin typeface="Arial"/>
              </a:rPr>
              <a:t>A few days</a:t>
            </a:r>
          </a:p>
        </p:txBody>
      </p:sp>
      <p:sp>
        <p:nvSpPr>
          <p:cNvPr id="59" name="Option C"/>
          <p:cNvSpPr/>
          <p:nvPr/>
        </p:nvSpPr>
        <p:spPr>
          <a:xfrm>
            <a:off x="8823960" y="4059936"/>
            <a:ext cx="5029200" cy="475488"/>
          </a:xfrm>
          <a:prstGeom prst="roundRect">
            <a:avLst>
              <a:gd name="adj" fmla="val 20000"/>
            </a:avLst>
          </a:prstGeom>
          <a:solidFill>
            <a:srgbClr val="FFFFFF"/>
          </a:solidFill>
          <a:ln w="15875">
            <a:solidFill>
              <a:srgbClr val="DDE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ption C badge"/>
          <p:cNvSpPr/>
          <p:nvPr/>
        </p:nvSpPr>
        <p:spPr>
          <a:xfrm>
            <a:off x="8933688" y="4133088"/>
            <a:ext cx="329184" cy="329184"/>
          </a:xfrm>
          <a:prstGeom prst="ellipse">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933688" y="4133088"/>
            <a:ext cx="329184" cy="329184"/>
          </a:xfrm>
          <a:prstGeom prst="rect">
            <a:avLst/>
          </a:prstGeom>
          <a:noFill/>
        </p:spPr>
        <p:txBody>
          <a:bodyPr wrap="square" lIns="0" tIns="0" rIns="0" bIns="0" anchor="ctr">
            <a:spAutoFit/>
          </a:bodyPr>
          <a:lstStyle/>
          <a:p>
            <a:pPr algn="ctr"/>
            <a:r>
              <a:rPr sz="1200" b="1" i="0">
                <a:solidFill>
                  <a:srgbClr val="FFFFFF"/>
                </a:solidFill>
                <a:latin typeface="Arial"/>
              </a:rPr>
              <a:t>C</a:t>
            </a:r>
          </a:p>
        </p:txBody>
      </p:sp>
      <p:sp>
        <p:nvSpPr>
          <p:cNvPr id="62" name="Option C text"/>
          <p:cNvSpPr txBox="1"/>
          <p:nvPr/>
        </p:nvSpPr>
        <p:spPr>
          <a:xfrm>
            <a:off x="9464040" y="4059936"/>
            <a:ext cx="3200400" cy="475488"/>
          </a:xfrm>
          <a:prstGeom prst="rect">
            <a:avLst/>
          </a:prstGeom>
          <a:noFill/>
        </p:spPr>
        <p:txBody>
          <a:bodyPr wrap="square" lIns="0" tIns="0" rIns="0" bIns="0" anchor="ctr">
            <a:spAutoFit/>
          </a:bodyPr>
          <a:lstStyle/>
          <a:p>
            <a:pPr algn="l"/>
            <a:r>
              <a:rPr sz="1700" b="1" i="0">
                <a:solidFill>
                  <a:srgbClr val="063D2B"/>
                </a:solidFill>
                <a:latin typeface="Arial"/>
              </a:rPr>
              <a:t>Weeks to months</a:t>
            </a:r>
          </a:p>
        </p:txBody>
      </p:sp>
      <p:sp>
        <p:nvSpPr>
          <p:cNvPr id="63" name="Prompt"/>
          <p:cNvSpPr txBox="1"/>
          <p:nvPr/>
        </p:nvSpPr>
        <p:spPr>
          <a:xfrm>
            <a:off x="8823960" y="4846320"/>
            <a:ext cx="5029200" cy="365760"/>
          </a:xfrm>
          <a:prstGeom prst="rect">
            <a:avLst/>
          </a:prstGeom>
          <a:noFill/>
        </p:spPr>
        <p:txBody>
          <a:bodyPr wrap="square" lIns="0" tIns="0" rIns="0" bIns="0" anchor="t">
            <a:spAutoFit/>
          </a:bodyPr>
          <a:lstStyle/>
          <a:p>
            <a:pPr algn="l"/>
            <a:r>
              <a:rPr sz="1500" b="0" i="1">
                <a:solidFill>
                  <a:srgbClr val="5E7A70"/>
                </a:solidFill>
                <a:latin typeface="Arial"/>
              </a:rPr>
              <a:t>Think of your answer…</a:t>
            </a:r>
          </a:p>
        </p:txBody>
      </p:sp>
    </p:spTree>
    <p:extLst>
      <p:ext uri="{BB962C8B-B14F-4D97-AF65-F5344CB8AC3E}">
        <p14:creationId xmlns:p14="http://schemas.microsoft.com/office/powerpoint/2010/main" val="2391189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777240" y="502920"/>
            <a:ext cx="10972800" cy="365760"/>
          </a:xfrm>
          <a:prstGeom prst="rect">
            <a:avLst/>
          </a:prstGeom>
          <a:noFill/>
          <a:ln/>
        </p:spPr>
        <p:txBody>
          <a:bodyPr wrap="square" lIns="0" tIns="0" rIns="0" bIns="0" rtlCol="0" anchor="ctr"/>
          <a:lstStyle/>
          <a:p>
            <a:pPr marL="0" indent="0">
              <a:buNone/>
            </a:pPr>
            <a:r>
              <a:rPr lang="en-US" sz="1500" b="1" kern="0" spc="100" dirty="0">
                <a:solidFill>
                  <a:srgbClr val="1FB480"/>
                </a:solidFill>
                <a:latin typeface="Arial" pitchFamily="34" charset="0"/>
                <a:ea typeface="Arial" pitchFamily="34" charset="-122"/>
                <a:cs typeface="Arial" pitchFamily="34" charset="-120"/>
              </a:rPr>
              <a:t>A QUICK QUESTION</a:t>
            </a:r>
            <a:endParaRPr lang="en-US" sz="1500" dirty="0"/>
          </a:p>
        </p:txBody>
      </p:sp>
      <p:sp>
        <p:nvSpPr>
          <p:cNvPr id="3" name="Title"/>
          <p:cNvSpPr txBox="1"/>
          <p:nvPr/>
        </p:nvSpPr>
        <p:spPr>
          <a:xfrm>
            <a:off x="777240" y="914400"/>
            <a:ext cx="12435840" cy="731520"/>
          </a:xfrm>
          <a:prstGeom prst="rect">
            <a:avLst/>
          </a:prstGeom>
          <a:noFill/>
          <a:ln/>
        </p:spPr>
        <p:txBody>
          <a:bodyPr wrap="square" lIns="0" tIns="0" rIns="0" bIns="0" rtlCol="0" anchor="ctr"/>
          <a:lstStyle/>
          <a:p>
            <a:pPr marL="0" indent="0">
              <a:buNone/>
            </a:pPr>
            <a:r>
              <a:rPr lang="en-US" sz="3200" b="1" dirty="0">
                <a:solidFill>
                  <a:srgbClr val="063D2B"/>
                </a:solidFill>
                <a:latin typeface="Arial" pitchFamily="34" charset="0"/>
                <a:ea typeface="Arial" pitchFamily="34" charset="-122"/>
                <a:cs typeface="Arial" pitchFamily="34" charset="-120"/>
              </a:rPr>
              <a:t>The drill already knows what’s inside</a:t>
            </a:r>
            <a:endParaRPr lang="en-US" sz="3200" dirty="0">
              <a:solidFill>
                <a:schemeClr val="tx1">
                  <a:lumMod val="85000"/>
                  <a:lumOff val="15000"/>
                </a:schemeClr>
              </a:solidFill>
            </a:endParaRPr>
          </a:p>
        </p:txBody>
      </p:sp>
      <p:sp>
        <p:nvSpPr>
          <p:cNvPr id="315" name="Shape 315"/>
          <p:cNvSpPr/>
          <p:nvPr/>
        </p:nvSpPr>
        <p:spPr>
          <a:xfrm>
            <a:off x="774700" y="7178040"/>
            <a:ext cx="12192000" cy="411480"/>
          </a:xfrm>
          <a:prstGeom prst="rect">
            <a:avLst/>
          </a:prstGeom>
          <a:noFill/>
          <a:ln>
            <a:noFill/>
          </a:ln>
        </p:spPr>
        <p:txBody>
          <a:bodyPr wrap="square" lIns="0" tIns="0" rIns="0" bIns="0" rtlCol="0" anchor="b">
            <a:noAutofit/>
          </a:bodyPr>
          <a:lstStyle/>
          <a:p>
            <a:pPr marL="0" indent="0" algn="l">
              <a:buNone/>
            </a:pPr>
            <a:r>
              <a:rPr lang="en-US" sz="1000" dirty="0">
                <a:solidFill>
                  <a:srgbClr val="5E7A70"/>
                </a:solidFill>
                <a:latin typeface="Arial" pitchFamily="34" charset="0"/>
                <a:cs typeface="Arial" pitchFamily="34" charset="-120"/>
              </a:rPr>
              <a:t>1. Typical commercial lab assay turnaround; industry and company reports, 2021–2026.  2. S&amp;P Global Market Intelligence, 2026: average discovery-to-production lead time (232 mines, 1990–2025).</a:t>
            </a:r>
          </a:p>
        </p:txBody>
      </p:sp>
      <p:sp>
        <p:nvSpPr>
          <p:cNvPr id="25" name="Slide Number Placeholder 0"/>
          <p:cNvSpPr>
            <a:spLocks noGrp="1"/>
          </p:cNvSpPr>
          <p:nvPr>
            <p:ph type="sldNum" sz="quarter" idx="4294967295"/>
          </p:nvPr>
        </p:nvSpPr>
        <p:spPr>
          <a:xfrm>
            <a:off x="13167360" y="7818120"/>
            <a:ext cx="9144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2</a:t>
            </a:fld>
            <a:endParaRPr lang="en-US"/>
          </a:p>
        </p:txBody>
      </p:sp>
      <p:pic>
        <p:nvPicPr>
          <p:cNvPr id="316" name="Drilling a wall" descr="wall_L.jpg"/>
          <p:cNvPicPr>
            <a:picLocks noChangeAspect="1"/>
          </p:cNvPicPr>
          <p:nvPr/>
        </p:nvPicPr>
        <p:blipFill>
          <a:blip r:embed="rId3"/>
          <a:stretch>
            <a:fillRect/>
          </a:stretch>
        </p:blipFill>
        <p:spPr>
          <a:xfrm>
            <a:off x="777240" y="1874519"/>
            <a:ext cx="3770054" cy="5059680"/>
          </a:xfrm>
          <a:prstGeom prst="rect">
            <a:avLst/>
          </a:prstGeom>
        </p:spPr>
      </p:pic>
      <p:sp>
        <p:nvSpPr>
          <p:cNvPr id="317" name="Label A WALL"/>
          <p:cNvSpPr/>
          <p:nvPr/>
        </p:nvSpPr>
        <p:spPr>
          <a:xfrm>
            <a:off x="914400" y="2011679"/>
            <a:ext cx="1143000" cy="329184"/>
          </a:xfrm>
          <a:prstGeom prst="roundRect">
            <a:avLst>
              <a:gd name="adj" fmla="val 50000"/>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TextBox 317"/>
          <p:cNvSpPr txBox="1"/>
          <p:nvPr/>
        </p:nvSpPr>
        <p:spPr>
          <a:xfrm>
            <a:off x="914400" y="2011679"/>
            <a:ext cx="1143000" cy="329184"/>
          </a:xfrm>
          <a:prstGeom prst="rect">
            <a:avLst/>
          </a:prstGeom>
          <a:noFill/>
        </p:spPr>
        <p:txBody>
          <a:bodyPr wrap="square" lIns="0" tIns="0" rIns="0" bIns="0" anchor="ctr">
            <a:spAutoFit/>
          </a:bodyPr>
          <a:lstStyle/>
          <a:p>
            <a:pPr algn="ctr"/>
            <a:r>
              <a:rPr sz="1200" b="1" i="0">
                <a:solidFill>
                  <a:srgbClr val="FFFFFF"/>
                </a:solidFill>
                <a:latin typeface="Arial"/>
              </a:rPr>
              <a:t>A WALL</a:t>
            </a:r>
          </a:p>
        </p:txBody>
      </p:sp>
      <p:sp>
        <p:nvSpPr>
          <p:cNvPr id="319" name="Label 1  easy · white dust"/>
          <p:cNvSpPr/>
          <p:nvPr/>
        </p:nvSpPr>
        <p:spPr>
          <a:xfrm>
            <a:off x="2011680" y="5608320"/>
            <a:ext cx="196596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TextBox 319"/>
          <p:cNvSpPr txBox="1"/>
          <p:nvPr/>
        </p:nvSpPr>
        <p:spPr>
          <a:xfrm>
            <a:off x="2011680" y="5608320"/>
            <a:ext cx="1965960" cy="329184"/>
          </a:xfrm>
          <a:prstGeom prst="rect">
            <a:avLst/>
          </a:prstGeom>
          <a:noFill/>
        </p:spPr>
        <p:txBody>
          <a:bodyPr wrap="square" lIns="0" tIns="0" rIns="0" bIns="0" anchor="ctr">
            <a:spAutoFit/>
          </a:bodyPr>
          <a:lstStyle/>
          <a:p>
            <a:pPr algn="ctr"/>
            <a:r>
              <a:rPr sz="1200" b="1" i="0">
                <a:solidFill>
                  <a:srgbClr val="FFFFFF"/>
                </a:solidFill>
                <a:latin typeface="Arial"/>
              </a:rPr>
              <a:t>1  easy · white dust</a:t>
            </a:r>
          </a:p>
        </p:txBody>
      </p:sp>
      <p:sp>
        <p:nvSpPr>
          <p:cNvPr id="321" name="Layer 1 marker"/>
          <p:cNvSpPr/>
          <p:nvPr/>
        </p:nvSpPr>
        <p:spPr>
          <a:xfrm>
            <a:off x="2786729" y="2560320"/>
            <a:ext cx="329184" cy="329184"/>
          </a:xfrm>
          <a:prstGeom prst="ellipse">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TextBox 321"/>
          <p:cNvSpPr txBox="1"/>
          <p:nvPr/>
        </p:nvSpPr>
        <p:spPr>
          <a:xfrm>
            <a:off x="2786729" y="2560320"/>
            <a:ext cx="329184" cy="329184"/>
          </a:xfrm>
          <a:prstGeom prst="rect">
            <a:avLst/>
          </a:prstGeom>
          <a:noFill/>
        </p:spPr>
        <p:txBody>
          <a:bodyPr wrap="square" lIns="0" tIns="0" rIns="0" bIns="0" anchor="ctr">
            <a:spAutoFit/>
          </a:bodyPr>
          <a:lstStyle/>
          <a:p>
            <a:pPr algn="ctr"/>
            <a:r>
              <a:rPr sz="1300" b="1" i="0">
                <a:solidFill>
                  <a:srgbClr val="FFFFFF"/>
                </a:solidFill>
                <a:latin typeface="Arial"/>
              </a:rPr>
              <a:t>1</a:t>
            </a:r>
          </a:p>
        </p:txBody>
      </p:sp>
      <p:sp>
        <p:nvSpPr>
          <p:cNvPr id="323" name="Label 2  hard · grey dust"/>
          <p:cNvSpPr/>
          <p:nvPr/>
        </p:nvSpPr>
        <p:spPr>
          <a:xfrm>
            <a:off x="2011680" y="6001512"/>
            <a:ext cx="196596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TextBox 323"/>
          <p:cNvSpPr txBox="1"/>
          <p:nvPr/>
        </p:nvSpPr>
        <p:spPr>
          <a:xfrm>
            <a:off x="2011680" y="6001512"/>
            <a:ext cx="1965960" cy="329184"/>
          </a:xfrm>
          <a:prstGeom prst="rect">
            <a:avLst/>
          </a:prstGeom>
          <a:noFill/>
        </p:spPr>
        <p:txBody>
          <a:bodyPr wrap="square" lIns="0" tIns="0" rIns="0" bIns="0" anchor="ctr">
            <a:spAutoFit/>
          </a:bodyPr>
          <a:lstStyle/>
          <a:p>
            <a:pPr algn="ctr"/>
            <a:r>
              <a:rPr sz="1200" b="1" i="0">
                <a:solidFill>
                  <a:srgbClr val="FFFFFF"/>
                </a:solidFill>
                <a:latin typeface="Arial"/>
              </a:rPr>
              <a:t>2  hard · grey dust</a:t>
            </a:r>
          </a:p>
        </p:txBody>
      </p:sp>
      <p:sp>
        <p:nvSpPr>
          <p:cNvPr id="325" name="Layer 2 marker"/>
          <p:cNvSpPr/>
          <p:nvPr/>
        </p:nvSpPr>
        <p:spPr>
          <a:xfrm>
            <a:off x="3379660" y="2560320"/>
            <a:ext cx="329184" cy="329184"/>
          </a:xfrm>
          <a:prstGeom prst="ellipse">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TextBox 325"/>
          <p:cNvSpPr txBox="1"/>
          <p:nvPr/>
        </p:nvSpPr>
        <p:spPr>
          <a:xfrm>
            <a:off x="3379660" y="2560320"/>
            <a:ext cx="329184" cy="329184"/>
          </a:xfrm>
          <a:prstGeom prst="rect">
            <a:avLst/>
          </a:prstGeom>
          <a:noFill/>
        </p:spPr>
        <p:txBody>
          <a:bodyPr wrap="square" lIns="0" tIns="0" rIns="0" bIns="0" anchor="ctr">
            <a:spAutoFit/>
          </a:bodyPr>
          <a:lstStyle/>
          <a:p>
            <a:pPr algn="ctr"/>
            <a:r>
              <a:rPr sz="1300" b="1" i="0">
                <a:solidFill>
                  <a:srgbClr val="FFFFFF"/>
                </a:solidFill>
                <a:latin typeface="Arial"/>
              </a:rPr>
              <a:t>2</a:t>
            </a:r>
          </a:p>
        </p:txBody>
      </p:sp>
      <p:sp>
        <p:nvSpPr>
          <p:cNvPr id="327" name="Label 3  sudden jump"/>
          <p:cNvSpPr/>
          <p:nvPr/>
        </p:nvSpPr>
        <p:spPr>
          <a:xfrm>
            <a:off x="2011680" y="6394704"/>
            <a:ext cx="196596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TextBox 327"/>
          <p:cNvSpPr txBox="1"/>
          <p:nvPr/>
        </p:nvSpPr>
        <p:spPr>
          <a:xfrm>
            <a:off x="2011680" y="6394704"/>
            <a:ext cx="1965960" cy="329184"/>
          </a:xfrm>
          <a:prstGeom prst="rect">
            <a:avLst/>
          </a:prstGeom>
          <a:noFill/>
        </p:spPr>
        <p:txBody>
          <a:bodyPr wrap="square" lIns="0" tIns="0" rIns="0" bIns="0" anchor="ctr">
            <a:spAutoFit/>
          </a:bodyPr>
          <a:lstStyle/>
          <a:p>
            <a:pPr algn="ctr"/>
            <a:r>
              <a:rPr sz="1200" b="1" i="0">
                <a:solidFill>
                  <a:srgbClr val="FFFFFF"/>
                </a:solidFill>
                <a:latin typeface="Arial"/>
              </a:rPr>
              <a:t>3  sudden jump</a:t>
            </a:r>
          </a:p>
        </p:txBody>
      </p:sp>
      <p:sp>
        <p:nvSpPr>
          <p:cNvPr id="329" name="Layer 3 marker"/>
          <p:cNvSpPr/>
          <p:nvPr/>
        </p:nvSpPr>
        <p:spPr>
          <a:xfrm>
            <a:off x="3849064" y="2560320"/>
            <a:ext cx="329184" cy="329184"/>
          </a:xfrm>
          <a:prstGeom prst="ellipse">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TextBox 329"/>
          <p:cNvSpPr txBox="1"/>
          <p:nvPr/>
        </p:nvSpPr>
        <p:spPr>
          <a:xfrm>
            <a:off x="3849064" y="2560320"/>
            <a:ext cx="329184" cy="329184"/>
          </a:xfrm>
          <a:prstGeom prst="rect">
            <a:avLst/>
          </a:prstGeom>
          <a:noFill/>
        </p:spPr>
        <p:txBody>
          <a:bodyPr wrap="square" lIns="0" tIns="0" rIns="0" bIns="0" anchor="ctr">
            <a:spAutoFit/>
          </a:bodyPr>
          <a:lstStyle/>
          <a:p>
            <a:pPr algn="ctr"/>
            <a:r>
              <a:rPr sz="1300" b="1" i="0">
                <a:solidFill>
                  <a:srgbClr val="FFFFFF"/>
                </a:solidFill>
                <a:latin typeface="Arial"/>
              </a:rPr>
              <a:t>3</a:t>
            </a:r>
          </a:p>
        </p:txBody>
      </p:sp>
      <p:grpSp>
        <p:nvGrpSpPr>
          <p:cNvPr id="4" name="Ground (appears on click)"/>
          <p:cNvGrpSpPr/>
          <p:nvPr/>
        </p:nvGrpSpPr>
        <p:grpSpPr>
          <a:xfrm>
            <a:off x="4606587" y="1874519"/>
            <a:ext cx="3760172" cy="5059680"/>
            <a:chOff x="4606587" y="1874519"/>
            <a:chExt cx="3760172" cy="5059680"/>
          </a:xfrm>
        </p:grpSpPr>
        <p:pic>
          <p:nvPicPr>
            <p:cNvPr id="331" name="Drilling the ground" descr="ground_R.jpg"/>
            <p:cNvPicPr>
              <a:picLocks noChangeAspect="1"/>
            </p:cNvPicPr>
            <p:nvPr/>
          </p:nvPicPr>
          <p:blipFill>
            <a:blip r:embed="rId4"/>
            <a:stretch>
              <a:fillRect/>
            </a:stretch>
          </p:blipFill>
          <p:spPr>
            <a:xfrm>
              <a:off x="4606587" y="1874519"/>
              <a:ext cx="3760172" cy="5059680"/>
            </a:xfrm>
            <a:prstGeom prst="rect">
              <a:avLst/>
            </a:prstGeom>
          </p:spPr>
        </p:pic>
        <p:sp>
          <p:nvSpPr>
            <p:cNvPr id="332" name="Label 100 m OF ROCK"/>
            <p:cNvSpPr/>
            <p:nvPr/>
          </p:nvSpPr>
          <p:spPr>
            <a:xfrm>
              <a:off x="4743747" y="2011679"/>
              <a:ext cx="1737360" cy="329184"/>
            </a:xfrm>
            <a:prstGeom prst="roundRect">
              <a:avLst>
                <a:gd name="adj" fmla="val 50000"/>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TextBox 332"/>
            <p:cNvSpPr txBox="1"/>
            <p:nvPr/>
          </p:nvSpPr>
          <p:spPr>
            <a:xfrm>
              <a:off x="4743747" y="2011679"/>
              <a:ext cx="1737360" cy="329184"/>
            </a:xfrm>
            <a:prstGeom prst="rect">
              <a:avLst/>
            </a:prstGeom>
            <a:noFill/>
          </p:spPr>
          <p:txBody>
            <a:bodyPr wrap="square" lIns="0" tIns="0" rIns="0" bIns="0" anchor="ctr">
              <a:spAutoFit/>
            </a:bodyPr>
            <a:lstStyle/>
            <a:p>
              <a:pPr algn="ctr"/>
              <a:r>
                <a:rPr sz="1200" b="1" i="0">
                  <a:solidFill>
                    <a:srgbClr val="FFFFFF"/>
                  </a:solidFill>
                  <a:latin typeface="Arial"/>
                </a:rPr>
                <a:t>100 m OF ROCK</a:t>
              </a:r>
            </a:p>
          </p:txBody>
        </p:sp>
        <p:sp>
          <p:nvSpPr>
            <p:cNvPr id="334" name="Label soft"/>
            <p:cNvSpPr/>
            <p:nvPr/>
          </p:nvSpPr>
          <p:spPr>
            <a:xfrm>
              <a:off x="4679739" y="3291839"/>
              <a:ext cx="123444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TextBox 334"/>
            <p:cNvSpPr txBox="1"/>
            <p:nvPr/>
          </p:nvSpPr>
          <p:spPr>
            <a:xfrm>
              <a:off x="4679739" y="3291839"/>
              <a:ext cx="1234440" cy="329184"/>
            </a:xfrm>
            <a:prstGeom prst="rect">
              <a:avLst/>
            </a:prstGeom>
            <a:noFill/>
          </p:spPr>
          <p:txBody>
            <a:bodyPr wrap="square" lIns="0" tIns="0" rIns="0" bIns="0" anchor="ctr">
              <a:spAutoFit/>
            </a:bodyPr>
            <a:lstStyle/>
            <a:p>
              <a:pPr algn="ctr"/>
              <a:r>
                <a:rPr sz="1200" b="1" i="0">
                  <a:solidFill>
                    <a:srgbClr val="FFFFFF"/>
                  </a:solidFill>
                  <a:latin typeface="Arial"/>
                </a:rPr>
                <a:t>soft</a:t>
              </a:r>
            </a:p>
          </p:txBody>
        </p:sp>
        <p:sp>
          <p:nvSpPr>
            <p:cNvPr id="336" name="Label hard · slow"/>
            <p:cNvSpPr/>
            <p:nvPr/>
          </p:nvSpPr>
          <p:spPr>
            <a:xfrm>
              <a:off x="4679739" y="4206240"/>
              <a:ext cx="123444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TextBox 336"/>
            <p:cNvSpPr txBox="1"/>
            <p:nvPr/>
          </p:nvSpPr>
          <p:spPr>
            <a:xfrm>
              <a:off x="4679739" y="4206240"/>
              <a:ext cx="1234440" cy="329184"/>
            </a:xfrm>
            <a:prstGeom prst="rect">
              <a:avLst/>
            </a:prstGeom>
            <a:noFill/>
          </p:spPr>
          <p:txBody>
            <a:bodyPr wrap="square" lIns="0" tIns="0" rIns="0" bIns="0" anchor="ctr">
              <a:spAutoFit/>
            </a:bodyPr>
            <a:lstStyle/>
            <a:p>
              <a:pPr algn="ctr"/>
              <a:r>
                <a:rPr sz="1200" b="1" i="0">
                  <a:solidFill>
                    <a:srgbClr val="FFFFFF"/>
                  </a:solidFill>
                  <a:latin typeface="Arial"/>
                </a:rPr>
                <a:t>hard · slow</a:t>
              </a:r>
            </a:p>
          </p:txBody>
        </p:sp>
        <p:sp>
          <p:nvSpPr>
            <p:cNvPr id="338" name="Label new rock, new cuttings"/>
            <p:cNvSpPr/>
            <p:nvPr/>
          </p:nvSpPr>
          <p:spPr>
            <a:xfrm>
              <a:off x="4679739" y="5394960"/>
              <a:ext cx="2148840" cy="329184"/>
            </a:xfrm>
            <a:prstGeom prst="roundRect">
              <a:avLst>
                <a:gd name="adj" fmla="val 50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TextBox 338"/>
            <p:cNvSpPr txBox="1"/>
            <p:nvPr/>
          </p:nvSpPr>
          <p:spPr>
            <a:xfrm>
              <a:off x="4679739" y="5394960"/>
              <a:ext cx="2148840" cy="329184"/>
            </a:xfrm>
            <a:prstGeom prst="rect">
              <a:avLst/>
            </a:prstGeom>
            <a:noFill/>
          </p:spPr>
          <p:txBody>
            <a:bodyPr wrap="square" lIns="0" tIns="0" rIns="0" bIns="0" anchor="ctr">
              <a:spAutoFit/>
            </a:bodyPr>
            <a:lstStyle/>
            <a:p>
              <a:pPr algn="ctr"/>
              <a:r>
                <a:rPr sz="1200" b="1" i="0">
                  <a:solidFill>
                    <a:srgbClr val="FFFFFF"/>
                  </a:solidFill>
                  <a:latin typeface="Arial"/>
                </a:rPr>
                <a:t>new rock, new cuttings</a:t>
              </a:r>
            </a:p>
          </p:txBody>
        </p:sp>
      </p:grpSp>
      <p:sp>
        <p:nvSpPr>
          <p:cNvPr id="340" name="Question"/>
          <p:cNvSpPr txBox="1"/>
          <p:nvPr/>
        </p:nvSpPr>
        <p:spPr>
          <a:xfrm>
            <a:off x="8823960" y="1965960"/>
            <a:ext cx="5029200" cy="868680"/>
          </a:xfrm>
          <a:prstGeom prst="rect">
            <a:avLst/>
          </a:prstGeom>
          <a:noFill/>
        </p:spPr>
        <p:txBody>
          <a:bodyPr wrap="square" lIns="0" tIns="0" rIns="0" bIns="0" anchor="t">
            <a:spAutoFit/>
          </a:bodyPr>
          <a:lstStyle/>
          <a:p>
            <a:pPr algn="l"/>
            <a:r>
              <a:rPr sz="2000" b="1" i="0">
                <a:solidFill>
                  <a:srgbClr val="063D2B"/>
                </a:solidFill>
                <a:latin typeface="Arial"/>
              </a:rPr>
              <a:t>A mine drills 100 m of rock. How long until it knows what it hit?</a:t>
            </a:r>
          </a:p>
        </p:txBody>
      </p:sp>
      <p:sp>
        <p:nvSpPr>
          <p:cNvPr id="341" name="Option A"/>
          <p:cNvSpPr/>
          <p:nvPr/>
        </p:nvSpPr>
        <p:spPr>
          <a:xfrm>
            <a:off x="8823960" y="2926080"/>
            <a:ext cx="5029200" cy="475488"/>
          </a:xfrm>
          <a:prstGeom prst="roundRect">
            <a:avLst>
              <a:gd name="adj" fmla="val 20000"/>
            </a:avLst>
          </a:prstGeom>
          <a:solidFill>
            <a:srgbClr val="FFFFFF"/>
          </a:solidFill>
          <a:ln w="15875">
            <a:solidFill>
              <a:srgbClr val="DDE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Option A badge"/>
          <p:cNvSpPr/>
          <p:nvPr/>
        </p:nvSpPr>
        <p:spPr>
          <a:xfrm>
            <a:off x="8933688" y="2999232"/>
            <a:ext cx="329184" cy="329184"/>
          </a:xfrm>
          <a:prstGeom prst="ellipse">
            <a:avLst/>
          </a:prstGeom>
          <a:solidFill>
            <a:srgbClr val="DD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TextBox 342"/>
          <p:cNvSpPr txBox="1"/>
          <p:nvPr/>
        </p:nvSpPr>
        <p:spPr>
          <a:xfrm>
            <a:off x="8933688" y="2999232"/>
            <a:ext cx="329184" cy="329184"/>
          </a:xfrm>
          <a:prstGeom prst="rect">
            <a:avLst/>
          </a:prstGeom>
          <a:noFill/>
        </p:spPr>
        <p:txBody>
          <a:bodyPr wrap="square" lIns="0" tIns="0" rIns="0" bIns="0" anchor="ctr">
            <a:spAutoFit/>
          </a:bodyPr>
          <a:lstStyle/>
          <a:p>
            <a:pPr algn="ctr"/>
            <a:r>
              <a:rPr sz="1200" b="1" i="0">
                <a:solidFill>
                  <a:srgbClr val="5E7A70"/>
                </a:solidFill>
                <a:latin typeface="Arial"/>
              </a:rPr>
              <a:t>A</a:t>
            </a:r>
          </a:p>
        </p:txBody>
      </p:sp>
      <p:sp>
        <p:nvSpPr>
          <p:cNvPr id="344" name="Option A text"/>
          <p:cNvSpPr txBox="1"/>
          <p:nvPr/>
        </p:nvSpPr>
        <p:spPr>
          <a:xfrm>
            <a:off x="9464040" y="2926080"/>
            <a:ext cx="3200400" cy="475488"/>
          </a:xfrm>
          <a:prstGeom prst="rect">
            <a:avLst/>
          </a:prstGeom>
          <a:noFill/>
        </p:spPr>
        <p:txBody>
          <a:bodyPr wrap="square" lIns="0" tIns="0" rIns="0" bIns="0" anchor="ctr">
            <a:spAutoFit/>
          </a:bodyPr>
          <a:lstStyle/>
          <a:p>
            <a:pPr algn="l"/>
            <a:r>
              <a:rPr sz="1700" b="1" i="0">
                <a:solidFill>
                  <a:srgbClr val="5E7A70"/>
                </a:solidFill>
                <a:latin typeface="Arial"/>
              </a:rPr>
              <a:t>A few hours</a:t>
            </a:r>
          </a:p>
        </p:txBody>
      </p:sp>
      <p:sp>
        <p:nvSpPr>
          <p:cNvPr id="345" name="Option B"/>
          <p:cNvSpPr/>
          <p:nvPr/>
        </p:nvSpPr>
        <p:spPr>
          <a:xfrm>
            <a:off x="8823960" y="3493008"/>
            <a:ext cx="5029200" cy="475488"/>
          </a:xfrm>
          <a:prstGeom prst="roundRect">
            <a:avLst>
              <a:gd name="adj" fmla="val 20000"/>
            </a:avLst>
          </a:prstGeom>
          <a:solidFill>
            <a:srgbClr val="FFFFFF"/>
          </a:solidFill>
          <a:ln w="15875">
            <a:solidFill>
              <a:srgbClr val="DDE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Option B badge"/>
          <p:cNvSpPr/>
          <p:nvPr/>
        </p:nvSpPr>
        <p:spPr>
          <a:xfrm>
            <a:off x="8933688" y="3566160"/>
            <a:ext cx="329184" cy="329184"/>
          </a:xfrm>
          <a:prstGeom prst="ellipse">
            <a:avLst/>
          </a:prstGeom>
          <a:solidFill>
            <a:srgbClr val="DD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 name="TextBox 346"/>
          <p:cNvSpPr txBox="1"/>
          <p:nvPr/>
        </p:nvSpPr>
        <p:spPr>
          <a:xfrm>
            <a:off x="8933688" y="3566160"/>
            <a:ext cx="329184" cy="329184"/>
          </a:xfrm>
          <a:prstGeom prst="rect">
            <a:avLst/>
          </a:prstGeom>
          <a:noFill/>
        </p:spPr>
        <p:txBody>
          <a:bodyPr wrap="square" lIns="0" tIns="0" rIns="0" bIns="0" anchor="ctr">
            <a:spAutoFit/>
          </a:bodyPr>
          <a:lstStyle/>
          <a:p>
            <a:pPr algn="ctr"/>
            <a:r>
              <a:rPr sz="1200" b="1" i="0">
                <a:solidFill>
                  <a:srgbClr val="5E7A70"/>
                </a:solidFill>
                <a:latin typeface="Arial"/>
              </a:rPr>
              <a:t>B</a:t>
            </a:r>
          </a:p>
        </p:txBody>
      </p:sp>
      <p:sp>
        <p:nvSpPr>
          <p:cNvPr id="348" name="Option B text"/>
          <p:cNvSpPr txBox="1"/>
          <p:nvPr/>
        </p:nvSpPr>
        <p:spPr>
          <a:xfrm>
            <a:off x="9464040" y="3493008"/>
            <a:ext cx="3200400" cy="475488"/>
          </a:xfrm>
          <a:prstGeom prst="rect">
            <a:avLst/>
          </a:prstGeom>
          <a:noFill/>
        </p:spPr>
        <p:txBody>
          <a:bodyPr wrap="square" lIns="0" tIns="0" rIns="0" bIns="0" anchor="ctr">
            <a:spAutoFit/>
          </a:bodyPr>
          <a:lstStyle/>
          <a:p>
            <a:pPr algn="l"/>
            <a:r>
              <a:rPr sz="1700" b="1" i="0">
                <a:solidFill>
                  <a:srgbClr val="5E7A70"/>
                </a:solidFill>
                <a:latin typeface="Arial"/>
              </a:rPr>
              <a:t>A few days</a:t>
            </a:r>
          </a:p>
        </p:txBody>
      </p:sp>
      <p:sp>
        <p:nvSpPr>
          <p:cNvPr id="349" name="Option C"/>
          <p:cNvSpPr/>
          <p:nvPr/>
        </p:nvSpPr>
        <p:spPr>
          <a:xfrm>
            <a:off x="8823960" y="4059936"/>
            <a:ext cx="5029200" cy="475488"/>
          </a:xfrm>
          <a:prstGeom prst="roundRect">
            <a:avLst>
              <a:gd name="adj" fmla="val 20000"/>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Option C badge"/>
          <p:cNvSpPr/>
          <p:nvPr/>
        </p:nvSpPr>
        <p:spPr>
          <a:xfrm>
            <a:off x="8933688" y="4133088"/>
            <a:ext cx="329184" cy="3291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TextBox 350"/>
          <p:cNvSpPr txBox="1"/>
          <p:nvPr/>
        </p:nvSpPr>
        <p:spPr>
          <a:xfrm>
            <a:off x="8933688" y="4133088"/>
            <a:ext cx="329184" cy="329184"/>
          </a:xfrm>
          <a:prstGeom prst="rect">
            <a:avLst/>
          </a:prstGeom>
          <a:noFill/>
        </p:spPr>
        <p:txBody>
          <a:bodyPr wrap="square" lIns="0" tIns="0" rIns="0" bIns="0" anchor="ctr">
            <a:spAutoFit/>
          </a:bodyPr>
          <a:lstStyle/>
          <a:p>
            <a:pPr algn="ctr"/>
            <a:r>
              <a:rPr sz="1200" b="1" i="0">
                <a:solidFill>
                  <a:srgbClr val="1FB480"/>
                </a:solidFill>
                <a:latin typeface="Arial"/>
              </a:rPr>
              <a:t>C</a:t>
            </a:r>
          </a:p>
        </p:txBody>
      </p:sp>
      <p:sp>
        <p:nvSpPr>
          <p:cNvPr id="352" name="Option C text"/>
          <p:cNvSpPr txBox="1"/>
          <p:nvPr/>
        </p:nvSpPr>
        <p:spPr>
          <a:xfrm>
            <a:off x="9464040" y="4059936"/>
            <a:ext cx="3200400" cy="475488"/>
          </a:xfrm>
          <a:prstGeom prst="rect">
            <a:avLst/>
          </a:prstGeom>
          <a:noFill/>
        </p:spPr>
        <p:txBody>
          <a:bodyPr wrap="square" lIns="0" tIns="0" rIns="0" bIns="0" anchor="ctr">
            <a:spAutoFit/>
          </a:bodyPr>
          <a:lstStyle/>
          <a:p>
            <a:pPr algn="l"/>
            <a:r>
              <a:rPr sz="1700" b="1" i="0">
                <a:solidFill>
                  <a:srgbClr val="FFFFFF"/>
                </a:solidFill>
                <a:latin typeface="Arial"/>
              </a:rPr>
              <a:t>Weeks to months</a:t>
            </a:r>
          </a:p>
        </p:txBody>
      </p:sp>
      <p:sp>
        <p:nvSpPr>
          <p:cNvPr id="353" name="Reveal panel"/>
          <p:cNvSpPr/>
          <p:nvPr/>
        </p:nvSpPr>
        <p:spPr>
          <a:xfrm>
            <a:off x="8823960" y="4754880"/>
            <a:ext cx="5029200" cy="2240280"/>
          </a:xfrm>
          <a:prstGeom prst="roundRect">
            <a:avLst>
              <a:gd name="adj" fmla="val 6000"/>
            </a:avLst>
          </a:prstGeom>
          <a:solidFill>
            <a:srgbClr val="06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Reveal stat 1"/>
          <p:cNvSpPr txBox="1"/>
          <p:nvPr/>
        </p:nvSpPr>
        <p:spPr>
          <a:xfrm>
            <a:off x="9098280" y="4892040"/>
            <a:ext cx="2194560" cy="731520"/>
          </a:xfrm>
          <a:prstGeom prst="rect">
            <a:avLst/>
          </a:prstGeom>
          <a:noFill/>
        </p:spPr>
        <p:txBody>
          <a:bodyPr wrap="square" lIns="0" tIns="0" rIns="0" bIns="0" anchor="t">
            <a:spAutoFit/>
          </a:bodyPr>
          <a:lstStyle/>
          <a:p>
            <a:pPr algn="l"/>
            <a:r>
              <a:rPr sz="1600" b="1" i="0">
                <a:solidFill>
                  <a:srgbClr val="BFE8D6"/>
                </a:solidFill>
                <a:latin typeface="Arial"/>
              </a:rPr>
              <a:t/>
            </a:r>
            <a:r>
              <a:rPr sz="4000" b="1" i="0">
                <a:solidFill>
                  <a:srgbClr val="BFE8D6"/>
                </a:solidFill>
                <a:latin typeface="Arial"/>
              </a:rPr>
              <a:t>4–10</a:t>
            </a:r>
            <a:r>
              <a:rPr sz="2000" b="1" i="0" baseline="30000">
                <a:solidFill>
                  <a:srgbClr val="BFE8D6"/>
                </a:solidFill>
                <a:latin typeface="Arial"/>
              </a:rPr>
              <a:t>1</a:t>
            </a:r>
          </a:p>
        </p:txBody>
      </p:sp>
      <p:sp>
        <p:nvSpPr>
          <p:cNvPr id="355" name="Reveal label 1"/>
          <p:cNvSpPr txBox="1"/>
          <p:nvPr/>
        </p:nvSpPr>
        <p:spPr>
          <a:xfrm>
            <a:off x="9098280" y="5623560"/>
            <a:ext cx="2148840" cy="548640"/>
          </a:xfrm>
          <a:prstGeom prst="rect">
            <a:avLst/>
          </a:prstGeom>
          <a:noFill/>
        </p:spPr>
        <p:txBody>
          <a:bodyPr wrap="square" lIns="0" tIns="0" rIns="0" bIns="0" anchor="t">
            <a:spAutoFit/>
          </a:bodyPr>
          <a:lstStyle/>
          <a:p>
            <a:pPr algn="l"/>
            <a:r>
              <a:rPr sz="1400" b="0" i="0">
                <a:solidFill>
                  <a:srgbClr val="BFE8D6"/>
                </a:solidFill>
                <a:latin typeface="Arial"/>
              </a:rPr>
              <a:t>weeks, typical wait for lab results</a:t>
            </a:r>
          </a:p>
        </p:txBody>
      </p:sp>
      <p:sp>
        <p:nvSpPr>
          <p:cNvPr id="356" name="Reveal stat 2"/>
          <p:cNvSpPr txBox="1"/>
          <p:nvPr/>
        </p:nvSpPr>
        <p:spPr>
          <a:xfrm>
            <a:off x="11338560" y="4892040"/>
            <a:ext cx="2194560" cy="731520"/>
          </a:xfrm>
          <a:prstGeom prst="rect">
            <a:avLst/>
          </a:prstGeom>
          <a:noFill/>
        </p:spPr>
        <p:txBody>
          <a:bodyPr wrap="square" lIns="0" tIns="0" rIns="0" bIns="0" anchor="t">
            <a:spAutoFit/>
          </a:bodyPr>
          <a:lstStyle/>
          <a:p>
            <a:pPr algn="l"/>
            <a:r>
              <a:rPr sz="4000" b="1" i="0">
                <a:solidFill>
                  <a:srgbClr val="FFFFFF"/>
                </a:solidFill>
                <a:latin typeface="Arial"/>
              </a:rPr>
              <a:t>16 yrs</a:t>
            </a:r>
            <a:r>
              <a:rPr sz="2000" b="1" i="0" baseline="30000">
                <a:solidFill>
                  <a:srgbClr val="FFFFFF"/>
                </a:solidFill>
                <a:latin typeface="Arial"/>
              </a:rPr>
              <a:t>2</a:t>
            </a:r>
          </a:p>
        </p:txBody>
      </p:sp>
      <p:sp>
        <p:nvSpPr>
          <p:cNvPr id="357" name="Reveal label 2"/>
          <p:cNvSpPr txBox="1"/>
          <p:nvPr/>
        </p:nvSpPr>
        <p:spPr>
          <a:xfrm>
            <a:off x="11338560" y="5623560"/>
            <a:ext cx="2148840" cy="548640"/>
          </a:xfrm>
          <a:prstGeom prst="rect">
            <a:avLst/>
          </a:prstGeom>
          <a:noFill/>
        </p:spPr>
        <p:txBody>
          <a:bodyPr wrap="square" lIns="0" tIns="0" rIns="0" bIns="0" anchor="t">
            <a:spAutoFit/>
          </a:bodyPr>
          <a:lstStyle/>
          <a:p>
            <a:pPr algn="l"/>
            <a:r>
              <a:rPr sz="1400" b="0" i="0">
                <a:solidFill>
                  <a:srgbClr val="BFE8D6"/>
                </a:solidFill>
                <a:latin typeface="Arial"/>
              </a:rPr>
              <a:t>from discovery to a working mine</a:t>
            </a:r>
          </a:p>
        </p:txBody>
      </p:sp>
      <p:sp>
        <p:nvSpPr>
          <p:cNvPr id="358" name="Reveal extra"/>
          <p:cNvSpPr txBox="1"/>
          <p:nvPr/>
        </p:nvSpPr>
        <p:spPr>
          <a:xfrm>
            <a:off x="9098280" y="6355080"/>
            <a:ext cx="4480560" cy="411480"/>
          </a:xfrm>
          <a:prstGeom prst="rect">
            <a:avLst/>
          </a:prstGeom>
          <a:noFill/>
        </p:spPr>
        <p:txBody>
          <a:bodyPr wrap="square" lIns="0" tIns="0" rIns="0" bIns="0" anchor="t">
            <a:spAutoFit/>
          </a:bodyPr>
          <a:lstStyle/>
          <a:p>
            <a:pPr algn="l"/>
            <a:r>
              <a:rPr sz="1500" b="1" i="0">
                <a:solidFill>
                  <a:srgbClr val="FFFFFF"/>
                </a:solidFill>
                <a:latin typeface="Arial"/>
              </a:rPr>
              <a:t>Meanwhile, the rig felt every meter in real time.</a:t>
            </a:r>
            <a:r>
              <a:rPr sz="1500" b="1" i="0" baseline="30000">
                <a:solidFill>
                  <a:srgbClr val="FFFFFF"/>
                </a:solidFill>
                <a:latin typeface="Arial"/>
              </a:rPr>
              <a:t/>
            </a:r>
          </a:p>
        </p:txBody>
      </p:sp>
    </p:spTree>
    <p:extLst>
      <p:ext uri="{BB962C8B-B14F-4D97-AF65-F5344CB8AC3E}">
        <p14:creationId xmlns:p14="http://schemas.microsoft.com/office/powerpoint/2010/main" val="2391189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image" descr="/tmp/claude-0/-home-claude/02ea35b7-58d5-5806-896b-11c93173863e/scratchpad/build/img/image1.jpg"/>
          <p:cNvPicPr>
            <a:picLocks noChangeAspect="1"/>
          </p:cNvPicPr>
          <p:nvPr/>
        </p:nvPicPr>
        <p:blipFill>
          <a:blip r:embed="rId3"/>
          <a:stretch>
            <a:fillRect/>
          </a:stretch>
        </p:blipFill>
        <p:spPr>
          <a:xfrm>
            <a:off x="0" y="0"/>
            <a:ext cx="14630400" cy="8229600"/>
          </a:xfrm>
          <a:prstGeom prst="rect">
            <a:avLst/>
          </a:prstGeom>
        </p:spPr>
      </p:pic>
      <p:pic>
        <p:nvPicPr>
          <p:cNvPr id="3" name="Logo" descr="/tmp/claude-0/-home-claude/02ea35b7-58d5-5806-896b-11c93173863e/scratchpad/build/img/image2.png"/>
          <p:cNvPicPr>
            <a:picLocks noChangeAspect="1"/>
          </p:cNvPicPr>
          <p:nvPr/>
        </p:nvPicPr>
        <p:blipFill>
          <a:blip r:embed="rId4"/>
          <a:stretch>
            <a:fillRect/>
          </a:stretch>
        </p:blipFill>
        <p:spPr>
          <a:xfrm>
            <a:off x="635000" y="457200"/>
            <a:ext cx="1828800" cy="1143000"/>
          </a:xfrm>
          <a:prstGeom prst="rect">
            <a:avLst/>
          </a:prstGeom>
        </p:spPr>
      </p:pic>
      <p:sp>
        <p:nvSpPr>
          <p:cNvPr id="4" name="Text 0"/>
          <p:cNvSpPr txBox="1"/>
          <p:nvPr/>
        </p:nvSpPr>
        <p:spPr>
          <a:xfrm>
            <a:off x="777240" y="2240280"/>
            <a:ext cx="8686800" cy="365760"/>
          </a:xfrm>
          <a:prstGeom prst="rect">
            <a:avLst/>
          </a:prstGeom>
          <a:noFill/>
          <a:ln/>
        </p:spPr>
        <p:txBody>
          <a:bodyPr wrap="square" lIns="0" tIns="0" rIns="0" bIns="0" rtlCol="0" anchor="ctr"/>
          <a:lstStyle/>
          <a:p>
            <a:pPr marL="0" indent="0">
              <a:buNone/>
            </a:pPr>
            <a:r>
              <a:rPr lang="en-US" sz="1200" b="1" kern="0" spc="100" dirty="0">
                <a:solidFill>
                  <a:srgbClr val="2EC488"/>
                </a:solidFill>
                <a:latin typeface="Arial" pitchFamily="34" charset="0"/>
                <a:ea typeface="Arial" pitchFamily="34" charset="-122"/>
                <a:cs typeface="Arial" pitchFamily="34" charset="-120"/>
              </a:rPr>
              <a:t>THE INTELLIGENCE LAYER FOR CRITICAL MINERALS RESILIENCE</a:t>
            </a:r>
            <a:endParaRPr lang="en-US" sz="1200" dirty="0"/>
          </a:p>
        </p:txBody>
      </p:sp>
      <p:sp>
        <p:nvSpPr>
          <p:cNvPr id="5" name="Text 1"/>
          <p:cNvSpPr txBox="1"/>
          <p:nvPr/>
        </p:nvSpPr>
        <p:spPr>
          <a:xfrm>
            <a:off x="777240" y="2743200"/>
            <a:ext cx="7863840" cy="2103120"/>
          </a:xfrm>
          <a:prstGeom prst="rect">
            <a:avLst/>
          </a:prstGeom>
          <a:noFill/>
          <a:ln/>
        </p:spPr>
        <p:txBody>
          <a:bodyPr wrap="square" lIns="0" tIns="0" rIns="0" bIns="0" rtlCol="0" anchor="t"/>
          <a:lstStyle/>
          <a:p>
            <a:pPr marL="0" indent="0">
              <a:buNone/>
            </a:pPr>
            <a:r>
              <a:rPr lang="en-US" sz="3800" b="1" dirty="0">
                <a:solidFill>
                  <a:srgbClr val="FFFFFF"/>
                </a:solidFill>
                <a:latin typeface="Arial" pitchFamily="34" charset="0"/>
                <a:ea typeface="Arial" pitchFamily="34" charset="-122"/>
                <a:cs typeface="Arial" pitchFamily="34" charset="-120"/>
              </a:rPr>
              <a:t>Turn every drilling rig into a</a:t>
            </a:r>
            <a:endParaRPr lang="en-US" sz="3800" dirty="0"/>
          </a:p>
          <a:p>
            <a:pPr marL="0" indent="0">
              <a:buNone/>
            </a:pPr>
            <a:r>
              <a:rPr lang="en-US" sz="3800" b="1" dirty="0">
                <a:solidFill>
                  <a:srgbClr val="FFFFFF"/>
                </a:solidFill>
                <a:latin typeface="Arial" pitchFamily="34" charset="0"/>
                <a:ea typeface="Arial" pitchFamily="34" charset="-122"/>
                <a:cs typeface="Arial" pitchFamily="34" charset="-120"/>
              </a:rPr>
              <a:t>real‑time source of drilling &amp;</a:t>
            </a:r>
            <a:endParaRPr lang="en-US" sz="3800" dirty="0"/>
          </a:p>
          <a:p>
            <a:pPr marL="0" indent="0">
              <a:buNone/>
            </a:pPr>
            <a:r>
              <a:rPr lang="en-US" sz="3800" b="1" dirty="0">
                <a:solidFill>
                  <a:srgbClr val="FFFFFF"/>
                </a:solidFill>
                <a:latin typeface="Arial" pitchFamily="34" charset="0"/>
                <a:ea typeface="Arial" pitchFamily="34" charset="-122"/>
                <a:cs typeface="Arial" pitchFamily="34" charset="-120"/>
              </a:rPr>
              <a:t>subsurface intelligence.</a:t>
            </a:r>
            <a:endParaRPr lang="en-US" sz="3800" dirty="0"/>
          </a:p>
        </p:txBody>
      </p:sp>
      <p:sp>
        <p:nvSpPr>
          <p:cNvPr id="6" name="Text 2"/>
          <p:cNvSpPr txBox="1"/>
          <p:nvPr/>
        </p:nvSpPr>
        <p:spPr>
          <a:xfrm>
            <a:off x="777240" y="4983480"/>
            <a:ext cx="7863840" cy="457200"/>
          </a:xfrm>
          <a:prstGeom prst="rect">
            <a:avLst/>
          </a:prstGeom>
          <a:noFill/>
          <a:ln/>
        </p:spPr>
        <p:txBody>
          <a:bodyPr wrap="square" lIns="0" tIns="0" rIns="0" bIns="0" rtlCol="0" anchor="ctr"/>
          <a:lstStyle/>
          <a:p>
            <a:pPr marL="0" indent="0">
              <a:buNone/>
            </a:pPr>
            <a:r>
              <a:rPr lang="en-US" sz="1700" dirty="0">
                <a:solidFill>
                  <a:srgbClr val="DDEDE7"/>
                </a:solidFill>
                <a:latin typeface="Arial" pitchFamily="34" charset="0"/>
                <a:ea typeface="Arial" pitchFamily="34" charset="-122"/>
                <a:cs typeface="Arial" pitchFamily="34" charset="-120"/>
              </a:rPr>
              <a:t>Every meter drilled becomes data, operational and geological.</a:t>
            </a:r>
            <a:endParaRPr lang="en-US" sz="1700" dirty="0"/>
          </a:p>
        </p:txBody>
      </p:sp>
      <p:sp>
        <p:nvSpPr>
          <p:cNvPr id="7" name="Award chip"/>
          <p:cNvSpPr/>
          <p:nvPr/>
        </p:nvSpPr>
        <p:spPr>
          <a:xfrm>
            <a:off x="777240" y="5897880"/>
            <a:ext cx="6035040" cy="868680"/>
          </a:xfrm>
          <a:prstGeom prst="roundRect">
            <a:avLst>
              <a:gd name="adj" fmla="val 12632"/>
            </a:avLst>
          </a:prstGeom>
          <a:solidFill>
            <a:srgbClr val="063D2B">
              <a:alpha val="85000"/>
            </a:srgbClr>
          </a:solidFill>
          <a:ln w="12700">
            <a:solidFill>
              <a:srgbClr val="1FB480"/>
            </a:solidFill>
            <a:prstDash val="solid"/>
          </a:ln>
        </p:spPr>
        <p:txBody>
          <a:bodyPr/>
          <a:lstStyle/>
          <a:p>
            <a:endParaRPr lang="en-IL"/>
          </a:p>
        </p:txBody>
      </p:sp>
      <p:sp>
        <p:nvSpPr>
          <p:cNvPr id="10" name="Text 6"/>
          <p:cNvSpPr txBox="1"/>
          <p:nvPr/>
        </p:nvSpPr>
        <p:spPr>
          <a:xfrm>
            <a:off x="1645920" y="5998464"/>
            <a:ext cx="5029200" cy="68580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1st place · Israel's Critical Minerals competition</a:t>
            </a:r>
            <a:endParaRPr lang="en-US" sz="1500" dirty="0"/>
          </a:p>
          <a:p>
            <a:pPr marL="0" indent="0">
              <a:buNone/>
            </a:pPr>
            <a:r>
              <a:rPr lang="en-US" sz="1100" dirty="0">
                <a:solidFill>
                  <a:srgbClr val="CFE6DD"/>
                </a:solidFill>
                <a:latin typeface="Arial" pitchFamily="34" charset="0"/>
                <a:ea typeface="Arial" pitchFamily="34" charset="-122"/>
                <a:cs typeface="Arial" pitchFamily="34" charset="-120"/>
              </a:rPr>
              <a:t>Israel Innovation Authority &amp; Ministry of Energy · 2026</a:t>
            </a:r>
            <a:endParaRPr lang="en-US" sz="1500" dirty="0"/>
          </a:p>
        </p:txBody>
      </p:sp>
      <p:sp>
        <p:nvSpPr>
          <p:cNvPr id="11" name="Text 7"/>
          <p:cNvSpPr txBox="1"/>
          <p:nvPr/>
        </p:nvSpPr>
        <p:spPr>
          <a:xfrm>
            <a:off x="777240" y="7543800"/>
            <a:ext cx="8229600" cy="365760"/>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Yair Gordin, Ph.D. · Founder &amp; CEO</a:t>
            </a:r>
            <a:endParaRPr lang="en-US" sz="1300" dirty="0"/>
          </a:p>
        </p:txBody>
      </p:sp>
      <p:sp>
        <p:nvSpPr>
          <p:cNvPr id="20" name="Medal ribbon L"/>
          <p:cNvSpPr/>
          <p:nvPr/>
        </p:nvSpPr>
        <p:spPr>
          <a:xfrm rot="-1320000">
            <a:off x="1073150" y="6019800"/>
            <a:ext cx="114300" cy="279400"/>
          </a:xfrm>
          <a:prstGeom prst="rect">
            <a:avLst/>
          </a:prstGeom>
          <a:solidFill>
            <a:srgbClr val="3B6FB6"/>
          </a:solidFill>
          <a:ln>
            <a:noFill/>
          </a:ln>
        </p:spPr>
        <p:txBody>
          <a:bodyPr wrap="none" lIns="0" tIns="0" rIns="0" bIns="0" anchor="ctr">
            <a:noAutofit/>
          </a:bodyPr>
          <a:lstStyle/>
          <a:p>
            <a:pPr algn="ctr"/>
            <a:endParaRPr lang="en-US" sz="1000" dirty="0"/>
          </a:p>
        </p:txBody>
      </p:sp>
      <p:sp>
        <p:nvSpPr>
          <p:cNvPr id="21" name="Medal ribbon R"/>
          <p:cNvSpPr/>
          <p:nvPr/>
        </p:nvSpPr>
        <p:spPr>
          <a:xfrm rot="1320000">
            <a:off x="1250950" y="6019800"/>
            <a:ext cx="114300" cy="279400"/>
          </a:xfrm>
          <a:prstGeom prst="rect">
            <a:avLst/>
          </a:prstGeom>
          <a:solidFill>
            <a:srgbClr val="3B6FB6"/>
          </a:solidFill>
          <a:ln>
            <a:noFill/>
          </a:ln>
        </p:spPr>
        <p:txBody>
          <a:bodyPr wrap="none" lIns="0" tIns="0" rIns="0" bIns="0" anchor="ctr">
            <a:noAutofit/>
          </a:bodyPr>
          <a:lstStyle/>
          <a:p>
            <a:pPr algn="ctr"/>
            <a:endParaRPr lang="en-US" sz="1000" dirty="0"/>
          </a:p>
        </p:txBody>
      </p:sp>
      <p:sp>
        <p:nvSpPr>
          <p:cNvPr id="22" name="Medal"/>
          <p:cNvSpPr/>
          <p:nvPr/>
        </p:nvSpPr>
        <p:spPr>
          <a:xfrm>
            <a:off x="1054100" y="6223000"/>
            <a:ext cx="355600" cy="355600"/>
          </a:xfrm>
          <a:prstGeom prst="ellipse">
            <a:avLst/>
          </a:prstGeom>
          <a:solidFill>
            <a:srgbClr val="F2B731"/>
          </a:solidFill>
          <a:ln>
            <a:noFill/>
          </a:ln>
        </p:spPr>
        <p:txBody>
          <a:bodyPr wrap="none" lIns="0" tIns="0" rIns="0" bIns="0" anchor="ctr">
            <a:noAutofit/>
          </a:bodyPr>
          <a:lstStyle/>
          <a:p>
            <a:pPr algn="ctr"/>
            <a:r>
              <a:rPr lang="en-US" sz="1300" b="1" dirty="0">
                <a:solidFill>
                  <a:srgbClr val="1F2A22"/>
                </a:solidFill>
              </a:rPr>
              <a:t>1</a:t>
            </a:r>
          </a:p>
        </p:txBody>
      </p:sp>
    </p:spTree>
    <p:extLst>
      <p:ext uri="{BB962C8B-B14F-4D97-AF65-F5344CB8AC3E}">
        <p14:creationId xmlns:p14="http://schemas.microsoft.com/office/powerpoint/2010/main" val="384436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777240" y="502920"/>
            <a:ext cx="10972800" cy="365760"/>
          </a:xfrm>
          <a:prstGeom prst="rect">
            <a:avLst/>
          </a:prstGeom>
          <a:noFill/>
          <a:ln/>
        </p:spPr>
        <p:txBody>
          <a:bodyPr wrap="square" lIns="0" tIns="0" rIns="0" bIns="0" rtlCol="0" anchor="ctr"/>
          <a:lstStyle/>
          <a:p>
            <a:pPr marL="0" indent="0">
              <a:buNone/>
            </a:pPr>
            <a:r>
              <a:rPr lang="en-US" sz="1500" b="1" kern="0" spc="100" dirty="0">
                <a:solidFill>
                  <a:srgbClr val="1FB480"/>
                </a:solidFill>
                <a:latin typeface="Arial" pitchFamily="34" charset="0"/>
                <a:ea typeface="Arial" pitchFamily="34" charset="-122"/>
                <a:cs typeface="Arial" pitchFamily="34" charset="-120"/>
              </a:rPr>
              <a:t>THE PROBLEM</a:t>
            </a:r>
            <a:endParaRPr lang="en-US" sz="1500" dirty="0"/>
          </a:p>
        </p:txBody>
      </p:sp>
      <p:sp>
        <p:nvSpPr>
          <p:cNvPr id="3" name="Title"/>
          <p:cNvSpPr txBox="1"/>
          <p:nvPr/>
        </p:nvSpPr>
        <p:spPr>
          <a:xfrm>
            <a:off x="777240" y="1005840"/>
            <a:ext cx="12435840" cy="731520"/>
          </a:xfrm>
          <a:prstGeom prst="rect">
            <a:avLst/>
          </a:prstGeom>
          <a:noFill/>
          <a:ln/>
        </p:spPr>
        <p:txBody>
          <a:bodyPr wrap="square" lIns="0" tIns="0" rIns="0" bIns="0" rtlCol="0" anchor="ctr"/>
          <a:lstStyle/>
          <a:p>
            <a:pPr marL="0" indent="0">
              <a:buNone/>
            </a:pPr>
            <a:r>
              <a:rPr lang="en-US" sz="3200" b="1" dirty="0">
                <a:solidFill>
                  <a:srgbClr val="063D2B"/>
                </a:solidFill>
                <a:latin typeface="Arial" pitchFamily="34" charset="0"/>
                <a:ea typeface="Arial" pitchFamily="34" charset="-122"/>
                <a:cs typeface="Arial" pitchFamily="34" charset="-120"/>
              </a:rPr>
              <a:t>Drilling is the first and only time we touch the rock</a:t>
            </a:r>
            <a:endParaRPr lang="en-US" sz="3200" dirty="0"/>
          </a:p>
        </p:txBody>
      </p:sp>
      <p:sp>
        <p:nvSpPr>
          <p:cNvPr id="40" name="Context line"/>
          <p:cNvSpPr txBox="1"/>
          <p:nvPr/>
        </p:nvSpPr>
        <p:spPr>
          <a:xfrm>
            <a:off x="777240" y="1790700"/>
            <a:ext cx="12433300" cy="330200"/>
          </a:xfrm>
          <a:prstGeom prst="rect">
            <a:avLst/>
          </a:prstGeom>
          <a:noFill/>
        </p:spPr>
        <p:txBody>
          <a:bodyPr wrap="square" lIns="0" tIns="0" rIns="0" bIns="0" rtlCol="0" anchor="ctr"/>
          <a:lstStyle/>
          <a:p>
            <a:pPr marL="0" indent="0">
              <a:buNone/>
            </a:pPr>
            <a:r>
              <a:rPr lang="en-US" sz="1600" b="0" dirty="0">
                <a:solidFill>
                  <a:srgbClr val="5E7A70"/>
                </a:solidFill>
                <a:latin typeface="Arial" pitchFamily="34" charset="0"/>
                <a:ea typeface="Arial" pitchFamily="34" charset="-122"/>
                <a:cs typeface="Arial" pitchFamily="34" charset="-120"/>
              </a:rPr>
              <a:t>And that’s exactly where data stops.</a:t>
            </a:r>
          </a:p>
        </p:txBody>
      </p:sp>
      <p:pic>
        <p:nvPicPr>
          <p:cNvPr id="4" name="Photo: hand-written drilling log" descr="/tmp/claude-0/-home-claude/02ea35b7-58d5-5806-896b-11c93173863e/scratchpad/build/img/image4.jpg"/>
          <p:cNvPicPr>
            <a:picLocks noChangeAspect="1"/>
          </p:cNvPicPr>
          <p:nvPr/>
        </p:nvPicPr>
        <p:blipFill>
          <a:blip r:embed="rId3"/>
          <a:stretch>
            <a:fillRect/>
          </a:stretch>
        </p:blipFill>
        <p:spPr>
          <a:xfrm>
            <a:off x="777240" y="2326640"/>
            <a:ext cx="7589520" cy="4745736"/>
          </a:xfrm>
          <a:prstGeom prst="rect">
            <a:avLst/>
          </a:prstGeom>
        </p:spPr>
      </p:pic>
      <p:sp>
        <p:nvSpPr>
          <p:cNvPr id="5" name="Text 2"/>
          <p:cNvSpPr txBox="1"/>
          <p:nvPr/>
        </p:nvSpPr>
        <p:spPr>
          <a:xfrm>
            <a:off x="777240" y="7200392"/>
            <a:ext cx="7589520" cy="320040"/>
          </a:xfrm>
          <a:prstGeom prst="rect">
            <a:avLst/>
          </a:prstGeom>
          <a:noFill/>
          <a:ln/>
        </p:spPr>
        <p:txBody>
          <a:bodyPr wrap="square" lIns="0" tIns="0" rIns="0" bIns="0" rtlCol="0" anchor="ctr"/>
          <a:lstStyle/>
          <a:p>
            <a:pPr marL="0" indent="0">
              <a:buNone/>
            </a:pPr>
            <a:r>
              <a:rPr lang="en-US" sz="1200" dirty="0">
                <a:solidFill>
                  <a:srgbClr val="5E7A70"/>
                </a:solidFill>
                <a:latin typeface="Arial" pitchFamily="34" charset="0"/>
                <a:ea typeface="Arial" pitchFamily="34" charset="-122"/>
                <a:cs typeface="Arial" pitchFamily="34" charset="-120"/>
              </a:rPr>
              <a:t>A real drilling site: the record of the ground is a notebook and sample trays.</a:t>
            </a:r>
            <a:endParaRPr lang="en-US" sz="1200" dirty="0"/>
          </a:p>
        </p:txBody>
      </p:sp>
      <p:sp>
        <p:nvSpPr>
          <p:cNvPr id="6" name="Shape 3"/>
          <p:cNvSpPr/>
          <p:nvPr/>
        </p:nvSpPr>
        <p:spPr>
          <a:xfrm>
            <a:off x="8915400" y="2527808"/>
            <a:ext cx="566928" cy="566928"/>
          </a:xfrm>
          <a:prstGeom prst="ellipse">
            <a:avLst/>
          </a:prstGeom>
          <a:solidFill>
            <a:srgbClr val="1FB480"/>
          </a:solidFill>
          <a:ln w="12700">
            <a:solidFill>
              <a:srgbClr val="1FB480"/>
            </a:solidFill>
            <a:prstDash val="solid"/>
          </a:ln>
          <a:effectLst>
            <a:outerShdw blurRad="76200" dist="25400" dir="5400000" algn="bl" rotWithShape="0">
              <a:srgbClr val="063D2B">
                <a:alpha val="10000"/>
              </a:srgbClr>
            </a:outerShdw>
          </a:effectLst>
        </p:spPr>
        <p:txBody>
          <a:bodyPr/>
          <a:lstStyle/>
          <a:p>
            <a:endParaRPr lang="en-IL"/>
          </a:p>
        </p:txBody>
      </p:sp>
      <p:sp>
        <p:nvSpPr>
          <p:cNvPr id="7" name="Text 4"/>
          <p:cNvSpPr txBox="1"/>
          <p:nvPr/>
        </p:nvSpPr>
        <p:spPr>
          <a:xfrm>
            <a:off x="8915400" y="2527808"/>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8" name="Text 5"/>
          <p:cNvSpPr txBox="1"/>
          <p:nvPr/>
        </p:nvSpPr>
        <p:spPr>
          <a:xfrm>
            <a:off x="9738360" y="2509520"/>
            <a:ext cx="4297680" cy="457200"/>
          </a:xfrm>
          <a:prstGeom prst="rect">
            <a:avLst/>
          </a:prstGeom>
          <a:noFill/>
          <a:ln/>
        </p:spPr>
        <p:txBody>
          <a:bodyPr wrap="square" lIns="0" tIns="0" rIns="0" bIns="0" rtlCol="0" anchor="ctr"/>
          <a:lstStyle/>
          <a:p>
            <a:pPr marL="0" indent="0">
              <a:buNone/>
            </a:pPr>
            <a:r>
              <a:rPr lang="en-US" sz="2200" b="1" dirty="0">
                <a:solidFill>
                  <a:srgbClr val="063D2B"/>
                </a:solidFill>
                <a:latin typeface="Arial" pitchFamily="34" charset="0"/>
                <a:ea typeface="Arial" pitchFamily="34" charset="-122"/>
                <a:cs typeface="Arial" pitchFamily="34" charset="-120"/>
              </a:rPr>
              <a:t>Best case: logged by hand</a:t>
            </a:r>
            <a:endParaRPr lang="en-US" sz="2200" dirty="0"/>
          </a:p>
        </p:txBody>
      </p:sp>
      <p:sp>
        <p:nvSpPr>
          <p:cNvPr id="9" name="Text 6"/>
          <p:cNvSpPr txBox="1"/>
          <p:nvPr/>
        </p:nvSpPr>
        <p:spPr>
          <a:xfrm>
            <a:off x="9738360" y="3039872"/>
            <a:ext cx="4297680" cy="822960"/>
          </a:xfrm>
          <a:prstGeom prst="rect">
            <a:avLst/>
          </a:prstGeom>
          <a:noFill/>
          <a:ln/>
        </p:spPr>
        <p:txBody>
          <a:bodyPr wrap="square" lIns="0" tIns="0" rIns="0" bIns="0" rtlCol="0" anchor="t"/>
          <a:lstStyle/>
          <a:p>
            <a:pPr marL="0" indent="0">
              <a:buNone/>
            </a:pPr>
            <a:r>
              <a:rPr lang="en-US" sz="1500" dirty="0">
                <a:solidFill>
                  <a:srgbClr val="2B3A35"/>
                </a:solidFill>
                <a:latin typeface="Arial" pitchFamily="34" charset="0"/>
                <a:ea typeface="Arial" pitchFamily="34" charset="-122"/>
                <a:cs typeface="Arial" pitchFamily="34" charset="-120"/>
              </a:rPr>
              <a:t>Subjective, and different with every person.</a:t>
            </a:r>
            <a:endParaRPr lang="en-US" sz="1500" dirty="0"/>
          </a:p>
        </p:txBody>
      </p:sp>
      <p:sp>
        <p:nvSpPr>
          <p:cNvPr id="10" name="Shape 7"/>
          <p:cNvSpPr/>
          <p:nvPr/>
        </p:nvSpPr>
        <p:spPr>
          <a:xfrm>
            <a:off x="8915400" y="4100576"/>
            <a:ext cx="566928" cy="566928"/>
          </a:xfrm>
          <a:prstGeom prst="ellipse">
            <a:avLst/>
          </a:prstGeom>
          <a:solidFill>
            <a:srgbClr val="1FB480"/>
          </a:solidFill>
          <a:ln w="12700">
            <a:solidFill>
              <a:srgbClr val="1FB480"/>
            </a:solidFill>
            <a:prstDash val="solid"/>
          </a:ln>
          <a:effectLst>
            <a:outerShdw blurRad="76200" dist="25400" dir="5400000" algn="bl" rotWithShape="0">
              <a:srgbClr val="063D2B">
                <a:alpha val="10000"/>
              </a:srgbClr>
            </a:outerShdw>
          </a:effectLst>
        </p:spPr>
        <p:txBody>
          <a:bodyPr/>
          <a:lstStyle/>
          <a:p>
            <a:endParaRPr lang="en-IL"/>
          </a:p>
        </p:txBody>
      </p:sp>
      <p:sp>
        <p:nvSpPr>
          <p:cNvPr id="11" name="Text 8"/>
          <p:cNvSpPr txBox="1"/>
          <p:nvPr/>
        </p:nvSpPr>
        <p:spPr>
          <a:xfrm>
            <a:off x="8915400" y="4100576"/>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9"/>
          <p:cNvSpPr txBox="1"/>
          <p:nvPr/>
        </p:nvSpPr>
        <p:spPr>
          <a:xfrm>
            <a:off x="9738360" y="4082288"/>
            <a:ext cx="4297680" cy="457200"/>
          </a:xfrm>
          <a:prstGeom prst="rect">
            <a:avLst/>
          </a:prstGeom>
          <a:noFill/>
          <a:ln/>
        </p:spPr>
        <p:txBody>
          <a:bodyPr wrap="square" lIns="0" tIns="0" rIns="0" bIns="0" rtlCol="0" anchor="ctr"/>
          <a:lstStyle/>
          <a:p>
            <a:pPr marL="0" indent="0">
              <a:buNone/>
            </a:pPr>
            <a:r>
              <a:rPr lang="en-US" sz="2200" b="1" dirty="0">
                <a:solidFill>
                  <a:srgbClr val="063D2B"/>
                </a:solidFill>
                <a:latin typeface="Arial" pitchFamily="34" charset="0"/>
                <a:ea typeface="Arial" pitchFamily="34" charset="-122"/>
                <a:cs typeface="Arial" pitchFamily="34" charset="-120"/>
              </a:rPr>
              <a:t>Often: no record at all</a:t>
            </a:r>
            <a:endParaRPr lang="en-US" sz="2200" dirty="0"/>
          </a:p>
        </p:txBody>
      </p:sp>
      <p:sp>
        <p:nvSpPr>
          <p:cNvPr id="13" name="Text 10"/>
          <p:cNvSpPr txBox="1"/>
          <p:nvPr/>
        </p:nvSpPr>
        <p:spPr>
          <a:xfrm>
            <a:off x="9738360" y="4612640"/>
            <a:ext cx="4297680" cy="822960"/>
          </a:xfrm>
          <a:prstGeom prst="rect">
            <a:avLst/>
          </a:prstGeom>
          <a:noFill/>
          <a:ln/>
        </p:spPr>
        <p:txBody>
          <a:bodyPr wrap="square" lIns="0" tIns="0" rIns="0" bIns="0" rtlCol="0" anchor="t"/>
          <a:lstStyle/>
          <a:p>
            <a:pPr marL="0" indent="0">
              <a:buNone/>
            </a:pPr>
            <a:r>
              <a:rPr lang="en-US" sz="1500" dirty="0">
                <a:solidFill>
                  <a:srgbClr val="2B3A35"/>
                </a:solidFill>
                <a:latin typeface="Arial" pitchFamily="34" charset="0"/>
                <a:ea typeface="Arial" pitchFamily="34" charset="-122"/>
                <a:cs typeface="Arial" pitchFamily="34" charset="-120"/>
              </a:rPr>
              <a:t>On many rigs, almost nothing the drill feels is ever captured.</a:t>
            </a:r>
            <a:endParaRPr lang="en-US" sz="1500" dirty="0"/>
          </a:p>
        </p:txBody>
      </p:sp>
      <p:sp>
        <p:nvSpPr>
          <p:cNvPr id="14" name="Shape 11"/>
          <p:cNvSpPr/>
          <p:nvPr/>
        </p:nvSpPr>
        <p:spPr>
          <a:xfrm>
            <a:off x="8915400" y="5673344"/>
            <a:ext cx="566928" cy="566928"/>
          </a:xfrm>
          <a:prstGeom prst="ellipse">
            <a:avLst/>
          </a:prstGeom>
          <a:solidFill>
            <a:srgbClr val="1FB480"/>
          </a:solidFill>
          <a:ln w="12700">
            <a:solidFill>
              <a:srgbClr val="1FB480"/>
            </a:solidFill>
            <a:prstDash val="solid"/>
          </a:ln>
          <a:effectLst>
            <a:outerShdw blurRad="76200" dist="25400" dir="5400000" algn="bl" rotWithShape="0">
              <a:srgbClr val="063D2B">
                <a:alpha val="10000"/>
              </a:srgbClr>
            </a:outerShdw>
          </a:effectLst>
        </p:spPr>
        <p:txBody>
          <a:bodyPr/>
          <a:lstStyle/>
          <a:p>
            <a:endParaRPr lang="en-IL"/>
          </a:p>
        </p:txBody>
      </p:sp>
      <p:sp>
        <p:nvSpPr>
          <p:cNvPr id="15" name="Text 12"/>
          <p:cNvSpPr txBox="1"/>
          <p:nvPr/>
        </p:nvSpPr>
        <p:spPr>
          <a:xfrm>
            <a:off x="8915400" y="5673344"/>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6" name="Text 13"/>
          <p:cNvSpPr txBox="1"/>
          <p:nvPr/>
        </p:nvSpPr>
        <p:spPr>
          <a:xfrm>
            <a:off x="9738360" y="5655056"/>
            <a:ext cx="4297680" cy="457200"/>
          </a:xfrm>
          <a:prstGeom prst="rect">
            <a:avLst/>
          </a:prstGeom>
          <a:noFill/>
          <a:ln/>
        </p:spPr>
        <p:txBody>
          <a:bodyPr wrap="square" lIns="0" tIns="0" rIns="0" bIns="0" rtlCol="0" anchor="ctr"/>
          <a:lstStyle/>
          <a:p>
            <a:pPr marL="0" indent="0">
              <a:buNone/>
            </a:pPr>
            <a:r>
              <a:rPr lang="en-US" sz="2200" b="1" dirty="0">
                <a:solidFill>
                  <a:srgbClr val="063D2B"/>
                </a:solidFill>
                <a:latin typeface="Arial" pitchFamily="34" charset="0"/>
                <a:ea typeface="Arial" pitchFamily="34" charset="-122"/>
                <a:cs typeface="Arial" pitchFamily="34" charset="-120"/>
              </a:rPr>
              <a:t>Always: late, no standard</a:t>
            </a:r>
            <a:endParaRPr lang="en-US" sz="2200" dirty="0"/>
          </a:p>
        </p:txBody>
      </p:sp>
      <p:sp>
        <p:nvSpPr>
          <p:cNvPr id="17" name="Text 14"/>
          <p:cNvSpPr txBox="1"/>
          <p:nvPr/>
        </p:nvSpPr>
        <p:spPr>
          <a:xfrm>
            <a:off x="9738360" y="6185408"/>
            <a:ext cx="4297680" cy="822960"/>
          </a:xfrm>
          <a:prstGeom prst="rect">
            <a:avLst/>
          </a:prstGeom>
          <a:noFill/>
          <a:ln/>
        </p:spPr>
        <p:txBody>
          <a:bodyPr wrap="square" lIns="0" tIns="0" rIns="0" bIns="0" rtlCol="0" anchor="t"/>
          <a:lstStyle/>
          <a:p>
            <a:pPr marL="0" indent="0">
              <a:buNone/>
            </a:pPr>
            <a:r>
              <a:rPr lang="en-US" sz="1500" dirty="0">
                <a:solidFill>
                  <a:srgbClr val="2B3A35"/>
                </a:solidFill>
                <a:latin typeface="Arial" pitchFamily="34" charset="0"/>
                <a:ea typeface="Arial" pitchFamily="34" charset="-122"/>
                <a:cs typeface="Arial" pitchFamily="34" charset="-120"/>
              </a:rPr>
              <a:t>No common standard, and by the time it is a report, the decision on site has already been made.</a:t>
            </a:r>
            <a:endParaRPr lang="en-US" sz="1500" dirty="0"/>
          </a:p>
        </p:txBody>
      </p:sp>
      <p:sp>
        <p:nvSpPr>
          <p:cNvPr id="25"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4</a:t>
            </a:fld>
            <a:endParaRPr lang="en-US"/>
          </a:p>
        </p:txBody>
      </p:sp>
    </p:spTree>
    <p:extLst>
      <p:ext uri="{BB962C8B-B14F-4D97-AF65-F5344CB8AC3E}">
        <p14:creationId xmlns:p14="http://schemas.microsoft.com/office/powerpoint/2010/main" val="1658937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olution image" descr="/tmp/claude-0/-home-claude/02ea35b7-58d5-5806-896b-11c93173863e/scratchpad/build/img/image5.jp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64592" cy="8229600"/>
          </a:xfrm>
          <a:prstGeom prst="rect">
            <a:avLst/>
          </a:prstGeom>
          <a:solidFill>
            <a:srgbClr val="1FB480"/>
          </a:solidFill>
          <a:ln w="12700">
            <a:solidFill>
              <a:srgbClr val="1FB480"/>
            </a:solidFill>
            <a:prstDash val="solid"/>
          </a:ln>
        </p:spPr>
        <p:txBody>
          <a:bodyPr/>
          <a:lstStyle/>
          <a:p>
            <a:endParaRPr lang="en-IL"/>
          </a:p>
        </p:txBody>
      </p:sp>
      <p:pic>
        <p:nvPicPr>
          <p:cNvPr id="4" name="Logo" descr="/tmp/claude-0/-home-claude/02ea35b7-58d5-5806-896b-11c93173863e/scratchpad/build/img/image2.png"/>
          <p:cNvPicPr>
            <a:picLocks noChangeAspect="1"/>
          </p:cNvPicPr>
          <p:nvPr/>
        </p:nvPicPr>
        <p:blipFill>
          <a:blip r:embed="rId4"/>
          <a:stretch>
            <a:fillRect/>
          </a:stretch>
        </p:blipFill>
        <p:spPr>
          <a:xfrm>
            <a:off x="13462000" y="279400"/>
            <a:ext cx="889000" cy="558800"/>
          </a:xfrm>
          <a:prstGeom prst="rect">
            <a:avLst/>
          </a:prstGeom>
        </p:spPr>
      </p:pic>
      <p:sp>
        <p:nvSpPr>
          <p:cNvPr id="5" name="Text 1"/>
          <p:cNvSpPr txBox="1"/>
          <p:nvPr/>
        </p:nvSpPr>
        <p:spPr>
          <a:xfrm>
            <a:off x="777240" y="685800"/>
            <a:ext cx="5486400" cy="365760"/>
          </a:xfrm>
          <a:prstGeom prst="rect">
            <a:avLst/>
          </a:prstGeom>
          <a:noFill/>
          <a:ln/>
        </p:spPr>
        <p:txBody>
          <a:bodyPr wrap="square" lIns="0" tIns="0" rIns="0" bIns="0" rtlCol="0" anchor="ctr"/>
          <a:lstStyle/>
          <a:p>
            <a:pPr marL="0" indent="0">
              <a:buNone/>
            </a:pPr>
            <a:r>
              <a:rPr lang="en-US" sz="1500" b="1" kern="0" spc="100" dirty="0">
                <a:solidFill>
                  <a:srgbClr val="2EC488"/>
                </a:solidFill>
                <a:latin typeface="Arial" pitchFamily="34" charset="0"/>
                <a:ea typeface="Arial" pitchFamily="34" charset="-122"/>
                <a:cs typeface="Arial" pitchFamily="34" charset="-120"/>
              </a:rPr>
              <a:t>THE SOLUTION</a:t>
            </a:r>
            <a:endParaRPr lang="en-US" sz="1500" dirty="0"/>
          </a:p>
        </p:txBody>
      </p:sp>
      <p:sp>
        <p:nvSpPr>
          <p:cNvPr id="6" name="Text 2"/>
          <p:cNvSpPr txBox="1"/>
          <p:nvPr/>
        </p:nvSpPr>
        <p:spPr>
          <a:xfrm>
            <a:off x="777240" y="1143000"/>
            <a:ext cx="5760720" cy="1463040"/>
          </a:xfrm>
          <a:prstGeom prst="rect">
            <a:avLst/>
          </a:prstGeom>
          <a:noFill/>
          <a:ln/>
        </p:spPr>
        <p:txBody>
          <a:bodyPr wrap="square" lIns="0" tIns="0" rIns="0" bIns="0" rtlCol="0" anchor="t"/>
          <a:lstStyle/>
          <a:p>
            <a:pPr marL="0" indent="0">
              <a:buNone/>
            </a:pPr>
            <a:r>
              <a:rPr lang="en-US" sz="4000" b="1" dirty="0">
                <a:solidFill>
                  <a:srgbClr val="FFFFFF"/>
                </a:solidFill>
                <a:latin typeface="Arial" pitchFamily="34" charset="0"/>
                <a:ea typeface="Arial" pitchFamily="34" charset="-122"/>
                <a:cs typeface="Arial" pitchFamily="34" charset="-120"/>
              </a:rPr>
              <a:t>Make every meter drilled work twice.</a:t>
            </a:r>
            <a:endParaRPr lang="en-US" sz="4000" dirty="0"/>
          </a:p>
        </p:txBody>
      </p:sp>
      <p:sp>
        <p:nvSpPr>
          <p:cNvPr id="7" name="Text 3"/>
          <p:cNvSpPr txBox="1"/>
          <p:nvPr/>
        </p:nvSpPr>
        <p:spPr>
          <a:xfrm>
            <a:off x="804672" y="2743200"/>
            <a:ext cx="5943600" cy="548640"/>
          </a:xfrm>
          <a:prstGeom prst="rect">
            <a:avLst/>
          </a:prstGeom>
          <a:noFill/>
          <a:ln/>
        </p:spPr>
        <p:txBody>
          <a:bodyPr wrap="square" lIns="0" tIns="0" rIns="0" bIns="0" rtlCol="0" anchor="t"/>
          <a:lstStyle/>
          <a:p>
            <a:pPr marL="0" indent="0">
              <a:buNone/>
            </a:pPr>
            <a:r>
              <a:rPr lang="en-US" sz="1350" b="1" dirty="0">
                <a:solidFill>
                  <a:srgbClr val="2EC488"/>
                </a:solidFill>
                <a:latin typeface="Arial" pitchFamily="34" charset="0"/>
                <a:ea typeface="Arial" pitchFamily="34" charset="-122"/>
                <a:cs typeface="Arial" pitchFamily="34" charset="-120"/>
              </a:rPr>
              <a:t>Capture → Process → Deliver  </a:t>
            </a:r>
            <a:r>
              <a:rPr lang="en-US" sz="1350" dirty="0">
                <a:solidFill>
                  <a:srgbClr val="FFFFFF"/>
                </a:solidFill>
                <a:latin typeface="Arial" pitchFamily="34" charset="0"/>
                <a:ea typeface="Arial" pitchFamily="34" charset="-122"/>
                <a:cs typeface="Arial" pitchFamily="34" charset="-120"/>
              </a:rPr>
              <a:t>a vendor-agnostic sensing layer for any rig, old or new; physics + AI, tied to depth.</a:t>
            </a:r>
            <a:endParaRPr lang="en-US" sz="1350" dirty="0"/>
          </a:p>
        </p:txBody>
      </p:sp>
      <p:sp>
        <p:nvSpPr>
          <p:cNvPr id="8" name="Shape 4"/>
          <p:cNvSpPr/>
          <p:nvPr/>
        </p:nvSpPr>
        <p:spPr>
          <a:xfrm>
            <a:off x="777240" y="3474720"/>
            <a:ext cx="5897880" cy="1143000"/>
          </a:xfrm>
          <a:prstGeom prst="roundRect">
            <a:avLst>
              <a:gd name="adj" fmla="val 9600"/>
            </a:avLst>
          </a:prstGeom>
          <a:solidFill>
            <a:srgbClr val="0B3A2B">
              <a:alpha val="88000"/>
            </a:srgbClr>
          </a:solidFill>
          <a:ln w="12700">
            <a:solidFill>
              <a:srgbClr val="1FB480"/>
            </a:solidFill>
            <a:prstDash val="solid"/>
          </a:ln>
        </p:spPr>
        <p:txBody>
          <a:bodyPr/>
          <a:lstStyle/>
          <a:p>
            <a:endParaRPr lang="en-IL"/>
          </a:p>
        </p:txBody>
      </p:sp>
      <p:sp>
        <p:nvSpPr>
          <p:cNvPr id="9" name="Shape 5"/>
          <p:cNvSpPr/>
          <p:nvPr/>
        </p:nvSpPr>
        <p:spPr>
          <a:xfrm>
            <a:off x="978408" y="3767328"/>
            <a:ext cx="548640" cy="548640"/>
          </a:xfrm>
          <a:prstGeom prst="ellipse">
            <a:avLst/>
          </a:prstGeom>
          <a:solidFill>
            <a:srgbClr val="1FB480"/>
          </a:solidFill>
          <a:ln w="12700">
            <a:solidFill>
              <a:srgbClr val="1FB480"/>
            </a:solidFill>
            <a:prstDash val="solid"/>
          </a:ln>
        </p:spPr>
        <p:txBody>
          <a:bodyPr/>
          <a:lstStyle/>
          <a:p>
            <a:endParaRPr lang="en-IL"/>
          </a:p>
        </p:txBody>
      </p:sp>
      <p:sp>
        <p:nvSpPr>
          <p:cNvPr id="10" name="Text 6"/>
          <p:cNvSpPr txBox="1"/>
          <p:nvPr/>
        </p:nvSpPr>
        <p:spPr>
          <a:xfrm>
            <a:off x="978408" y="3767328"/>
            <a:ext cx="548640" cy="548640"/>
          </a:xfrm>
          <a:prstGeom prst="rect">
            <a:avLst/>
          </a:prstGeom>
          <a:noFill/>
          <a:ln/>
        </p:spPr>
        <p:txBody>
          <a:bodyPr wrap="square" lIns="0" tIns="0" rIns="0" bIns="0" rtlCol="0" anchor="ctr"/>
          <a:lstStyle/>
          <a:p>
            <a:pPr marL="0" indent="0" algn="ctr">
              <a:buNone/>
            </a:pPr>
            <a:r>
              <a:rPr lang="en-US" sz="1800" b="1" dirty="0">
                <a:solidFill>
                  <a:srgbClr val="063D2B"/>
                </a:solidFill>
                <a:latin typeface="Arial" pitchFamily="34" charset="0"/>
                <a:ea typeface="Arial" pitchFamily="34" charset="-122"/>
                <a:cs typeface="Arial" pitchFamily="34" charset="-120"/>
              </a:rPr>
              <a:t>1</a:t>
            </a:r>
            <a:endParaRPr lang="en-US" sz="1800" dirty="0"/>
          </a:p>
        </p:txBody>
      </p:sp>
      <p:sp>
        <p:nvSpPr>
          <p:cNvPr id="11" name="Text 7"/>
          <p:cNvSpPr txBox="1"/>
          <p:nvPr/>
        </p:nvSpPr>
        <p:spPr>
          <a:xfrm>
            <a:off x="1783080" y="3630168"/>
            <a:ext cx="4709160" cy="36576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Here and now: at the rig</a:t>
            </a:r>
            <a:endParaRPr lang="en-US" sz="1700" dirty="0"/>
          </a:p>
        </p:txBody>
      </p:sp>
      <p:sp>
        <p:nvSpPr>
          <p:cNvPr id="12" name="Text 8"/>
          <p:cNvSpPr txBox="1"/>
          <p:nvPr/>
        </p:nvSpPr>
        <p:spPr>
          <a:xfrm>
            <a:off x="1783080" y="4005072"/>
            <a:ext cx="4709160" cy="548640"/>
          </a:xfrm>
          <a:prstGeom prst="rect">
            <a:avLst/>
          </a:prstGeom>
          <a:noFill/>
          <a:ln/>
        </p:spPr>
        <p:txBody>
          <a:bodyPr wrap="square" lIns="0" tIns="0" rIns="0" bIns="0" rtlCol="0" anchor="t"/>
          <a:lstStyle/>
          <a:p>
            <a:pPr marL="0" indent="0">
              <a:buNone/>
            </a:pPr>
            <a:r>
              <a:rPr lang="en-US" sz="1250" dirty="0">
                <a:solidFill>
                  <a:srgbClr val="DDEDE7"/>
                </a:solidFill>
                <a:latin typeface="Arial" pitchFamily="34" charset="0"/>
                <a:ea typeface="Arial" pitchFamily="34" charset="-122"/>
                <a:cs typeface="Arial" pitchFamily="34" charset="-120"/>
              </a:rPr>
              <a:t>Real-time drilling decisions on site: when to stop, when to sample, where the ore starts and ends.</a:t>
            </a:r>
            <a:endParaRPr lang="en-US" sz="1250" dirty="0"/>
          </a:p>
        </p:txBody>
      </p:sp>
      <p:sp>
        <p:nvSpPr>
          <p:cNvPr id="13" name="Shape 9"/>
          <p:cNvSpPr/>
          <p:nvPr/>
        </p:nvSpPr>
        <p:spPr>
          <a:xfrm>
            <a:off x="777240" y="4773168"/>
            <a:ext cx="5897880" cy="1143000"/>
          </a:xfrm>
          <a:prstGeom prst="roundRect">
            <a:avLst>
              <a:gd name="adj" fmla="val 9600"/>
            </a:avLst>
          </a:prstGeom>
          <a:solidFill>
            <a:srgbClr val="0B3A2B">
              <a:alpha val="88000"/>
            </a:srgbClr>
          </a:solidFill>
          <a:ln w="12700">
            <a:solidFill>
              <a:srgbClr val="1FB480"/>
            </a:solidFill>
            <a:prstDash val="solid"/>
          </a:ln>
        </p:spPr>
        <p:txBody>
          <a:bodyPr/>
          <a:lstStyle/>
          <a:p>
            <a:endParaRPr lang="en-IL"/>
          </a:p>
        </p:txBody>
      </p:sp>
      <p:sp>
        <p:nvSpPr>
          <p:cNvPr id="14" name="Shape 10"/>
          <p:cNvSpPr/>
          <p:nvPr/>
        </p:nvSpPr>
        <p:spPr>
          <a:xfrm>
            <a:off x="978408" y="5065776"/>
            <a:ext cx="548640" cy="548640"/>
          </a:xfrm>
          <a:prstGeom prst="ellipse">
            <a:avLst/>
          </a:prstGeom>
          <a:solidFill>
            <a:srgbClr val="1FB480"/>
          </a:solidFill>
          <a:ln w="12700">
            <a:solidFill>
              <a:srgbClr val="1FB480"/>
            </a:solidFill>
            <a:prstDash val="solid"/>
          </a:ln>
        </p:spPr>
        <p:txBody>
          <a:bodyPr/>
          <a:lstStyle/>
          <a:p>
            <a:endParaRPr lang="en-IL"/>
          </a:p>
        </p:txBody>
      </p:sp>
      <p:sp>
        <p:nvSpPr>
          <p:cNvPr id="15" name="Text 11"/>
          <p:cNvSpPr txBox="1"/>
          <p:nvPr/>
        </p:nvSpPr>
        <p:spPr>
          <a:xfrm>
            <a:off x="978408" y="5065776"/>
            <a:ext cx="548640" cy="548640"/>
          </a:xfrm>
          <a:prstGeom prst="rect">
            <a:avLst/>
          </a:prstGeom>
          <a:noFill/>
          <a:ln/>
        </p:spPr>
        <p:txBody>
          <a:bodyPr wrap="square" lIns="0" tIns="0" rIns="0" bIns="0" rtlCol="0" anchor="ctr"/>
          <a:lstStyle/>
          <a:p>
            <a:pPr marL="0" indent="0" algn="ctr">
              <a:buNone/>
            </a:pPr>
            <a:r>
              <a:rPr lang="en-US" sz="1800" b="1" dirty="0">
                <a:solidFill>
                  <a:srgbClr val="063D2B"/>
                </a:solidFill>
                <a:latin typeface="Arial" pitchFamily="34" charset="0"/>
                <a:ea typeface="Arial" pitchFamily="34" charset="-122"/>
                <a:cs typeface="Arial" pitchFamily="34" charset="-120"/>
              </a:rPr>
              <a:t>2</a:t>
            </a:r>
            <a:endParaRPr lang="en-US" sz="1800" dirty="0"/>
          </a:p>
        </p:txBody>
      </p:sp>
      <p:sp>
        <p:nvSpPr>
          <p:cNvPr id="16" name="Text 12"/>
          <p:cNvSpPr txBox="1"/>
          <p:nvPr/>
        </p:nvSpPr>
        <p:spPr>
          <a:xfrm>
            <a:off x="1783080" y="4928616"/>
            <a:ext cx="4709160" cy="36576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Over time: the subsurface model</a:t>
            </a:r>
            <a:endParaRPr lang="en-US" sz="1700" dirty="0"/>
          </a:p>
        </p:txBody>
      </p:sp>
      <p:sp>
        <p:nvSpPr>
          <p:cNvPr id="17" name="Text 13"/>
          <p:cNvSpPr txBox="1"/>
          <p:nvPr/>
        </p:nvSpPr>
        <p:spPr>
          <a:xfrm>
            <a:off x="1783080" y="5303520"/>
            <a:ext cx="4709160" cy="548640"/>
          </a:xfrm>
          <a:prstGeom prst="rect">
            <a:avLst/>
          </a:prstGeom>
          <a:noFill/>
          <a:ln/>
        </p:spPr>
        <p:txBody>
          <a:bodyPr wrap="square" lIns="0" tIns="0" rIns="0" bIns="0" rtlCol="0" anchor="t"/>
          <a:lstStyle/>
          <a:p>
            <a:pPr marL="0" indent="0">
              <a:buNone/>
            </a:pPr>
            <a:r>
              <a:rPr lang="en-US" sz="1250" dirty="0">
                <a:solidFill>
                  <a:srgbClr val="DDEDE7"/>
                </a:solidFill>
                <a:latin typeface="Arial" pitchFamily="34" charset="0"/>
                <a:ea typeface="Arial" pitchFamily="34" charset="-122"/>
                <a:cs typeface="Arial" pitchFamily="34" charset="-120"/>
              </a:rPr>
              <a:t>Every hole updates one shared model, for operations, geology and engineering.</a:t>
            </a:r>
            <a:endParaRPr lang="en-US" sz="1250" dirty="0"/>
          </a:p>
        </p:txBody>
      </p:sp>
      <p:sp>
        <p:nvSpPr>
          <p:cNvPr id="18" name="Text 14"/>
          <p:cNvSpPr txBox="1"/>
          <p:nvPr/>
        </p:nvSpPr>
        <p:spPr>
          <a:xfrm>
            <a:off x="804672" y="6144768"/>
            <a:ext cx="5852160" cy="274320"/>
          </a:xfrm>
          <a:prstGeom prst="rect">
            <a:avLst/>
          </a:prstGeom>
          <a:noFill/>
          <a:ln/>
        </p:spPr>
        <p:txBody>
          <a:bodyPr wrap="square" lIns="0" tIns="0" rIns="0" bIns="0" rtlCol="0" anchor="ctr"/>
          <a:lstStyle/>
          <a:p>
            <a:pPr marL="0" indent="0">
              <a:buNone/>
            </a:pPr>
            <a:r>
              <a:rPr lang="en-US" sz="1200" b="1" kern="0" spc="100" dirty="0">
                <a:solidFill>
                  <a:srgbClr val="2EC488"/>
                </a:solidFill>
                <a:latin typeface="Arial" pitchFamily="34" charset="0"/>
                <a:ea typeface="Arial" pitchFamily="34" charset="-122"/>
                <a:cs typeface="Arial" pitchFamily="34" charset="-120"/>
              </a:rPr>
              <a:t>THE VALUE · FROM DRILL TO MILL</a:t>
            </a:r>
            <a:endParaRPr lang="en-US" sz="1200" dirty="0"/>
          </a:p>
        </p:txBody>
      </p:sp>
      <p:sp>
        <p:nvSpPr>
          <p:cNvPr id="19" name="Shape 15"/>
          <p:cNvSpPr/>
          <p:nvPr/>
        </p:nvSpPr>
        <p:spPr>
          <a:xfrm>
            <a:off x="777240" y="6492240"/>
            <a:ext cx="2880360" cy="548640"/>
          </a:xfrm>
          <a:prstGeom prst="roundRect">
            <a:avLst>
              <a:gd name="adj" fmla="val 13333"/>
            </a:avLst>
          </a:prstGeom>
          <a:solidFill>
            <a:srgbClr val="1FB480"/>
          </a:solidFill>
          <a:ln w="12700">
            <a:solidFill>
              <a:srgbClr val="1FB480"/>
            </a:solidFill>
            <a:prstDash val="solid"/>
          </a:ln>
        </p:spPr>
        <p:txBody>
          <a:bodyPr/>
          <a:lstStyle/>
          <a:p>
            <a:pPr algn="ctr"/>
            <a:endParaRPr lang="en-IL"/>
          </a:p>
        </p:txBody>
      </p:sp>
      <p:sp>
        <p:nvSpPr>
          <p:cNvPr id="20" name="Text 16"/>
          <p:cNvSpPr txBox="1"/>
          <p:nvPr/>
        </p:nvSpPr>
        <p:spPr>
          <a:xfrm>
            <a:off x="960120" y="6492240"/>
            <a:ext cx="2651760" cy="548640"/>
          </a:xfrm>
          <a:prstGeom prst="rect">
            <a:avLst/>
          </a:prstGeom>
          <a:noFill/>
          <a:ln/>
        </p:spPr>
        <p:txBody>
          <a:bodyPr wrap="square" lIns="0" tIns="0" rIns="0" bIns="0" rtlCol="0" anchor="ctr"/>
          <a:lstStyle/>
          <a:p>
            <a:pPr marL="0" indent="0" algn="ctr">
              <a:buNone/>
            </a:pPr>
            <a:r>
              <a:rPr lang="en-US" sz="1350" b="1" dirty="0">
                <a:solidFill>
                  <a:srgbClr val="063D2B"/>
                </a:solidFill>
                <a:latin typeface="Arial" pitchFamily="34" charset="0"/>
                <a:ea typeface="Arial" pitchFamily="34" charset="-122"/>
                <a:cs typeface="Arial" pitchFamily="34" charset="-120"/>
              </a:rPr>
              <a:t>Shorter drilling cycles</a:t>
            </a:r>
            <a:endParaRPr lang="en-US" sz="1350" dirty="0"/>
          </a:p>
        </p:txBody>
      </p:sp>
      <p:sp>
        <p:nvSpPr>
          <p:cNvPr id="21" name="Shape 17"/>
          <p:cNvSpPr/>
          <p:nvPr/>
        </p:nvSpPr>
        <p:spPr>
          <a:xfrm>
            <a:off x="3794760" y="6492240"/>
            <a:ext cx="2880360" cy="548640"/>
          </a:xfrm>
          <a:prstGeom prst="roundRect">
            <a:avLst>
              <a:gd name="adj" fmla="val 13333"/>
            </a:avLst>
          </a:prstGeom>
          <a:solidFill>
            <a:srgbClr val="E0A526"/>
          </a:solidFill>
          <a:ln w="12700">
            <a:solidFill>
              <a:srgbClr val="E0A526"/>
            </a:solidFill>
            <a:prstDash val="solid"/>
          </a:ln>
        </p:spPr>
        <p:txBody>
          <a:bodyPr/>
          <a:lstStyle/>
          <a:p>
            <a:pPr algn="ctr"/>
            <a:endParaRPr lang="en-IL"/>
          </a:p>
        </p:txBody>
      </p:sp>
      <p:sp>
        <p:nvSpPr>
          <p:cNvPr id="22" name="Text 18"/>
          <p:cNvSpPr txBox="1"/>
          <p:nvPr/>
        </p:nvSpPr>
        <p:spPr>
          <a:xfrm>
            <a:off x="3977640" y="6492240"/>
            <a:ext cx="2651760" cy="548640"/>
          </a:xfrm>
          <a:prstGeom prst="rect">
            <a:avLst/>
          </a:prstGeom>
          <a:noFill/>
          <a:ln/>
        </p:spPr>
        <p:txBody>
          <a:bodyPr wrap="square" lIns="0" tIns="0" rIns="0" bIns="0" rtlCol="0" anchor="ctr"/>
          <a:lstStyle/>
          <a:p>
            <a:pPr marL="0" indent="0" algn="ctr">
              <a:buNone/>
            </a:pPr>
            <a:r>
              <a:rPr lang="en-US" sz="1350" b="1" dirty="0">
                <a:solidFill>
                  <a:srgbClr val="063D2B"/>
                </a:solidFill>
                <a:latin typeface="Arial" pitchFamily="34" charset="0"/>
                <a:ea typeface="Arial" pitchFamily="34" charset="-122"/>
                <a:cs typeface="Arial" pitchFamily="34" charset="-120"/>
              </a:rPr>
              <a:t>Cleaner feed to the plant</a:t>
            </a:r>
            <a:endParaRPr lang="en-US" sz="1350" dirty="0"/>
          </a:p>
        </p:txBody>
      </p:sp>
      <p:sp>
        <p:nvSpPr>
          <p:cNvPr id="23" name="Shape 19"/>
          <p:cNvSpPr/>
          <p:nvPr/>
        </p:nvSpPr>
        <p:spPr>
          <a:xfrm>
            <a:off x="777240" y="7150608"/>
            <a:ext cx="2880360" cy="548640"/>
          </a:xfrm>
          <a:prstGeom prst="roundRect">
            <a:avLst>
              <a:gd name="adj" fmla="val 13333"/>
            </a:avLst>
          </a:prstGeom>
          <a:solidFill>
            <a:srgbClr val="1FB480"/>
          </a:solidFill>
          <a:ln w="12700">
            <a:solidFill>
              <a:srgbClr val="1FB480"/>
            </a:solidFill>
            <a:prstDash val="solid"/>
          </a:ln>
        </p:spPr>
        <p:txBody>
          <a:bodyPr/>
          <a:lstStyle/>
          <a:p>
            <a:pPr algn="ctr"/>
            <a:endParaRPr lang="en-IL"/>
          </a:p>
        </p:txBody>
      </p:sp>
      <p:sp>
        <p:nvSpPr>
          <p:cNvPr id="24" name="Text 20"/>
          <p:cNvSpPr txBox="1"/>
          <p:nvPr/>
        </p:nvSpPr>
        <p:spPr>
          <a:xfrm>
            <a:off x="960120" y="7150608"/>
            <a:ext cx="2651760" cy="548640"/>
          </a:xfrm>
          <a:prstGeom prst="rect">
            <a:avLst/>
          </a:prstGeom>
          <a:noFill/>
          <a:ln/>
        </p:spPr>
        <p:txBody>
          <a:bodyPr wrap="square" lIns="0" tIns="0" rIns="0" bIns="0" rtlCol="0" anchor="ctr"/>
          <a:lstStyle/>
          <a:p>
            <a:pPr marL="0" indent="0" algn="ctr">
              <a:buNone/>
            </a:pPr>
            <a:r>
              <a:rPr lang="en-US" sz="1350" b="1" dirty="0">
                <a:solidFill>
                  <a:srgbClr val="063D2B"/>
                </a:solidFill>
                <a:latin typeface="Arial" pitchFamily="34" charset="0"/>
                <a:ea typeface="Arial" pitchFamily="34" charset="-122"/>
                <a:cs typeface="Arial" pitchFamily="34" charset="-120"/>
              </a:rPr>
              <a:t>Reliable, consistent data</a:t>
            </a:r>
            <a:endParaRPr lang="en-US" sz="1350" dirty="0"/>
          </a:p>
        </p:txBody>
      </p:sp>
      <p:sp>
        <p:nvSpPr>
          <p:cNvPr id="25" name="Shape 21"/>
          <p:cNvSpPr/>
          <p:nvPr/>
        </p:nvSpPr>
        <p:spPr>
          <a:xfrm>
            <a:off x="3794760" y="7150608"/>
            <a:ext cx="2880360" cy="548640"/>
          </a:xfrm>
          <a:prstGeom prst="roundRect">
            <a:avLst>
              <a:gd name="adj" fmla="val 13333"/>
            </a:avLst>
          </a:prstGeom>
          <a:solidFill>
            <a:srgbClr val="1FB480"/>
          </a:solidFill>
          <a:ln w="12700">
            <a:solidFill>
              <a:srgbClr val="1FB480"/>
            </a:solidFill>
            <a:prstDash val="solid"/>
          </a:ln>
        </p:spPr>
        <p:txBody>
          <a:bodyPr/>
          <a:lstStyle/>
          <a:p>
            <a:pPr algn="ctr"/>
            <a:endParaRPr lang="en-IL"/>
          </a:p>
        </p:txBody>
      </p:sp>
      <p:sp>
        <p:nvSpPr>
          <p:cNvPr id="26" name="Text 22"/>
          <p:cNvSpPr txBox="1"/>
          <p:nvPr/>
        </p:nvSpPr>
        <p:spPr>
          <a:xfrm>
            <a:off x="3977640" y="7150608"/>
            <a:ext cx="2651760" cy="548640"/>
          </a:xfrm>
          <a:prstGeom prst="rect">
            <a:avLst/>
          </a:prstGeom>
          <a:noFill/>
          <a:ln/>
        </p:spPr>
        <p:txBody>
          <a:bodyPr wrap="square" lIns="0" tIns="0" rIns="0" bIns="0" rtlCol="0" anchor="ctr"/>
          <a:lstStyle/>
          <a:p>
            <a:pPr marL="0" indent="0" algn="ctr">
              <a:buNone/>
            </a:pPr>
            <a:r>
              <a:rPr lang="en-US" sz="1350" b="1" dirty="0">
                <a:solidFill>
                  <a:srgbClr val="063D2B"/>
                </a:solidFill>
                <a:latin typeface="Arial" pitchFamily="34" charset="0"/>
                <a:ea typeface="Arial" pitchFamily="34" charset="-122"/>
                <a:cs typeface="Arial" pitchFamily="34" charset="-120"/>
              </a:rPr>
              <a:t>Gut feeling → evidence &amp; data</a:t>
            </a:r>
            <a:endParaRPr lang="en-US" sz="1350" dirty="0"/>
          </a:p>
        </p:txBody>
      </p:sp>
      <p:sp>
        <p:nvSpPr>
          <p:cNvPr id="300" name="IP badge"/>
          <p:cNvSpPr/>
          <p:nvPr/>
        </p:nvSpPr>
        <p:spPr>
          <a:xfrm>
            <a:off x="9550400" y="7340600"/>
            <a:ext cx="4318000" cy="406400"/>
          </a:xfrm>
          <a:prstGeom prst="roundRect">
            <a:avLst>
              <a:gd name="adj" fmla="val 50000"/>
            </a:avLst>
          </a:prstGeom>
          <a:solidFill>
            <a:srgbClr val="06231A">
              <a:alpha val="80000"/>
            </a:srgbClr>
          </a:solidFill>
          <a:ln w="12700">
            <a:solidFill>
              <a:srgbClr val="2EC488"/>
            </a:solidFill>
          </a:ln>
        </p:spPr>
        <p:txBody>
          <a:bodyPr wrap="none" lIns="0" tIns="0" rIns="0" bIns="0" rtlCol="0" anchor="ctr">
            <a:noAutofit/>
          </a:bodyPr>
          <a:lstStyle/>
          <a:p>
            <a:pPr algn="ctr">
              <a:buNone/>
            </a:pPr>
            <a:r>
              <a:rPr lang="en-US" sz="1300" b="1" dirty="0">
                <a:solidFill>
                  <a:srgbClr val="2EC488"/>
                </a:solidFill>
                <a:latin typeface="Arial" pitchFamily="34" charset="0"/>
              </a:rPr>
              <a:t>Proprietary technology</a:t>
            </a:r>
            <a:r>
              <a:rPr lang="en-US" sz="1300" dirty="0">
                <a:solidFill>
                  <a:srgbClr val="FFFFFF"/>
                </a:solidFill>
                <a:latin typeface="Arial" pitchFamily="34" charset="0"/>
              </a:rPr>
              <a:t> · sensing + AI, built in-house</a:t>
            </a:r>
          </a:p>
        </p:txBody>
      </p:sp>
    </p:spTree>
    <p:extLst>
      <p:ext uri="{BB962C8B-B14F-4D97-AF65-F5344CB8AC3E}">
        <p14:creationId xmlns:p14="http://schemas.microsoft.com/office/powerpoint/2010/main" val="1212678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777240" y="502920"/>
            <a:ext cx="10972800" cy="365760"/>
          </a:xfrm>
          <a:prstGeom prst="rect">
            <a:avLst/>
          </a:prstGeom>
          <a:noFill/>
          <a:ln/>
        </p:spPr>
        <p:txBody>
          <a:bodyPr wrap="square" lIns="0" tIns="0" rIns="0" bIns="0" rtlCol="0" anchor="ctr"/>
          <a:lstStyle/>
          <a:p>
            <a:pPr marL="0" indent="0">
              <a:buNone/>
            </a:pPr>
            <a:r>
              <a:rPr lang="en-US" sz="1500" b="1" kern="0" spc="100" dirty="0">
                <a:solidFill>
                  <a:srgbClr val="1FB480"/>
                </a:solidFill>
                <a:latin typeface="Arial" pitchFamily="34" charset="0"/>
                <a:ea typeface="Arial" pitchFamily="34" charset="-122"/>
                <a:cs typeface="Arial" pitchFamily="34" charset="-120"/>
              </a:rPr>
              <a:t>IN THE FIELD</a:t>
            </a:r>
            <a:endParaRPr lang="en-US" sz="1500" dirty="0"/>
          </a:p>
        </p:txBody>
      </p:sp>
      <p:sp>
        <p:nvSpPr>
          <p:cNvPr id="3" name="Title"/>
          <p:cNvSpPr txBox="1"/>
          <p:nvPr/>
        </p:nvSpPr>
        <p:spPr>
          <a:xfrm>
            <a:off x="777240" y="1005840"/>
            <a:ext cx="12435840" cy="731520"/>
          </a:xfrm>
          <a:prstGeom prst="rect">
            <a:avLst/>
          </a:prstGeom>
          <a:noFill/>
          <a:ln/>
        </p:spPr>
        <p:txBody>
          <a:bodyPr wrap="square" lIns="0" tIns="0" rIns="0" bIns="0" rtlCol="0" anchor="ctr"/>
          <a:lstStyle/>
          <a:p>
            <a:pPr marL="0" indent="0">
              <a:buNone/>
            </a:pPr>
            <a:r>
              <a:rPr lang="en-US" sz="3200" b="1" dirty="0">
                <a:solidFill>
                  <a:srgbClr val="063D2B"/>
                </a:solidFill>
                <a:latin typeface="Arial" pitchFamily="34" charset="0"/>
                <a:ea typeface="Arial" pitchFamily="34" charset="-122"/>
                <a:cs typeface="Arial" pitchFamily="34" charset="-120"/>
              </a:rPr>
              <a:t>Real rigs. Real drilling. Real data.</a:t>
            </a:r>
            <a:endParaRPr lang="en-US" sz="3200" dirty="0"/>
          </a:p>
        </p:txBody>
      </p:sp>
      <p:pic>
        <p:nvPicPr>
          <p:cNvPr id="4" name="Photo: team at the rig" descr="/tmp/claude-0/-home-claude/02ea35b7-58d5-5806-896b-11c93173863e/scratchpad/build/img/image6.jpg"/>
          <p:cNvPicPr>
            <a:picLocks noChangeAspect="1"/>
          </p:cNvPicPr>
          <p:nvPr/>
        </p:nvPicPr>
        <p:blipFill>
          <a:blip r:embed="rId3"/>
          <a:stretch>
            <a:fillRect/>
          </a:stretch>
        </p:blipFill>
        <p:spPr>
          <a:xfrm>
            <a:off x="777240" y="1920240"/>
            <a:ext cx="5486400" cy="4114800"/>
          </a:xfrm>
          <a:prstGeom prst="rect">
            <a:avLst/>
          </a:prstGeom>
        </p:spPr>
      </p:pic>
      <p:sp>
        <p:nvSpPr>
          <p:cNvPr id="5" name="Text 2"/>
          <p:cNvSpPr txBox="1"/>
          <p:nvPr/>
        </p:nvSpPr>
        <p:spPr>
          <a:xfrm>
            <a:off x="777240" y="6126480"/>
            <a:ext cx="5486400" cy="274320"/>
          </a:xfrm>
          <a:prstGeom prst="rect">
            <a:avLst/>
          </a:prstGeom>
          <a:noFill/>
          <a:ln/>
        </p:spPr>
        <p:txBody>
          <a:bodyPr wrap="square" lIns="0" tIns="0" rIns="0" bIns="0" rtlCol="0" anchor="ctr"/>
          <a:lstStyle/>
          <a:p>
            <a:pPr marL="0" indent="0">
              <a:buNone/>
            </a:pPr>
            <a:r>
              <a:rPr lang="en-US" sz="1200" dirty="0">
                <a:solidFill>
                  <a:srgbClr val="5E7A70"/>
                </a:solidFill>
                <a:latin typeface="Arial" pitchFamily="34" charset="0"/>
                <a:ea typeface="Arial" pitchFamily="34" charset="-122"/>
                <a:cs typeface="Arial" pitchFamily="34" charset="-120"/>
              </a:rPr>
              <a:t>The Drillzy team on a working rig · open-pit mine</a:t>
            </a:r>
            <a:endParaRPr lang="en-US" sz="1200" dirty="0"/>
          </a:p>
        </p:txBody>
      </p:sp>
      <p:sp>
        <p:nvSpPr>
          <p:cNvPr id="9" name="Shape 5"/>
          <p:cNvSpPr/>
          <p:nvPr/>
        </p:nvSpPr>
        <p:spPr>
          <a:xfrm>
            <a:off x="11430000" y="1920240"/>
            <a:ext cx="2423160" cy="1280160"/>
          </a:xfrm>
          <a:prstGeom prst="roundRect">
            <a:avLst>
              <a:gd name="adj" fmla="val 7143"/>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sp>
        <p:nvSpPr>
          <p:cNvPr id="10" name="Text 6"/>
          <p:cNvSpPr txBox="1"/>
          <p:nvPr/>
        </p:nvSpPr>
        <p:spPr>
          <a:xfrm>
            <a:off x="11612880" y="2029968"/>
            <a:ext cx="2103120" cy="548640"/>
          </a:xfrm>
          <a:prstGeom prst="rect">
            <a:avLst/>
          </a:prstGeom>
          <a:noFill/>
          <a:ln/>
        </p:spPr>
        <p:txBody>
          <a:bodyPr wrap="square" lIns="0" tIns="0" rIns="0" bIns="0" rtlCol="0" anchor="ctr"/>
          <a:lstStyle/>
          <a:p>
            <a:pPr marL="0" indent="0" algn="ctr">
              <a:buNone/>
            </a:pPr>
            <a:r>
              <a:rPr lang="en-US" sz="3000" b="1" dirty="0">
                <a:solidFill>
                  <a:srgbClr val="1FB480"/>
                </a:solidFill>
                <a:latin typeface="Arial" pitchFamily="34" charset="0"/>
                <a:ea typeface="Arial" pitchFamily="34" charset="-122"/>
                <a:cs typeface="Arial" pitchFamily="34" charset="-120"/>
              </a:rPr>
              <a:t>Dozens</a:t>
            </a:r>
            <a:endParaRPr lang="en-US" sz="3000" dirty="0"/>
          </a:p>
        </p:txBody>
      </p:sp>
      <p:sp>
        <p:nvSpPr>
          <p:cNvPr id="11" name="Text 7"/>
          <p:cNvSpPr txBox="1"/>
          <p:nvPr/>
        </p:nvSpPr>
        <p:spPr>
          <a:xfrm>
            <a:off x="11612880" y="2606040"/>
            <a:ext cx="2148840" cy="502920"/>
          </a:xfrm>
          <a:prstGeom prst="rect">
            <a:avLst/>
          </a:prstGeom>
          <a:noFill/>
          <a:ln/>
        </p:spPr>
        <p:txBody>
          <a:bodyPr wrap="square" lIns="0" tIns="0" rIns="0" bIns="0" rtlCol="0" anchor="t"/>
          <a:lstStyle/>
          <a:p>
            <a:pPr marL="0" indent="0">
              <a:buNone/>
            </a:pPr>
            <a:r>
              <a:rPr lang="en-US" sz="1250" dirty="0">
                <a:solidFill>
                  <a:srgbClr val="2B3A35"/>
                </a:solidFill>
                <a:latin typeface="Arial" pitchFamily="34" charset="0"/>
                <a:ea typeface="Arial" pitchFamily="34" charset="-122"/>
                <a:cs typeface="Arial" pitchFamily="34" charset="-120"/>
              </a:rPr>
              <a:t>boreholes, many deeper than 100 m</a:t>
            </a:r>
            <a:endParaRPr lang="en-US" sz="1250" dirty="0"/>
          </a:p>
        </p:txBody>
      </p:sp>
      <p:sp>
        <p:nvSpPr>
          <p:cNvPr id="12" name="Shape 8"/>
          <p:cNvSpPr/>
          <p:nvPr/>
        </p:nvSpPr>
        <p:spPr>
          <a:xfrm>
            <a:off x="11430000" y="4754880"/>
            <a:ext cx="2423160" cy="1280160"/>
          </a:xfrm>
          <a:prstGeom prst="roundRect">
            <a:avLst>
              <a:gd name="adj" fmla="val 7143"/>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sp>
        <p:nvSpPr>
          <p:cNvPr id="13" name="Text 9"/>
          <p:cNvSpPr txBox="1"/>
          <p:nvPr/>
        </p:nvSpPr>
        <p:spPr>
          <a:xfrm>
            <a:off x="11612880" y="4864608"/>
            <a:ext cx="2103120" cy="548640"/>
          </a:xfrm>
          <a:prstGeom prst="rect">
            <a:avLst/>
          </a:prstGeom>
          <a:noFill/>
          <a:ln/>
        </p:spPr>
        <p:txBody>
          <a:bodyPr wrap="square" lIns="0" tIns="0" rIns="0" bIns="0" rtlCol="0" anchor="ctr"/>
          <a:lstStyle/>
          <a:p>
            <a:pPr marL="0" indent="0" algn="ctr">
              <a:buNone/>
            </a:pPr>
            <a:r>
              <a:rPr lang="en-US" sz="3000" b="1" dirty="0">
                <a:solidFill>
                  <a:srgbClr val="1FB480"/>
                </a:solidFill>
                <a:latin typeface="Arial" pitchFamily="34" charset="0"/>
                <a:ea typeface="Arial" pitchFamily="34" charset="-122"/>
                <a:cs typeface="Arial" pitchFamily="34" charset="-120"/>
              </a:rPr>
              <a:t>3</a:t>
            </a:r>
            <a:endParaRPr lang="en-US" sz="3000" dirty="0"/>
          </a:p>
        </p:txBody>
      </p:sp>
      <p:sp>
        <p:nvSpPr>
          <p:cNvPr id="14" name="Text 10"/>
          <p:cNvSpPr txBox="1"/>
          <p:nvPr/>
        </p:nvSpPr>
        <p:spPr>
          <a:xfrm>
            <a:off x="11612880" y="5440680"/>
            <a:ext cx="2148840" cy="502920"/>
          </a:xfrm>
          <a:prstGeom prst="rect">
            <a:avLst/>
          </a:prstGeom>
          <a:noFill/>
          <a:ln/>
        </p:spPr>
        <p:txBody>
          <a:bodyPr wrap="square" lIns="0" tIns="0" rIns="0" bIns="0" rtlCol="0" anchor="t"/>
          <a:lstStyle/>
          <a:p>
            <a:pPr marL="0" indent="0">
              <a:buNone/>
            </a:pPr>
            <a:r>
              <a:rPr lang="en-US" sz="1250" dirty="0">
                <a:solidFill>
                  <a:srgbClr val="2B3A35"/>
                </a:solidFill>
                <a:latin typeface="Arial" pitchFamily="34" charset="0"/>
                <a:ea typeface="Arial" pitchFamily="34" charset="-122"/>
                <a:cs typeface="Arial" pitchFamily="34" charset="-120"/>
              </a:rPr>
              <a:t>geologies that represent critical minerals</a:t>
            </a:r>
            <a:endParaRPr lang="en-US" sz="1250" dirty="0"/>
          </a:p>
        </p:txBody>
      </p:sp>
      <p:sp>
        <p:nvSpPr>
          <p:cNvPr id="39" name="Card mid 12"/>
          <p:cNvSpPr/>
          <p:nvPr/>
        </p:nvSpPr>
        <p:spPr>
          <a:xfrm>
            <a:off x="11430000" y="3337560"/>
            <a:ext cx="2423160" cy="1280160"/>
          </a:xfrm>
          <a:prstGeom prst="roundRect">
            <a:avLst>
              <a:gd name="adj" fmla="val 7143"/>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sp>
        <p:nvSpPr>
          <p:cNvPr id="38" name="Card mid 13"/>
          <p:cNvSpPr txBox="1"/>
          <p:nvPr/>
        </p:nvSpPr>
        <p:spPr>
          <a:xfrm>
            <a:off x="11612880" y="3447288"/>
            <a:ext cx="2103120" cy="548640"/>
          </a:xfrm>
          <a:prstGeom prst="rect">
            <a:avLst/>
          </a:prstGeom>
          <a:noFill/>
          <a:ln/>
        </p:spPr>
        <p:txBody>
          <a:bodyPr wrap="square" lIns="0" tIns="0" rIns="0" bIns="0" rtlCol="0" anchor="ctr"/>
          <a:lstStyle/>
          <a:p>
            <a:pPr marL="0" indent="0" algn="ctr">
              <a:buNone/>
            </a:pPr>
            <a:r>
              <a:rPr lang="en-US" sz="3000" b="1" dirty="0">
                <a:solidFill>
                  <a:srgbClr val="1FB480"/>
                </a:solidFill>
                <a:latin typeface="Arial" pitchFamily="34" charset="0"/>
                <a:ea typeface="Arial" pitchFamily="34" charset="-122"/>
                <a:cs typeface="Arial" pitchFamily="34" charset="-120"/>
              </a:rPr>
              <a:t>Dry &amp; wet</a:t>
            </a:r>
            <a:endParaRPr lang="en-US" sz="3000" dirty="0"/>
          </a:p>
        </p:txBody>
      </p:sp>
      <p:sp>
        <p:nvSpPr>
          <p:cNvPr id="37" name="Card mid 14"/>
          <p:cNvSpPr txBox="1"/>
          <p:nvPr/>
        </p:nvSpPr>
        <p:spPr>
          <a:xfrm>
            <a:off x="11612880" y="4023360"/>
            <a:ext cx="2148840" cy="502920"/>
          </a:xfrm>
          <a:prstGeom prst="rect">
            <a:avLst/>
          </a:prstGeom>
          <a:noFill/>
          <a:ln/>
        </p:spPr>
        <p:txBody>
          <a:bodyPr wrap="square" lIns="0" tIns="0" rIns="0" bIns="0" rtlCol="0" anchor="t"/>
          <a:lstStyle/>
          <a:p>
            <a:pPr marL="0" indent="0">
              <a:buNone/>
            </a:pPr>
            <a:r>
              <a:rPr lang="en-US" sz="1250" dirty="0">
                <a:solidFill>
                  <a:srgbClr val="2B3A35"/>
                </a:solidFill>
                <a:latin typeface="Arial" pitchFamily="34" charset="0"/>
                <a:ea typeface="Arial" pitchFamily="34" charset="-122"/>
                <a:cs typeface="Arial" pitchFamily="34" charset="-120"/>
              </a:rPr>
              <a:t>drilling conditions, both measured</a:t>
            </a:r>
            <a:endParaRPr lang="en-US" sz="1250" dirty="0"/>
          </a:p>
        </p:txBody>
      </p:sp>
      <p:sp>
        <p:nvSpPr>
          <p:cNvPr id="18" name="Text 14"/>
          <p:cNvSpPr txBox="1"/>
          <p:nvPr/>
        </p:nvSpPr>
        <p:spPr>
          <a:xfrm>
            <a:off x="11430000" y="6126480"/>
            <a:ext cx="2514600" cy="274320"/>
          </a:xfrm>
          <a:prstGeom prst="rect">
            <a:avLst/>
          </a:prstGeom>
          <a:noFill/>
          <a:ln/>
        </p:spPr>
        <p:txBody>
          <a:bodyPr wrap="square" lIns="0" tIns="0" rIns="0" bIns="0" rtlCol="0" anchor="ctr"/>
          <a:lstStyle/>
          <a:p>
            <a:pPr marL="0" indent="0">
              <a:buNone/>
            </a:pPr>
            <a:r>
              <a:rPr lang="en-US" sz="1200" b="1" dirty="0">
                <a:solidFill>
                  <a:srgbClr val="1FB480"/>
                </a:solidFill>
                <a:latin typeface="Arial" pitchFamily="34" charset="0"/>
                <a:ea typeface="Arial" pitchFamily="34" charset="-122"/>
                <a:cs typeface="Arial" pitchFamily="34" charset="-120"/>
              </a:rPr>
              <a:t>Any rig · vendor-agnostic</a:t>
            </a:r>
            <a:endParaRPr lang="en-US" sz="1200" dirty="0"/>
          </a:p>
        </p:txBody>
      </p:sp>
      <p:sp>
        <p:nvSpPr>
          <p:cNvPr id="19" name="Text 15"/>
          <p:cNvSpPr txBox="1"/>
          <p:nvPr/>
        </p:nvSpPr>
        <p:spPr>
          <a:xfrm>
            <a:off x="777240" y="6473952"/>
            <a:ext cx="5486400" cy="274320"/>
          </a:xfrm>
          <a:prstGeom prst="rect">
            <a:avLst/>
          </a:prstGeom>
          <a:noFill/>
          <a:ln/>
        </p:spPr>
        <p:txBody>
          <a:bodyPr wrap="square" lIns="0" tIns="0" rIns="0" bIns="0" rtlCol="0" anchor="ctr"/>
          <a:lstStyle/>
          <a:p>
            <a:pPr marL="0" indent="0">
              <a:buNone/>
            </a:pPr>
            <a:r>
              <a:rPr lang="en-US" sz="1400" b="1" kern="0" spc="100" dirty="0">
                <a:solidFill>
                  <a:srgbClr val="1FB480"/>
                </a:solidFill>
                <a:latin typeface="Arial" pitchFamily="34" charset="0"/>
                <a:ea typeface="Arial" pitchFamily="34" charset="-122"/>
                <a:cs typeface="Arial" pitchFamily="34" charset="-120"/>
              </a:rPr>
              <a:t>OUR DESIGN PARTNERS</a:t>
            </a:r>
            <a:endParaRPr lang="en-US" sz="1400" dirty="0"/>
          </a:p>
        </p:txBody>
      </p:sp>
      <p:sp>
        <p:nvSpPr>
          <p:cNvPr id="20" name="Shape 16"/>
          <p:cNvSpPr/>
          <p:nvPr/>
        </p:nvSpPr>
        <p:spPr>
          <a:xfrm>
            <a:off x="777240" y="6858000"/>
            <a:ext cx="4178808" cy="804672"/>
          </a:xfrm>
          <a:prstGeom prst="roundRect">
            <a:avLst>
              <a:gd name="adj" fmla="val 11364"/>
            </a:avLst>
          </a:prstGeom>
          <a:solidFill>
            <a:schemeClr val="accent1">
              <a:lumMod val="75000"/>
            </a:schemeClr>
          </a:solidFill>
          <a:ln w="12700">
            <a:solidFill>
              <a:srgbClr val="006747"/>
            </a:solidFill>
            <a:prstDash val="solid"/>
          </a:ln>
          <a:effectLst>
            <a:outerShdw blurRad="76200" dist="25400" dir="5400000" algn="bl" rotWithShape="0">
              <a:srgbClr val="063D2B">
                <a:alpha val="10000"/>
              </a:srgbClr>
            </a:outerShdw>
          </a:effectLst>
        </p:spPr>
        <p:txBody>
          <a:bodyPr/>
          <a:lstStyle/>
          <a:p>
            <a:endParaRPr lang="en-IL"/>
          </a:p>
        </p:txBody>
      </p:sp>
      <p:sp>
        <p:nvSpPr>
          <p:cNvPr id="21" name="Shape 17"/>
          <p:cNvSpPr/>
          <p:nvPr/>
        </p:nvSpPr>
        <p:spPr>
          <a:xfrm>
            <a:off x="905256" y="6958584"/>
            <a:ext cx="1188720" cy="603504"/>
          </a:xfrm>
          <a:prstGeom prst="roundRect">
            <a:avLst>
              <a:gd name="adj" fmla="val 12121"/>
            </a:avLst>
          </a:prstGeom>
          <a:solidFill>
            <a:srgbClr val="FFFFFF"/>
          </a:solidFill>
          <a:ln w="12700">
            <a:solidFill>
              <a:srgbClr val="FFFFFF"/>
            </a:solidFill>
            <a:prstDash val="solid"/>
          </a:ln>
        </p:spPr>
        <p:txBody>
          <a:bodyPr/>
          <a:lstStyle/>
          <a:p>
            <a:endParaRPr lang="en-IL"/>
          </a:p>
        </p:txBody>
      </p:sp>
      <p:pic>
        <p:nvPicPr>
          <p:cNvPr id="22" name="Image 2" descr="/tmp/claude-0/-home-claude/02ea35b7-58d5-5806-896b-11c93173863e/scratchpad/build/img/image8.png"/>
          <p:cNvPicPr>
            <a:picLocks noChangeAspect="1"/>
          </p:cNvPicPr>
          <p:nvPr/>
        </p:nvPicPr>
        <p:blipFill>
          <a:blip r:embed="rId4"/>
          <a:stretch>
            <a:fillRect/>
          </a:stretch>
        </p:blipFill>
        <p:spPr>
          <a:xfrm>
            <a:off x="973836" y="7045452"/>
            <a:ext cx="1051560" cy="429768"/>
          </a:xfrm>
          <a:prstGeom prst="rect">
            <a:avLst/>
          </a:prstGeom>
        </p:spPr>
      </p:pic>
      <p:sp>
        <p:nvSpPr>
          <p:cNvPr id="23" name="Text 18"/>
          <p:cNvSpPr txBox="1"/>
          <p:nvPr/>
        </p:nvSpPr>
        <p:spPr>
          <a:xfrm>
            <a:off x="2258568" y="6858000"/>
            <a:ext cx="2606040" cy="804672"/>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Mining</a:t>
            </a:r>
            <a:endParaRPr lang="en-US" sz="1600" dirty="0"/>
          </a:p>
          <a:p>
            <a:r>
              <a:rPr lang="en-IL" sz="1400" dirty="0"/>
              <a:t>Open-pit · sedimentary</a:t>
            </a:r>
            <a:endParaRPr lang="en-US" sz="1600" dirty="0"/>
          </a:p>
        </p:txBody>
      </p:sp>
      <p:sp>
        <p:nvSpPr>
          <p:cNvPr id="24" name="Shape 19"/>
          <p:cNvSpPr/>
          <p:nvPr/>
        </p:nvSpPr>
        <p:spPr>
          <a:xfrm>
            <a:off x="5230368" y="6858000"/>
            <a:ext cx="4178808" cy="804672"/>
          </a:xfrm>
          <a:prstGeom prst="roundRect">
            <a:avLst>
              <a:gd name="adj" fmla="val 11364"/>
            </a:avLst>
          </a:prstGeom>
          <a:solidFill>
            <a:schemeClr val="accent1">
              <a:lumMod val="75000"/>
            </a:schemeClr>
          </a:solidFill>
          <a:ln w="12700">
            <a:solidFill>
              <a:srgbClr val="006747"/>
            </a:solidFill>
            <a:prstDash val="solid"/>
          </a:ln>
          <a:effectLst>
            <a:outerShdw blurRad="76200" dist="25400" dir="5400000" algn="bl" rotWithShape="0">
              <a:srgbClr val="063D2B">
                <a:alpha val="10000"/>
              </a:srgbClr>
            </a:outerShdw>
          </a:effectLst>
        </p:spPr>
        <p:txBody>
          <a:bodyPr/>
          <a:lstStyle/>
          <a:p>
            <a:endParaRPr lang="en-IL"/>
          </a:p>
        </p:txBody>
      </p:sp>
      <p:sp>
        <p:nvSpPr>
          <p:cNvPr id="25" name="Shape 20"/>
          <p:cNvSpPr/>
          <p:nvPr/>
        </p:nvSpPr>
        <p:spPr>
          <a:xfrm>
            <a:off x="5358384" y="6958584"/>
            <a:ext cx="1188720" cy="603504"/>
          </a:xfrm>
          <a:prstGeom prst="roundRect">
            <a:avLst>
              <a:gd name="adj" fmla="val 12121"/>
            </a:avLst>
          </a:prstGeom>
          <a:solidFill>
            <a:srgbClr val="FFFFFF"/>
          </a:solidFill>
          <a:ln w="12700">
            <a:solidFill>
              <a:srgbClr val="FFFFFF"/>
            </a:solidFill>
            <a:prstDash val="solid"/>
          </a:ln>
        </p:spPr>
        <p:txBody>
          <a:bodyPr/>
          <a:lstStyle/>
          <a:p>
            <a:endParaRPr lang="en-IL"/>
          </a:p>
        </p:txBody>
      </p:sp>
      <p:sp>
        <p:nvSpPr>
          <p:cNvPr id="27" name="Text 21"/>
          <p:cNvSpPr txBox="1"/>
          <p:nvPr/>
        </p:nvSpPr>
        <p:spPr>
          <a:xfrm>
            <a:off x="6711696" y="6858000"/>
            <a:ext cx="2606040" cy="804672"/>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Government body</a:t>
            </a:r>
            <a:endParaRPr lang="en-US" sz="1600" dirty="0"/>
          </a:p>
          <a:p>
            <a:r>
              <a:rPr lang="en-IL" sz="1400" dirty="0"/>
              <a:t>Intrusive ore body · hard rock</a:t>
            </a:r>
            <a:endParaRPr lang="en-US" sz="1600" dirty="0"/>
          </a:p>
        </p:txBody>
      </p:sp>
      <p:sp>
        <p:nvSpPr>
          <p:cNvPr id="28" name="Shape 22"/>
          <p:cNvSpPr/>
          <p:nvPr/>
        </p:nvSpPr>
        <p:spPr>
          <a:xfrm>
            <a:off x="9683496" y="6858000"/>
            <a:ext cx="4178808" cy="804672"/>
          </a:xfrm>
          <a:prstGeom prst="roundRect">
            <a:avLst>
              <a:gd name="adj" fmla="val 11364"/>
            </a:avLst>
          </a:prstGeom>
          <a:solidFill>
            <a:schemeClr val="accent1">
              <a:lumMod val="75000"/>
            </a:schemeClr>
          </a:solidFill>
          <a:ln w="12700">
            <a:solidFill>
              <a:srgbClr val="006747"/>
            </a:solidFill>
            <a:prstDash val="solid"/>
          </a:ln>
          <a:effectLst>
            <a:outerShdw blurRad="76200" dist="25400" dir="5400000" algn="bl" rotWithShape="0">
              <a:srgbClr val="063D2B">
                <a:alpha val="10000"/>
              </a:srgbClr>
            </a:outerShdw>
          </a:effectLst>
        </p:spPr>
        <p:txBody>
          <a:bodyPr/>
          <a:lstStyle/>
          <a:p>
            <a:endParaRPr lang="en-IL"/>
          </a:p>
        </p:txBody>
      </p:sp>
      <p:sp>
        <p:nvSpPr>
          <p:cNvPr id="29" name="Shape 23"/>
          <p:cNvSpPr/>
          <p:nvPr/>
        </p:nvSpPr>
        <p:spPr>
          <a:xfrm>
            <a:off x="9811512" y="6958584"/>
            <a:ext cx="1188720" cy="603504"/>
          </a:xfrm>
          <a:prstGeom prst="roundRect">
            <a:avLst>
              <a:gd name="adj" fmla="val 12121"/>
            </a:avLst>
          </a:prstGeom>
          <a:solidFill>
            <a:srgbClr val="FFFFFF"/>
          </a:solidFill>
          <a:ln w="12700">
            <a:solidFill>
              <a:srgbClr val="FFFFFF"/>
            </a:solidFill>
            <a:prstDash val="solid"/>
          </a:ln>
        </p:spPr>
        <p:txBody>
          <a:bodyPr/>
          <a:lstStyle/>
          <a:p>
            <a:endParaRPr lang="en-IL"/>
          </a:p>
        </p:txBody>
      </p:sp>
      <p:pic>
        <p:nvPicPr>
          <p:cNvPr id="30" name="Image 4" descr="/tmp/claude-0/-home-claude/02ea35b7-58d5-5806-896b-11c93173863e/scratchpad/build/img/image9.jpg"/>
          <p:cNvPicPr>
            <a:picLocks noChangeAspect="1"/>
          </p:cNvPicPr>
          <p:nvPr/>
        </p:nvPicPr>
        <p:blipFill>
          <a:blip r:embed="rId5"/>
          <a:stretch>
            <a:fillRect/>
          </a:stretch>
        </p:blipFill>
        <p:spPr>
          <a:xfrm>
            <a:off x="10177272" y="6995160"/>
            <a:ext cx="457200" cy="530352"/>
          </a:xfrm>
          <a:prstGeom prst="rect">
            <a:avLst/>
          </a:prstGeom>
        </p:spPr>
      </p:pic>
      <p:sp>
        <p:nvSpPr>
          <p:cNvPr id="31" name="Text 24"/>
          <p:cNvSpPr txBox="1"/>
          <p:nvPr/>
        </p:nvSpPr>
        <p:spPr>
          <a:xfrm>
            <a:off x="11164824" y="6858000"/>
            <a:ext cx="2606040" cy="804672"/>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Water utility</a:t>
            </a:r>
            <a:endParaRPr lang="en-US" sz="1600" dirty="0"/>
          </a:p>
          <a:p>
            <a:r>
              <a:rPr lang="en-IL" sz="1400" dirty="0"/>
              <a:t>Aquifer drilling · brines</a:t>
            </a:r>
            <a:endParaRPr lang="en-US" sz="1600" dirty="0"/>
          </a:p>
        </p:txBody>
      </p:sp>
      <p:sp>
        <p:nvSpPr>
          <p:cNvPr id="32"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6</a:t>
            </a:fld>
            <a:endParaRPr lang="en-US"/>
          </a:p>
        </p:txBody>
      </p:sp>
      <p:pic>
        <p:nvPicPr>
          <p:cNvPr id="34" name="Picture 33">
            <a:extLst>
              <a:ext uri="{FF2B5EF4-FFF2-40B4-BE49-F238E27FC236}">
                <a16:creationId xmlns:a16="http://schemas.microsoft.com/office/drawing/2014/main" id="{78C791FD-B96C-E97B-B13C-53C2E140E496}"/>
              </a:ext>
            </a:extLst>
          </p:cNvPr>
          <p:cNvPicPr>
            <a:picLocks noChangeAspect="1"/>
          </p:cNvPicPr>
          <p:nvPr/>
        </p:nvPicPr>
        <p:blipFill>
          <a:blip r:embed="rId6"/>
          <a:srcRect l="60395" t="7994" r="7720" b="9849"/>
          <a:stretch>
            <a:fillRect/>
          </a:stretch>
        </p:blipFill>
        <p:spPr>
          <a:xfrm>
            <a:off x="6995160" y="1715898"/>
            <a:ext cx="3530973" cy="4568924"/>
          </a:xfrm>
          <a:prstGeom prst="rect">
            <a:avLst/>
          </a:prstGeom>
        </p:spPr>
      </p:pic>
      <p:sp>
        <p:nvSpPr>
          <p:cNvPr id="36" name="TextBox 35">
            <a:extLst>
              <a:ext uri="{FF2B5EF4-FFF2-40B4-BE49-F238E27FC236}">
                <a16:creationId xmlns:a16="http://schemas.microsoft.com/office/drawing/2014/main" id="{846D5FB0-343B-ECDF-C068-568C003EB998}"/>
              </a:ext>
            </a:extLst>
          </p:cNvPr>
          <p:cNvSpPr txBox="1"/>
          <p:nvPr/>
        </p:nvSpPr>
        <p:spPr>
          <a:xfrm>
            <a:off x="6995160" y="6295545"/>
            <a:ext cx="7315200" cy="276999"/>
          </a:xfrm>
          <a:prstGeom prst="rect">
            <a:avLst/>
          </a:prstGeom>
          <a:noFill/>
        </p:spPr>
        <p:txBody>
          <a:bodyPr wrap="square">
            <a:spAutoFit/>
          </a:bodyPr>
          <a:lstStyle/>
          <a:p>
            <a:r>
              <a:rPr lang="en-IL" sz="1200" dirty="0">
                <a:solidFill>
                  <a:srgbClr val="5E7A70"/>
                </a:solidFill>
                <a:latin typeface="Arial" pitchFamily="34" charset="0"/>
                <a:cs typeface="Arial" pitchFamily="34" charset="-120"/>
              </a:rPr>
              <a:t>Real sensor data · time and depth · partial view</a:t>
            </a:r>
          </a:p>
        </p:txBody>
      </p:sp>
      <p:pic>
        <p:nvPicPr>
          <p:cNvPr id="8" name="Picture 7" descr="קובץ:Emblem of Israel.svg">
            <a:extLst>
              <a:ext uri="{FF2B5EF4-FFF2-40B4-BE49-F238E27FC236}">
                <a16:creationId xmlns:a16="http://schemas.microsoft.com/office/drawing/2014/main" id="{6B241E70-7C76-3676-1324-AC3BFD64FC2E}"/>
              </a:ext>
            </a:extLst>
          </p:cNvPr>
          <p:cNvPicPr>
            <a:picLocks noChangeAspect="1"/>
          </p:cNvPicPr>
          <p:nvPr/>
        </p:nvPicPr>
        <p:blipFill>
          <a:blip r:embed="rId7"/>
          <a:stretch>
            <a:fillRect/>
          </a:stretch>
        </p:blipFill>
        <p:spPr>
          <a:xfrm>
            <a:off x="5722747" y="6999918"/>
            <a:ext cx="459994" cy="571314"/>
          </a:xfrm>
          <a:prstGeom prst="rect">
            <a:avLst/>
          </a:prstGeom>
        </p:spPr>
      </p:pic>
    </p:spTree>
    <p:extLst>
      <p:ext uri="{BB962C8B-B14F-4D97-AF65-F5344CB8AC3E}">
        <p14:creationId xmlns:p14="http://schemas.microsoft.com/office/powerpoint/2010/main" val="2256688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777240" y="502920"/>
            <a:ext cx="10972800" cy="365760"/>
          </a:xfrm>
          <a:prstGeom prst="rect">
            <a:avLst/>
          </a:prstGeom>
          <a:noFill/>
          <a:ln/>
        </p:spPr>
        <p:txBody>
          <a:bodyPr wrap="square" lIns="0" tIns="0" rIns="0" bIns="0" rtlCol="0" anchor="ctr"/>
          <a:lstStyle/>
          <a:p>
            <a:pPr marL="0" indent="0">
              <a:buNone/>
            </a:pPr>
            <a:r>
              <a:rPr lang="en-US" sz="1500" b="1" kern="0" spc="100" dirty="0">
                <a:solidFill>
                  <a:srgbClr val="1FB480"/>
                </a:solidFill>
                <a:latin typeface="Arial" pitchFamily="34" charset="0"/>
                <a:ea typeface="Arial" pitchFamily="34" charset="-122"/>
                <a:cs typeface="Arial" pitchFamily="34" charset="-120"/>
              </a:rPr>
              <a:t>COMPETITIVE LANDSCAPE</a:t>
            </a:r>
            <a:endParaRPr lang="en-US" sz="1500" dirty="0"/>
          </a:p>
        </p:txBody>
      </p:sp>
      <p:sp>
        <p:nvSpPr>
          <p:cNvPr id="3" name="Title"/>
          <p:cNvSpPr txBox="1"/>
          <p:nvPr/>
        </p:nvSpPr>
        <p:spPr>
          <a:xfrm>
            <a:off x="777240" y="1005840"/>
            <a:ext cx="12435840" cy="731520"/>
          </a:xfrm>
          <a:prstGeom prst="rect">
            <a:avLst/>
          </a:prstGeom>
          <a:noFill/>
          <a:ln/>
        </p:spPr>
        <p:txBody>
          <a:bodyPr wrap="square" lIns="0" tIns="0" rIns="0" bIns="0" rtlCol="0" anchor="ctr"/>
          <a:lstStyle/>
          <a:p>
            <a:pPr marL="0" indent="0">
              <a:buNone/>
            </a:pPr>
            <a:r>
              <a:rPr lang="en-US" sz="3200" b="1" dirty="0">
                <a:solidFill>
                  <a:srgbClr val="063D2B"/>
                </a:solidFill>
                <a:latin typeface="Arial" pitchFamily="34" charset="0"/>
                <a:ea typeface="Arial" pitchFamily="34" charset="-122"/>
                <a:cs typeface="Arial" pitchFamily="34" charset="-120"/>
              </a:rPr>
              <a:t>Today you choose: rich data or scalable economics.</a:t>
            </a:r>
            <a:endParaRPr lang="en-US" sz="3200" dirty="0"/>
          </a:p>
        </p:txBody>
      </p:sp>
      <p:sp>
        <p:nvSpPr>
          <p:cNvPr id="40" name="Matrix frame"/>
          <p:cNvSpPr/>
          <p:nvPr/>
        </p:nvSpPr>
        <p:spPr>
          <a:xfrm>
            <a:off x="1271016" y="2108200"/>
            <a:ext cx="12582144" cy="4724400"/>
          </a:xfrm>
          <a:prstGeom prst="rect">
            <a:avLst/>
          </a:prstGeom>
          <a:solidFill>
            <a:srgbClr val="FFFFFF"/>
          </a:solidFill>
          <a:ln w="12700">
            <a:solidFill>
              <a:srgbClr val="DDEDE7"/>
            </a:solidFill>
          </a:ln>
        </p:spPr>
        <p:txBody>
          <a:bodyPr wrap="square" lIns="0" tIns="0" rIns="0" bIns="0" rtlCol="0" anchor="t">
            <a:noAutofit/>
          </a:bodyPr>
          <a:lstStyle/>
          <a:p>
            <a:endParaRPr lang="en-US" sz="1000" dirty="0"/>
          </a:p>
        </p:txBody>
      </p:sp>
      <p:sp>
        <p:nvSpPr>
          <p:cNvPr id="41" name="White space"/>
          <p:cNvSpPr/>
          <p:nvPr/>
        </p:nvSpPr>
        <p:spPr>
          <a:xfrm>
            <a:off x="7562088" y="2108200"/>
            <a:ext cx="6291072" cy="2362200"/>
          </a:xfrm>
          <a:prstGeom prst="rect">
            <a:avLst/>
          </a:prstGeom>
          <a:solidFill>
            <a:srgbClr val="E3F4EC"/>
          </a:solidFill>
          <a:ln>
            <a:noFill/>
          </a:ln>
        </p:spPr>
        <p:txBody>
          <a:bodyPr wrap="square" lIns="0" tIns="0" rIns="0" bIns="0" rtlCol="0" anchor="t">
            <a:noAutofit/>
          </a:bodyPr>
          <a:lstStyle/>
          <a:p>
            <a:endParaRPr lang="en-US" sz="1000" dirty="0"/>
          </a:p>
        </p:txBody>
      </p:sp>
      <p:cxnSp>
        <p:nvCxnSpPr>
          <p:cNvPr id="42" name="Axis line"/>
          <p:cNvCxnSpPr/>
          <p:nvPr/>
        </p:nvCxnSpPr>
        <p:spPr>
          <a:xfrm>
            <a:off x="7562088" y="2108200"/>
            <a:ext cx="0" cy="4724400"/>
          </a:xfrm>
          <a:prstGeom prst="line">
            <a:avLst/>
          </a:prstGeom>
          <a:ln w="12700">
            <a:solidFill>
              <a:srgbClr val="C9DED6"/>
            </a:solidFill>
          </a:ln>
        </p:spPr>
      </p:cxnSp>
      <p:cxnSp>
        <p:nvCxnSpPr>
          <p:cNvPr id="43" name="Axis line"/>
          <p:cNvCxnSpPr/>
          <p:nvPr/>
        </p:nvCxnSpPr>
        <p:spPr>
          <a:xfrm>
            <a:off x="1271016" y="4470400"/>
            <a:ext cx="12582144" cy="0"/>
          </a:xfrm>
          <a:prstGeom prst="line">
            <a:avLst/>
          </a:prstGeom>
          <a:ln w="12700">
            <a:solidFill>
              <a:srgbClr val="C9DED6"/>
            </a:solidFill>
          </a:ln>
        </p:spPr>
      </p:cxnSp>
      <p:sp>
        <p:nvSpPr>
          <p:cNvPr id="44" name="Q rich-costly"/>
          <p:cNvSpPr txBox="1"/>
          <p:nvPr/>
        </p:nvSpPr>
        <p:spPr>
          <a:xfrm>
            <a:off x="1591055" y="2311400"/>
            <a:ext cx="5650992" cy="1955800"/>
          </a:xfrm>
          <a:prstGeom prst="rect">
            <a:avLst/>
          </a:prstGeom>
          <a:noFill/>
          <a:ln>
            <a:noFill/>
          </a:ln>
        </p:spPr>
        <p:txBody>
          <a:bodyPr wrap="square" lIns="0" tIns="0" rIns="0" bIns="0" rtlCol="0" anchor="ctr">
            <a:noAutofit/>
          </a:bodyPr>
          <a:lstStyle/>
          <a:p>
            <a:pPr marL="0" indent="0" algn="l">
              <a:buNone/>
            </a:pPr>
            <a:r>
              <a:rPr lang="en-US" sz="1700" b="1" dirty="0">
                <a:solidFill>
                  <a:srgbClr val="2B3A35"/>
                </a:solidFill>
                <a:latin typeface="Arial" pitchFamily="34" charset="0"/>
                <a:cs typeface="Arial" pitchFamily="34" charset="-120"/>
              </a:rPr>
              <a:t>Instruments &amp; scans</a:t>
            </a:r>
          </a:p>
          <a:p>
            <a:pPr marL="0" indent="0" algn="l">
              <a:spcBef>
                <a:spcPts val="400"/>
              </a:spcBef>
              <a:buNone/>
            </a:pPr>
            <a:r>
              <a:rPr lang="en-US" sz="1400" dirty="0">
                <a:solidFill>
                  <a:srgbClr val="55675F"/>
                </a:solidFill>
                <a:latin typeface="Arial" pitchFamily="34" charset="0"/>
                <a:cs typeface="Arial" pitchFamily="34" charset="-120"/>
              </a:rPr>
              <a:t>Rich data, high cost per hole</a:t>
            </a:r>
          </a:p>
        </p:txBody>
      </p:sp>
      <p:sp>
        <p:nvSpPr>
          <p:cNvPr id="45" name="Q manual"/>
          <p:cNvSpPr txBox="1"/>
          <p:nvPr/>
        </p:nvSpPr>
        <p:spPr>
          <a:xfrm>
            <a:off x="1591055" y="4673600"/>
            <a:ext cx="5650992" cy="1955800"/>
          </a:xfrm>
          <a:prstGeom prst="rect">
            <a:avLst/>
          </a:prstGeom>
          <a:noFill/>
          <a:ln>
            <a:noFill/>
          </a:ln>
        </p:spPr>
        <p:txBody>
          <a:bodyPr wrap="square" lIns="0" tIns="0" rIns="0" bIns="0" rtlCol="0" anchor="ctr">
            <a:noAutofit/>
          </a:bodyPr>
          <a:lstStyle/>
          <a:p>
            <a:pPr marL="0" indent="0" algn="l">
              <a:buNone/>
            </a:pPr>
            <a:r>
              <a:rPr lang="en-US" sz="1700" b="1" dirty="0">
                <a:solidFill>
                  <a:srgbClr val="2B3A35"/>
                </a:solidFill>
                <a:latin typeface="Arial" pitchFamily="34" charset="0"/>
                <a:cs typeface="Arial" pitchFamily="34" charset="-120"/>
              </a:rPr>
              <a:t>Manual logging</a:t>
            </a:r>
          </a:p>
          <a:p>
            <a:pPr marL="0" indent="0" algn="l">
              <a:spcBef>
                <a:spcPts val="400"/>
              </a:spcBef>
              <a:buNone/>
            </a:pPr>
            <a:r>
              <a:rPr lang="en-US" sz="1400" dirty="0">
                <a:solidFill>
                  <a:srgbClr val="55675F"/>
                </a:solidFill>
                <a:latin typeface="Arial" pitchFamily="34" charset="0"/>
                <a:cs typeface="Arial" pitchFamily="34" charset="-120"/>
              </a:rPr>
              <a:t>Slow, subjective, inconsistent</a:t>
            </a:r>
          </a:p>
        </p:txBody>
      </p:sp>
      <p:sp>
        <p:nvSpPr>
          <p:cNvPr id="46" name="Q software"/>
          <p:cNvSpPr txBox="1"/>
          <p:nvPr/>
        </p:nvSpPr>
        <p:spPr>
          <a:xfrm>
            <a:off x="7882127" y="4673600"/>
            <a:ext cx="5650992" cy="1955800"/>
          </a:xfrm>
          <a:prstGeom prst="rect">
            <a:avLst/>
          </a:prstGeom>
          <a:noFill/>
          <a:ln>
            <a:noFill/>
          </a:ln>
        </p:spPr>
        <p:txBody>
          <a:bodyPr wrap="square" lIns="0" tIns="0" rIns="0" bIns="0" rtlCol="0" anchor="ctr">
            <a:noAutofit/>
          </a:bodyPr>
          <a:lstStyle/>
          <a:p>
            <a:pPr marL="0" indent="0" algn="l">
              <a:buNone/>
            </a:pPr>
            <a:r>
              <a:rPr lang="en-US" sz="1700" b="1" dirty="0">
                <a:solidFill>
                  <a:srgbClr val="2B3A35"/>
                </a:solidFill>
                <a:latin typeface="Arial" pitchFamily="34" charset="0"/>
                <a:cs typeface="Arial" pitchFamily="34" charset="-120"/>
              </a:rPr>
              <a:t>Software on existing data</a:t>
            </a:r>
          </a:p>
          <a:p>
            <a:pPr marL="0" indent="0" algn="l">
              <a:spcBef>
                <a:spcPts val="400"/>
              </a:spcBef>
              <a:buNone/>
            </a:pPr>
            <a:r>
              <a:rPr lang="en-US" sz="1400" dirty="0">
                <a:solidFill>
                  <a:srgbClr val="55675F"/>
                </a:solidFill>
                <a:latin typeface="Arial" pitchFamily="34" charset="0"/>
                <a:cs typeface="Arial" pitchFamily="34" charset="-120"/>
              </a:rPr>
              <a:t>Scales, but only reads what was already collected</a:t>
            </a:r>
          </a:p>
        </p:txBody>
      </p:sp>
      <p:sp>
        <p:nvSpPr>
          <p:cNvPr id="47" name="White space label"/>
          <p:cNvSpPr txBox="1"/>
          <p:nvPr/>
        </p:nvSpPr>
        <p:spPr>
          <a:xfrm>
            <a:off x="7882127" y="2286000"/>
            <a:ext cx="5650992" cy="279400"/>
          </a:xfrm>
          <a:prstGeom prst="rect">
            <a:avLst/>
          </a:prstGeom>
          <a:noFill/>
          <a:ln>
            <a:noFill/>
          </a:ln>
        </p:spPr>
        <p:txBody>
          <a:bodyPr wrap="square" lIns="0" tIns="0" rIns="0" bIns="0" rtlCol="0" anchor="t">
            <a:noAutofit/>
          </a:bodyPr>
          <a:lstStyle/>
          <a:p>
            <a:pPr marL="0" indent="0" algn="r">
              <a:buNone/>
            </a:pPr>
            <a:r>
              <a:rPr lang="en-US" sz="1400" b="1" dirty="0">
                <a:solidFill>
                  <a:srgbClr val="1FB480"/>
                </a:solidFill>
                <a:latin typeface="Arial" pitchFamily="34" charset="0"/>
                <a:cs typeface="Arial" pitchFamily="34" charset="-120"/>
              </a:rPr>
              <a:t>THE WHITE SPACE</a:t>
            </a:r>
          </a:p>
        </p:txBody>
      </p:sp>
      <p:sp>
        <p:nvSpPr>
          <p:cNvPr id="48" name="Drillzy star"/>
          <p:cNvSpPr/>
          <p:nvPr/>
        </p:nvSpPr>
        <p:spPr>
          <a:xfrm>
            <a:off x="9765792" y="2907792"/>
            <a:ext cx="457200" cy="457200"/>
          </a:xfrm>
          <a:prstGeom prst="star5">
            <a:avLst/>
          </a:prstGeom>
          <a:solidFill>
            <a:srgbClr val="063D2B"/>
          </a:solidFill>
          <a:ln>
            <a:noFill/>
          </a:ln>
        </p:spPr>
        <p:txBody>
          <a:bodyPr wrap="square" lIns="0" tIns="0" rIns="0" bIns="0" rtlCol="0" anchor="t">
            <a:noAutofit/>
          </a:bodyPr>
          <a:lstStyle/>
          <a:p>
            <a:endParaRPr lang="en-US" sz="1000" dirty="0"/>
          </a:p>
        </p:txBody>
      </p:sp>
      <p:sp>
        <p:nvSpPr>
          <p:cNvPr id="49" name="Drillzy label"/>
          <p:cNvSpPr txBox="1"/>
          <p:nvPr/>
        </p:nvSpPr>
        <p:spPr>
          <a:xfrm>
            <a:off x="10360152" y="2852928"/>
            <a:ext cx="2743200" cy="548640"/>
          </a:xfrm>
          <a:prstGeom prst="rect">
            <a:avLst/>
          </a:prstGeom>
          <a:noFill/>
          <a:ln>
            <a:noFill/>
          </a:ln>
        </p:spPr>
        <p:txBody>
          <a:bodyPr wrap="square" lIns="0" tIns="0" rIns="0" bIns="0" rtlCol="0" anchor="ctr">
            <a:noAutofit/>
          </a:bodyPr>
          <a:lstStyle/>
          <a:p>
            <a:pPr marL="0" indent="0" algn="l">
              <a:buNone/>
            </a:pPr>
            <a:r>
              <a:rPr lang="en-US" sz="2600" b="1" dirty="0">
                <a:solidFill>
                  <a:srgbClr val="063D2B"/>
                </a:solidFill>
                <a:latin typeface="Arial" pitchFamily="34" charset="0"/>
                <a:cs typeface="Arial" pitchFamily="34" charset="-120"/>
              </a:rPr>
              <a:t>Drillzy</a:t>
            </a:r>
          </a:p>
        </p:txBody>
      </p:sp>
      <p:sp>
        <p:nvSpPr>
          <p:cNvPr id="50" name="Y axis"/>
          <p:cNvSpPr txBox="1"/>
          <p:nvPr/>
        </p:nvSpPr>
        <p:spPr>
          <a:xfrm>
            <a:off x="774700" y="2108200"/>
            <a:ext cx="381000" cy="4724400"/>
          </a:xfrm>
          <a:prstGeom prst="rect">
            <a:avLst/>
          </a:prstGeom>
          <a:noFill/>
          <a:ln>
            <a:noFill/>
          </a:ln>
        </p:spPr>
        <p:txBody>
          <a:bodyPr vert="vert270" wrap="square" lIns="0" tIns="0" rIns="0" bIns="0" rtlCol="0" anchor="ctr">
            <a:noAutofit/>
          </a:bodyPr>
          <a:lstStyle/>
          <a:p>
            <a:pPr marL="0" indent="0" algn="ctr">
              <a:buNone/>
            </a:pPr>
            <a:r>
              <a:rPr lang="en-US" sz="1400" b="1" dirty="0">
                <a:solidFill>
                  <a:srgbClr val="063D2B"/>
                </a:solidFill>
                <a:latin typeface="Arial" pitchFamily="34" charset="0"/>
                <a:cs typeface="Arial" pitchFamily="34" charset="-120"/>
              </a:rPr>
              <a:t>Richness of subsurface data  →</a:t>
            </a:r>
          </a:p>
        </p:txBody>
      </p:sp>
      <p:sp>
        <p:nvSpPr>
          <p:cNvPr id="51" name="X axis"/>
          <p:cNvSpPr txBox="1"/>
          <p:nvPr/>
        </p:nvSpPr>
        <p:spPr>
          <a:xfrm>
            <a:off x="1271016" y="6934200"/>
            <a:ext cx="12582144" cy="279400"/>
          </a:xfrm>
          <a:prstGeom prst="rect">
            <a:avLst/>
          </a:prstGeom>
          <a:noFill/>
          <a:ln>
            <a:noFill/>
          </a:ln>
        </p:spPr>
        <p:txBody>
          <a:bodyPr wrap="square" lIns="0" tIns="0" rIns="0" bIns="0" rtlCol="0" anchor="ctr">
            <a:noAutofit/>
          </a:bodyPr>
          <a:lstStyle/>
          <a:p>
            <a:pPr marL="0" indent="0" algn="ctr">
              <a:buNone/>
            </a:pPr>
            <a:r>
              <a:rPr lang="en-US" sz="1400" b="1" dirty="0">
                <a:solidFill>
                  <a:srgbClr val="063D2B"/>
                </a:solidFill>
                <a:latin typeface="Arial" pitchFamily="34" charset="0"/>
                <a:cs typeface="Arial" pitchFamily="34" charset="-120"/>
              </a:rPr>
              <a:t>Cost-effectiveness per meter  →</a:t>
            </a:r>
          </a:p>
        </p:txBody>
      </p:sp>
      <p:sp>
        <p:nvSpPr>
          <p:cNvPr id="25" name="Slide Number Placeholder 0"/>
          <p:cNvSpPr>
            <a:spLocks noGrp="1"/>
          </p:cNvSpPr>
          <p:nvPr>
            <p:ph type="sldNum" sz="quarter" idx="4294967295"/>
          </p:nvPr>
        </p:nvSpPr>
        <p:spPr>
          <a:xfrm>
            <a:off x="13167360" y="7818120"/>
            <a:ext cx="9144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7</a:t>
            </a:fld>
            <a:endParaRPr lang="en-US"/>
          </a:p>
        </p:txBody>
      </p:sp>
      <p:sp>
        <p:nvSpPr>
          <p:cNvPr id="52" name="Drillzy line"/>
          <p:cNvSpPr txBox="1"/>
          <p:nvPr/>
        </p:nvSpPr>
        <p:spPr>
          <a:xfrm>
            <a:off x="7882127" y="3611880"/>
            <a:ext cx="5650992" cy="731520"/>
          </a:xfrm>
          <a:prstGeom prst="rect">
            <a:avLst/>
          </a:prstGeom>
          <a:noFill/>
        </p:spPr>
        <p:txBody>
          <a:bodyPr wrap="square" lIns="0" tIns="0" rIns="0" bIns="0" anchor="t">
            <a:spAutoFit/>
          </a:bodyPr>
          <a:lstStyle/>
          <a:p>
            <a:pPr algn="ctr"/>
            <a:r>
              <a:rPr sz="1700" b="0" i="0">
                <a:solidFill>
                  <a:srgbClr val="2B3A35"/>
                </a:solidFill>
                <a:latin typeface="Arial"/>
              </a:rPr>
              <a:t>Rich data, on every hole, any rig</a:t>
            </a:r>
          </a:p>
        </p:txBody>
      </p:sp>
    </p:spTree>
    <p:extLst>
      <p:ext uri="{BB962C8B-B14F-4D97-AF65-F5344CB8AC3E}">
        <p14:creationId xmlns:p14="http://schemas.microsoft.com/office/powerpoint/2010/main" val="2707571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4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A person wearing a purple shirt&#10;&#10;AI-generated content may be incorrect.">
            <a:extLst>
              <a:ext uri="{FF2B5EF4-FFF2-40B4-BE49-F238E27FC236}">
                <a16:creationId xmlns:a16="http://schemas.microsoft.com/office/drawing/2014/main" id="{4DE25E3D-B1A4-2BF3-182D-A50E97C6BD16}"/>
              </a:ext>
            </a:extLst>
          </p:cNvPr>
          <p:cNvPicPr>
            <a:picLocks noChangeAspect="1"/>
          </p:cNvPicPr>
          <p:nvPr/>
        </p:nvPicPr>
        <p:blipFill>
          <a:blip r:embed="rId3"/>
          <a:srcRect l="18621" t="8312" r="18621" b="29123"/>
          <a:stretch>
            <a:fillRect/>
          </a:stretch>
        </p:blipFill>
        <p:spPr>
          <a:xfrm>
            <a:off x="11635316" y="3225801"/>
            <a:ext cx="1361018" cy="1356814"/>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sp>
        <p:nvSpPr>
          <p:cNvPr id="23" name="Rounded Rectangle 22"/>
          <p:cNvSpPr/>
          <p:nvPr/>
        </p:nvSpPr>
        <p:spPr>
          <a:xfrm>
            <a:off x="10775950" y="1905000"/>
            <a:ext cx="3079750" cy="5461000"/>
          </a:xfrm>
          <a:prstGeom prst="roundRect">
            <a:avLst>
              <a:gd name="adj" fmla="val 494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3" name="Logo divider 4"/>
          <p:cNvCxnSpPr/>
          <p:nvPr/>
        </p:nvCxnSpPr>
        <p:spPr>
          <a:xfrm>
            <a:off x="11029950" y="5355769"/>
            <a:ext cx="2571750" cy="0"/>
          </a:xfrm>
          <a:prstGeom prst="line">
            <a:avLst/>
          </a:prstGeom>
          <a:ln w="9525">
            <a:solidFill>
              <a:srgbClr val="E0E0E0"/>
            </a:solidFill>
          </a:ln>
        </p:spPr>
      </p:cxnSp>
      <p:pic>
        <p:nvPicPr>
          <p:cNvPr id="35" name="Picture 34">
            <a:extLst>
              <a:ext uri="{FF2B5EF4-FFF2-40B4-BE49-F238E27FC236}">
                <a16:creationId xmlns:a16="http://schemas.microsoft.com/office/drawing/2014/main" id="{EE3EEC4E-E93D-F2FF-3E67-6EE5B8C9E698}"/>
              </a:ext>
            </a:extLst>
          </p:cNvPr>
          <p:cNvPicPr>
            <a:picLocks noChangeAspect="1"/>
          </p:cNvPicPr>
          <p:nvPr/>
        </p:nvPicPr>
        <p:blipFill>
          <a:blip r:embed="rId4"/>
          <a:srcRect l="6770" t="-151" r="6276" b="30729"/>
          <a:stretch>
            <a:fillRect/>
          </a:stretch>
        </p:blipFill>
        <p:spPr>
          <a:xfrm>
            <a:off x="11635316" y="3225801"/>
            <a:ext cx="1361018" cy="1357798"/>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sp>
        <p:nvSpPr>
          <p:cNvPr id="8" name="Rounded Rectangle 7"/>
          <p:cNvSpPr/>
          <p:nvPr/>
        </p:nvSpPr>
        <p:spPr>
          <a:xfrm>
            <a:off x="774700" y="1905000"/>
            <a:ext cx="3079750" cy="5461000"/>
          </a:xfrm>
          <a:prstGeom prst="roundRect">
            <a:avLst>
              <a:gd name="adj" fmla="val 494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0" name="Logo divider 1"/>
          <p:cNvCxnSpPr/>
          <p:nvPr/>
        </p:nvCxnSpPr>
        <p:spPr>
          <a:xfrm>
            <a:off x="1028700" y="5355769"/>
            <a:ext cx="2571750" cy="0"/>
          </a:xfrm>
          <a:prstGeom prst="line">
            <a:avLst/>
          </a:prstGeom>
          <a:ln w="9525">
            <a:solidFill>
              <a:srgbClr val="E0E0E0"/>
            </a:solidFill>
          </a:ln>
        </p:spPr>
      </p:cxnSp>
      <p:sp>
        <p:nvSpPr>
          <p:cNvPr id="3" name="Rectangle 2"/>
          <p:cNvSpPr/>
          <p:nvPr/>
        </p:nvSpPr>
        <p:spPr>
          <a:xfrm>
            <a:off x="0" y="0"/>
            <a:ext cx="164592" cy="8229600"/>
          </a:xfrm>
          <a:prstGeom prst="rect">
            <a:avLst/>
          </a:prstGeom>
          <a:solidFill>
            <a:srgbClr val="1FB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502920"/>
            <a:ext cx="10972800" cy="365760"/>
          </a:xfrm>
          <a:prstGeom prst="rect">
            <a:avLst/>
          </a:prstGeom>
          <a:noFill/>
        </p:spPr>
        <p:txBody>
          <a:bodyPr wrap="square" anchor="t">
            <a:spAutoFit/>
          </a:bodyPr>
          <a:lstStyle/>
          <a:p>
            <a:pPr algn="l">
              <a:lnSpc>
                <a:spcPct val="100000"/>
              </a:lnSpc>
            </a:pPr>
            <a:r>
              <a:rPr b="1" dirty="0">
                <a:solidFill>
                  <a:srgbClr val="1FB480"/>
                </a:solidFill>
                <a:latin typeface="Arial"/>
              </a:rPr>
              <a:t>TEAM</a:t>
            </a:r>
          </a:p>
        </p:txBody>
      </p:sp>
      <p:sp>
        <p:nvSpPr>
          <p:cNvPr id="5" name="TextBox 4"/>
          <p:cNvSpPr txBox="1"/>
          <p:nvPr/>
        </p:nvSpPr>
        <p:spPr>
          <a:xfrm>
            <a:off x="758952" y="1186365"/>
            <a:ext cx="13719810" cy="523220"/>
          </a:xfrm>
          <a:prstGeom prst="rect">
            <a:avLst/>
          </a:prstGeom>
          <a:noFill/>
        </p:spPr>
        <p:txBody>
          <a:bodyPr wrap="square" anchor="t">
            <a:spAutoFit/>
          </a:bodyPr>
          <a:lstStyle/>
          <a:p>
            <a:pPr algn="l">
              <a:lnSpc>
                <a:spcPct val="100000"/>
              </a:lnSpc>
            </a:pPr>
            <a:r>
              <a:rPr sz="2800" b="1" dirty="0">
                <a:solidFill>
                  <a:srgbClr val="06382A"/>
                </a:solidFill>
                <a:latin typeface="Arial"/>
              </a:rPr>
              <a:t>A rare combination: four disciplines, one team.</a:t>
            </a:r>
          </a:p>
        </p:txBody>
      </p:sp>
      <p:sp>
        <p:nvSpPr>
          <p:cNvPr id="6" name="TextBox 5"/>
          <p:cNvSpPr txBox="1"/>
          <p:nvPr/>
        </p:nvSpPr>
        <p:spPr>
          <a:xfrm>
            <a:off x="777240" y="7818120"/>
            <a:ext cx="5486400" cy="320040"/>
          </a:xfrm>
          <a:prstGeom prst="rect">
            <a:avLst/>
          </a:prstGeom>
          <a:noFill/>
        </p:spPr>
        <p:txBody>
          <a:bodyPr wrap="square" anchor="t">
            <a:spAutoFit/>
          </a:bodyPr>
          <a:lstStyle/>
          <a:p>
            <a:pPr algn="l">
              <a:lnSpc>
                <a:spcPct val="100000"/>
              </a:lnSpc>
            </a:pPr>
            <a:r>
              <a:rPr sz="1350" b="0">
                <a:solidFill>
                  <a:srgbClr val="748C83"/>
                </a:solidFill>
                <a:latin typeface="Arial"/>
              </a:rPr>
              <a:t>Drillzy.AI · 2026</a:t>
            </a:r>
          </a:p>
        </p:txBody>
      </p:sp>
      <p:sp>
        <p:nvSpPr>
          <p:cNvPr id="7" name="TextBox 6"/>
          <p:cNvSpPr txBox="1"/>
          <p:nvPr/>
        </p:nvSpPr>
        <p:spPr>
          <a:xfrm>
            <a:off x="13167360" y="7818120"/>
            <a:ext cx="914400" cy="320040"/>
          </a:xfrm>
          <a:prstGeom prst="rect">
            <a:avLst/>
          </a:prstGeom>
          <a:noFill/>
        </p:spPr>
        <p:txBody>
          <a:bodyPr wrap="square" anchor="t">
            <a:spAutoFit/>
          </a:bodyPr>
          <a:lstStyle/>
          <a:p>
            <a:pPr algn="r">
              <a:lnSpc>
                <a:spcPct val="100000"/>
              </a:lnSpc>
            </a:pPr>
            <a:fld id="{B6F15528-21DE-4FAA-801E-634DDDAF4B2B}" type="slidenum">
              <a:rPr sz="1350" b="0">
                <a:solidFill>
                  <a:srgbClr val="748C83"/>
                </a:solidFill>
                <a:latin typeface="Arial"/>
              </a:rPr>
              <a:t>8</a:t>
            </a:fld>
            <a:endParaRPr sz="1350" b="0">
              <a:solidFill>
                <a:srgbClr val="748C83"/>
              </a:solidFill>
              <a:latin typeface="Arial"/>
            </a:endParaRPr>
          </a:p>
        </p:txBody>
      </p:sp>
      <p:sp>
        <p:nvSpPr>
          <p:cNvPr id="9" name="Rounded Rectangle 8"/>
          <p:cNvSpPr/>
          <p:nvPr/>
        </p:nvSpPr>
        <p:spPr>
          <a:xfrm>
            <a:off x="774700" y="2006601"/>
            <a:ext cx="3079750" cy="609600"/>
          </a:xfrm>
          <a:prstGeom prst="round2SameRect">
            <a:avLst>
              <a:gd name="adj1" fmla="val 25000"/>
              <a:gd name="adj2" fmla="val 0"/>
            </a:avLst>
          </a:prstGeom>
          <a:solidFill>
            <a:srgbClr val="006747"/>
          </a:solidFill>
          <a:ln>
            <a:noFill/>
          </a:ln>
          <a:effectLst/>
        </p:spPr>
        <p:style>
          <a:lnRef idx="1">
            <a:schemeClr val="accent1"/>
          </a:lnRef>
          <a:fillRef idx="3">
            <a:schemeClr val="accent1"/>
          </a:fillRef>
          <a:effectRef idx="2">
            <a:schemeClr val="accent1"/>
          </a:effectRef>
          <a:fontRef idx="minor">
            <a:schemeClr val="lt1"/>
          </a:fontRef>
        </p:style>
        <p:txBody>
          <a:bodyPr wrap="none" lIns="127000" tIns="0" rIns="127000" bIns="0" rtlCol="0" anchor="ctr">
            <a:noAutofit/>
          </a:bodyPr>
          <a:lstStyle/>
          <a:p>
            <a:pPr algn="ctr"/>
            <a:r>
              <a:rPr lang="en-US" sz="1400" b="1" dirty="0">
                <a:solidFill>
                  <a:srgbClr val="FFFFFF"/>
                </a:solidFill>
                <a:latin typeface="Arial"/>
              </a:rPr>
              <a:t>Geoscience &amp; Data</a:t>
            </a:r>
          </a:p>
        </p:txBody>
      </p:sp>
      <p:sp>
        <p:nvSpPr>
          <p:cNvPr id="10" name="TextBox 9"/>
          <p:cNvSpPr txBox="1"/>
          <p:nvPr/>
        </p:nvSpPr>
        <p:spPr>
          <a:xfrm>
            <a:off x="927100" y="2768601"/>
            <a:ext cx="2774950" cy="330200"/>
          </a:xfrm>
          <a:prstGeom prst="rect">
            <a:avLst/>
          </a:prstGeom>
          <a:noFill/>
        </p:spPr>
        <p:txBody>
          <a:bodyPr wrap="square" anchor="t">
            <a:spAutoFit/>
          </a:bodyPr>
          <a:lstStyle/>
          <a:p>
            <a:pPr algn="ctr">
              <a:lnSpc>
                <a:spcPct val="100000"/>
              </a:lnSpc>
            </a:pPr>
            <a:r>
              <a:rPr sz="1550" b="1">
                <a:solidFill>
                  <a:srgbClr val="06382A"/>
                </a:solidFill>
                <a:latin typeface="Arial"/>
              </a:rPr>
              <a:t>Yair Gordin, Ph.D.</a:t>
            </a:r>
          </a:p>
        </p:txBody>
      </p:sp>
      <p:sp>
        <p:nvSpPr>
          <p:cNvPr id="11" name="TextBox 10"/>
          <p:cNvSpPr txBox="1"/>
          <p:nvPr/>
        </p:nvSpPr>
        <p:spPr>
          <a:xfrm>
            <a:off x="927100" y="4699001"/>
            <a:ext cx="2774950" cy="317500"/>
          </a:xfrm>
          <a:prstGeom prst="rect">
            <a:avLst/>
          </a:prstGeom>
          <a:noFill/>
        </p:spPr>
        <p:txBody>
          <a:bodyPr wrap="square" anchor="t">
            <a:spAutoFit/>
          </a:bodyPr>
          <a:lstStyle/>
          <a:p>
            <a:pPr algn="ctr">
              <a:lnSpc>
                <a:spcPct val="100000"/>
              </a:lnSpc>
            </a:pPr>
            <a:r>
              <a:rPr sz="1350" b="1" dirty="0">
                <a:solidFill>
                  <a:srgbClr val="1FB480"/>
                </a:solidFill>
                <a:latin typeface="Arial"/>
              </a:rPr>
              <a:t>Founder &amp; CEO</a:t>
            </a:r>
          </a:p>
        </p:txBody>
      </p:sp>
      <p:sp>
        <p:nvSpPr>
          <p:cNvPr id="13" name="Rounded Rectangle 12"/>
          <p:cNvSpPr/>
          <p:nvPr/>
        </p:nvSpPr>
        <p:spPr>
          <a:xfrm>
            <a:off x="4108450" y="1905000"/>
            <a:ext cx="3079750" cy="5461000"/>
          </a:xfrm>
          <a:prstGeom prst="roundRect">
            <a:avLst>
              <a:gd name="adj" fmla="val 494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1" name="Logo divider 2"/>
          <p:cNvCxnSpPr/>
          <p:nvPr/>
        </p:nvCxnSpPr>
        <p:spPr>
          <a:xfrm>
            <a:off x="4362450" y="5355769"/>
            <a:ext cx="2571750" cy="0"/>
          </a:xfrm>
          <a:prstGeom prst="line">
            <a:avLst/>
          </a:prstGeom>
          <a:ln w="9525">
            <a:solidFill>
              <a:srgbClr val="E0E0E0"/>
            </a:solidFill>
          </a:ln>
        </p:spPr>
      </p:cxnSp>
      <p:sp>
        <p:nvSpPr>
          <p:cNvPr id="14" name="Rounded Rectangle 13"/>
          <p:cNvSpPr/>
          <p:nvPr/>
        </p:nvSpPr>
        <p:spPr>
          <a:xfrm>
            <a:off x="4108450" y="2006601"/>
            <a:ext cx="3079750" cy="609600"/>
          </a:xfrm>
          <a:prstGeom prst="round2SameRect">
            <a:avLst>
              <a:gd name="adj1" fmla="val 25000"/>
              <a:gd name="adj2" fmla="val 0"/>
            </a:avLst>
          </a:prstGeom>
          <a:solidFill>
            <a:srgbClr val="006747"/>
          </a:solidFill>
          <a:ln>
            <a:noFill/>
          </a:ln>
          <a:effectLst/>
        </p:spPr>
        <p:style>
          <a:lnRef idx="1">
            <a:schemeClr val="accent1"/>
          </a:lnRef>
          <a:fillRef idx="3">
            <a:schemeClr val="accent1"/>
          </a:fillRef>
          <a:effectRef idx="2">
            <a:schemeClr val="accent1"/>
          </a:effectRef>
          <a:fontRef idx="minor">
            <a:schemeClr val="lt1"/>
          </a:fontRef>
        </p:style>
        <p:txBody>
          <a:bodyPr wrap="none" lIns="127000" tIns="0" rIns="127000" bIns="0" rtlCol="0" anchor="ctr">
            <a:noAutofit/>
          </a:bodyPr>
          <a:lstStyle/>
          <a:p>
            <a:pPr algn="ctr"/>
            <a:r>
              <a:rPr lang="en-US" sz="1400" b="1" dirty="0">
                <a:solidFill>
                  <a:srgbClr val="FFFFFF"/>
                </a:solidFill>
                <a:latin typeface="Arial"/>
              </a:rPr>
              <a:t>AI &amp; Algorithms</a:t>
            </a:r>
          </a:p>
        </p:txBody>
      </p:sp>
      <p:sp>
        <p:nvSpPr>
          <p:cNvPr id="15" name="TextBox 14"/>
          <p:cNvSpPr txBox="1"/>
          <p:nvPr/>
        </p:nvSpPr>
        <p:spPr>
          <a:xfrm>
            <a:off x="4260850" y="2768601"/>
            <a:ext cx="2774950" cy="330200"/>
          </a:xfrm>
          <a:prstGeom prst="rect">
            <a:avLst/>
          </a:prstGeom>
          <a:noFill/>
        </p:spPr>
        <p:txBody>
          <a:bodyPr wrap="square" anchor="t">
            <a:spAutoFit/>
          </a:bodyPr>
          <a:lstStyle/>
          <a:p>
            <a:pPr algn="ctr">
              <a:lnSpc>
                <a:spcPct val="100000"/>
              </a:lnSpc>
            </a:pPr>
            <a:r>
              <a:rPr sz="1550" b="1">
                <a:solidFill>
                  <a:srgbClr val="06382A"/>
                </a:solidFill>
                <a:latin typeface="Arial"/>
              </a:rPr>
              <a:t>Asaf Nebenzal, Ph.D.</a:t>
            </a:r>
          </a:p>
        </p:txBody>
      </p:sp>
      <p:sp>
        <p:nvSpPr>
          <p:cNvPr id="16" name="TextBox 15"/>
          <p:cNvSpPr txBox="1"/>
          <p:nvPr/>
        </p:nvSpPr>
        <p:spPr>
          <a:xfrm>
            <a:off x="4260850" y="4699001"/>
            <a:ext cx="2774950" cy="317500"/>
          </a:xfrm>
          <a:prstGeom prst="rect">
            <a:avLst/>
          </a:prstGeom>
          <a:noFill/>
        </p:spPr>
        <p:txBody>
          <a:bodyPr wrap="square" anchor="t">
            <a:spAutoFit/>
          </a:bodyPr>
          <a:lstStyle/>
          <a:p>
            <a:pPr algn="ctr">
              <a:lnSpc>
                <a:spcPct val="100000"/>
              </a:lnSpc>
            </a:pPr>
            <a:r>
              <a:rPr sz="1350" b="1" dirty="0">
                <a:solidFill>
                  <a:srgbClr val="1FB480"/>
                </a:solidFill>
                <a:latin typeface="Arial"/>
              </a:rPr>
              <a:t>CTO</a:t>
            </a:r>
          </a:p>
        </p:txBody>
      </p:sp>
      <p:sp>
        <p:nvSpPr>
          <p:cNvPr id="18" name="Rounded Rectangle 17"/>
          <p:cNvSpPr/>
          <p:nvPr/>
        </p:nvSpPr>
        <p:spPr>
          <a:xfrm>
            <a:off x="7442200" y="1905000"/>
            <a:ext cx="3079750" cy="5461000"/>
          </a:xfrm>
          <a:prstGeom prst="roundRect">
            <a:avLst>
              <a:gd name="adj" fmla="val 494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2" name="Logo divider 3"/>
          <p:cNvCxnSpPr/>
          <p:nvPr/>
        </p:nvCxnSpPr>
        <p:spPr>
          <a:xfrm>
            <a:off x="7696200" y="5355769"/>
            <a:ext cx="2571750" cy="0"/>
          </a:xfrm>
          <a:prstGeom prst="line">
            <a:avLst/>
          </a:prstGeom>
          <a:ln w="9525">
            <a:solidFill>
              <a:srgbClr val="E0E0E0"/>
            </a:solidFill>
          </a:ln>
        </p:spPr>
      </p:cxnSp>
      <p:sp>
        <p:nvSpPr>
          <p:cNvPr id="19" name="Rounded Rectangle 18"/>
          <p:cNvSpPr/>
          <p:nvPr/>
        </p:nvSpPr>
        <p:spPr>
          <a:xfrm>
            <a:off x="7442200" y="2006601"/>
            <a:ext cx="3079750" cy="609600"/>
          </a:xfrm>
          <a:prstGeom prst="round2SameRect">
            <a:avLst>
              <a:gd name="adj1" fmla="val 25000"/>
              <a:gd name="adj2" fmla="val 0"/>
            </a:avLst>
          </a:prstGeom>
          <a:solidFill>
            <a:srgbClr val="006747"/>
          </a:solidFill>
          <a:ln>
            <a:noFill/>
          </a:ln>
          <a:effectLst/>
        </p:spPr>
        <p:style>
          <a:lnRef idx="1">
            <a:schemeClr val="accent1"/>
          </a:lnRef>
          <a:fillRef idx="3">
            <a:schemeClr val="accent1"/>
          </a:fillRef>
          <a:effectRef idx="2">
            <a:schemeClr val="accent1"/>
          </a:effectRef>
          <a:fontRef idx="minor">
            <a:schemeClr val="lt1"/>
          </a:fontRef>
        </p:style>
        <p:txBody>
          <a:bodyPr wrap="none" lIns="127000" tIns="0" rIns="127000" bIns="0" rtlCol="0" anchor="ctr">
            <a:noAutofit/>
          </a:bodyPr>
          <a:lstStyle/>
          <a:p>
            <a:pPr algn="ctr"/>
            <a:r>
              <a:rPr lang="en-US" sz="1400" b="1" dirty="0">
                <a:solidFill>
                  <a:srgbClr val="FFFFFF"/>
                </a:solidFill>
                <a:latin typeface="Arial"/>
              </a:rPr>
              <a:t>Hardware &amp; Sensors</a:t>
            </a:r>
          </a:p>
        </p:txBody>
      </p:sp>
      <p:sp>
        <p:nvSpPr>
          <p:cNvPr id="20" name="TextBox 19"/>
          <p:cNvSpPr txBox="1"/>
          <p:nvPr/>
        </p:nvSpPr>
        <p:spPr>
          <a:xfrm>
            <a:off x="7594600" y="2768601"/>
            <a:ext cx="2774950" cy="330200"/>
          </a:xfrm>
          <a:prstGeom prst="rect">
            <a:avLst/>
          </a:prstGeom>
          <a:noFill/>
        </p:spPr>
        <p:txBody>
          <a:bodyPr wrap="square" anchor="t">
            <a:spAutoFit/>
          </a:bodyPr>
          <a:lstStyle/>
          <a:p>
            <a:pPr algn="ctr">
              <a:lnSpc>
                <a:spcPct val="100000"/>
              </a:lnSpc>
            </a:pPr>
            <a:r>
              <a:rPr sz="1550" b="1">
                <a:solidFill>
                  <a:srgbClr val="06382A"/>
                </a:solidFill>
                <a:latin typeface="Arial"/>
              </a:rPr>
              <a:t>Achikam Dadon</a:t>
            </a:r>
          </a:p>
        </p:txBody>
      </p:sp>
      <p:sp>
        <p:nvSpPr>
          <p:cNvPr id="21" name="TextBox 20"/>
          <p:cNvSpPr txBox="1"/>
          <p:nvPr/>
        </p:nvSpPr>
        <p:spPr>
          <a:xfrm>
            <a:off x="7594600" y="4699001"/>
            <a:ext cx="2774950" cy="317500"/>
          </a:xfrm>
          <a:prstGeom prst="rect">
            <a:avLst/>
          </a:prstGeom>
          <a:noFill/>
        </p:spPr>
        <p:txBody>
          <a:bodyPr wrap="square" anchor="t">
            <a:spAutoFit/>
          </a:bodyPr>
          <a:lstStyle/>
          <a:p>
            <a:pPr algn="ctr">
              <a:lnSpc>
                <a:spcPct val="100000"/>
              </a:lnSpc>
            </a:pPr>
            <a:r>
              <a:rPr sz="1350" b="1" dirty="0">
                <a:solidFill>
                  <a:srgbClr val="1FB480"/>
                </a:solidFill>
                <a:latin typeface="Arial"/>
              </a:rPr>
              <a:t>Senior Engineer</a:t>
            </a:r>
          </a:p>
        </p:txBody>
      </p:sp>
      <p:sp>
        <p:nvSpPr>
          <p:cNvPr id="24" name="Rounded Rectangle 23"/>
          <p:cNvSpPr/>
          <p:nvPr/>
        </p:nvSpPr>
        <p:spPr>
          <a:xfrm>
            <a:off x="10775950" y="2006601"/>
            <a:ext cx="3079750" cy="609600"/>
          </a:xfrm>
          <a:prstGeom prst="round2SameRect">
            <a:avLst>
              <a:gd name="adj1" fmla="val 25000"/>
              <a:gd name="adj2" fmla="val 0"/>
            </a:avLst>
          </a:prstGeom>
          <a:solidFill>
            <a:srgbClr val="006747"/>
          </a:solidFill>
          <a:ln>
            <a:noFill/>
          </a:ln>
          <a:effectLst/>
        </p:spPr>
        <p:style>
          <a:lnRef idx="1">
            <a:schemeClr val="accent1"/>
          </a:lnRef>
          <a:fillRef idx="3">
            <a:schemeClr val="accent1"/>
          </a:fillRef>
          <a:effectRef idx="2">
            <a:schemeClr val="accent1"/>
          </a:effectRef>
          <a:fontRef idx="minor">
            <a:schemeClr val="lt1"/>
          </a:fontRef>
        </p:style>
        <p:txBody>
          <a:bodyPr wrap="none" lIns="127000" tIns="0" rIns="127000" bIns="0" rtlCol="0" anchor="ctr">
            <a:noAutofit/>
          </a:bodyPr>
          <a:lstStyle/>
          <a:p>
            <a:pPr algn="ctr"/>
            <a:r>
              <a:rPr lang="en-US" sz="1400" b="1" dirty="0">
                <a:solidFill>
                  <a:srgbClr val="FFFFFF"/>
                </a:solidFill>
                <a:latin typeface="Arial"/>
              </a:rPr>
              <a:t>Field Experience &amp; Biz Dev</a:t>
            </a:r>
          </a:p>
        </p:txBody>
      </p:sp>
      <p:sp>
        <p:nvSpPr>
          <p:cNvPr id="25" name="TextBox 24"/>
          <p:cNvSpPr txBox="1"/>
          <p:nvPr/>
        </p:nvSpPr>
        <p:spPr>
          <a:xfrm>
            <a:off x="10928350" y="2768601"/>
            <a:ext cx="2774950" cy="330200"/>
          </a:xfrm>
          <a:prstGeom prst="rect">
            <a:avLst/>
          </a:prstGeom>
          <a:noFill/>
        </p:spPr>
        <p:txBody>
          <a:bodyPr wrap="square" anchor="t">
            <a:spAutoFit/>
          </a:bodyPr>
          <a:lstStyle/>
          <a:p>
            <a:pPr algn="ctr">
              <a:lnSpc>
                <a:spcPct val="100000"/>
              </a:lnSpc>
            </a:pPr>
            <a:r>
              <a:rPr sz="1550" b="1">
                <a:solidFill>
                  <a:srgbClr val="06382A"/>
                </a:solidFill>
                <a:latin typeface="Arial"/>
              </a:rPr>
              <a:t>Efi Holzman</a:t>
            </a:r>
          </a:p>
        </p:txBody>
      </p:sp>
      <p:sp>
        <p:nvSpPr>
          <p:cNvPr id="26" name="TextBox 25"/>
          <p:cNvSpPr txBox="1"/>
          <p:nvPr/>
        </p:nvSpPr>
        <p:spPr>
          <a:xfrm>
            <a:off x="10928350" y="4699001"/>
            <a:ext cx="2774950" cy="317500"/>
          </a:xfrm>
          <a:prstGeom prst="rect">
            <a:avLst/>
          </a:prstGeom>
          <a:noFill/>
        </p:spPr>
        <p:txBody>
          <a:bodyPr wrap="square" anchor="t">
            <a:spAutoFit/>
          </a:bodyPr>
          <a:lstStyle/>
          <a:p>
            <a:pPr algn="ctr">
              <a:lnSpc>
                <a:spcPct val="100000"/>
              </a:lnSpc>
            </a:pPr>
            <a:r>
              <a:rPr sz="1350" b="1">
                <a:solidFill>
                  <a:srgbClr val="1FB480"/>
                </a:solidFill>
                <a:latin typeface="Arial"/>
              </a:rPr>
              <a:t>VP Growth &amp; Partnerships</a:t>
            </a:r>
          </a:p>
        </p:txBody>
      </p:sp>
      <p:sp>
        <p:nvSpPr>
          <p:cNvPr id="31" name="Freeform: Shape 15">
            <a:extLst>
              <a:ext uri="{FF2B5EF4-FFF2-40B4-BE49-F238E27FC236}">
                <a16:creationId xmlns:a16="http://schemas.microsoft.com/office/drawing/2014/main" id="{2F22EE74-6EA9-2E20-1457-79270D065649}"/>
              </a:ext>
            </a:extLst>
          </p:cNvPr>
          <p:cNvSpPr/>
          <p:nvPr/>
        </p:nvSpPr>
        <p:spPr>
          <a:xfrm>
            <a:off x="8319870" y="3225801"/>
            <a:ext cx="1324410" cy="1324412"/>
          </a:xfrm>
          <a:custGeom>
            <a:avLst/>
            <a:gdLst>
              <a:gd name="connsiteX0" fmla="*/ 1403435 w 2806869"/>
              <a:gd name="connsiteY0" fmla="*/ 0 h 2806870"/>
              <a:gd name="connsiteX1" fmla="*/ 2799624 w 2806869"/>
              <a:gd name="connsiteY1" fmla="*/ 1259942 h 2806870"/>
              <a:gd name="connsiteX2" fmla="*/ 2806869 w 2806869"/>
              <a:gd name="connsiteY2" fmla="*/ 1403415 h 2806870"/>
              <a:gd name="connsiteX3" fmla="*/ 2806869 w 2806869"/>
              <a:gd name="connsiteY3" fmla="*/ 1403455 h 2806870"/>
              <a:gd name="connsiteX4" fmla="*/ 2799624 w 2806869"/>
              <a:gd name="connsiteY4" fmla="*/ 1546928 h 2806870"/>
              <a:gd name="connsiteX5" fmla="*/ 1403435 w 2806869"/>
              <a:gd name="connsiteY5" fmla="*/ 2806870 h 2806870"/>
              <a:gd name="connsiteX6" fmla="*/ 0 w 2806869"/>
              <a:gd name="connsiteY6" fmla="*/ 1403435 h 2806870"/>
              <a:gd name="connsiteX7" fmla="*/ 1403435 w 2806869"/>
              <a:gd name="connsiteY7" fmla="*/ 0 h 280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06869" h="2806870">
                <a:moveTo>
                  <a:pt x="1403435" y="0"/>
                </a:moveTo>
                <a:cubicBezTo>
                  <a:pt x="2130088" y="0"/>
                  <a:pt x="2727754" y="552251"/>
                  <a:pt x="2799624" y="1259942"/>
                </a:cubicBezTo>
                <a:lnTo>
                  <a:pt x="2806869" y="1403415"/>
                </a:lnTo>
                <a:lnTo>
                  <a:pt x="2806869" y="1403455"/>
                </a:lnTo>
                <a:lnTo>
                  <a:pt x="2799624" y="1546928"/>
                </a:lnTo>
                <a:cubicBezTo>
                  <a:pt x="2727754" y="2254619"/>
                  <a:pt x="2130088" y="2806870"/>
                  <a:pt x="1403435" y="2806870"/>
                </a:cubicBezTo>
                <a:cubicBezTo>
                  <a:pt x="628339" y="2806870"/>
                  <a:pt x="0" y="2178531"/>
                  <a:pt x="0" y="1403435"/>
                </a:cubicBezTo>
                <a:cubicBezTo>
                  <a:pt x="0" y="628339"/>
                  <a:pt x="628339" y="0"/>
                  <a:pt x="1403435" y="0"/>
                </a:cubicBezTo>
                <a:close/>
              </a:path>
            </a:pathLst>
          </a:custGeom>
          <a:blipFill>
            <a:blip r:embed="rId5"/>
            <a:stretch>
              <a:fillRect l="-22658" t="-7806" r="-5394" b="-72512"/>
            </a:stretch>
          </a:blipFill>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style>
          <a:lnRef idx="2">
            <a:schemeClr val="accent1">
              <a:shade val="15000"/>
            </a:schemeClr>
          </a:lnRef>
          <a:fillRef idx="1">
            <a:schemeClr val="accent1"/>
          </a:fillRef>
          <a:effectRef idx="0">
            <a:schemeClr val="accent1"/>
          </a:effectRef>
          <a:fontRef idx="minor">
            <a:schemeClr val="lt1"/>
          </a:fontRef>
        </p:style>
        <p:txBody>
          <a:bodyPr wrap="square" rtlCol="1" anchor="ctr">
            <a:noAutofit/>
          </a:bodyPr>
          <a:lstStyle/>
          <a:p>
            <a:pPr algn="ctr"/>
            <a:endParaRPr lang="he-IL" dirty="0"/>
          </a:p>
        </p:txBody>
      </p:sp>
      <p:pic>
        <p:nvPicPr>
          <p:cNvPr id="37" name="Picture 36" descr="A person in a suit&#10;&#10;AI-generated content may be incorrect.">
            <a:extLst>
              <a:ext uri="{FF2B5EF4-FFF2-40B4-BE49-F238E27FC236}">
                <a16:creationId xmlns:a16="http://schemas.microsoft.com/office/drawing/2014/main" id="{0B43AEBF-C2AB-46D7-C2B6-B329BFC3FA3E}"/>
              </a:ext>
            </a:extLst>
          </p:cNvPr>
          <p:cNvPicPr>
            <a:picLocks noChangeAspect="1"/>
          </p:cNvPicPr>
          <p:nvPr/>
        </p:nvPicPr>
        <p:blipFill>
          <a:blip r:embed="rId6"/>
          <a:srcRect l="21338" t="16784" r="27795" b="33446"/>
          <a:stretch>
            <a:fillRect/>
          </a:stretch>
        </p:blipFill>
        <p:spPr>
          <a:xfrm>
            <a:off x="4967816" y="3225801"/>
            <a:ext cx="1361018" cy="1331666"/>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pic>
        <p:nvPicPr>
          <p:cNvPr id="56" name="Picture 55" descr="image.png"/>
          <p:cNvPicPr>
            <a:picLocks noChangeAspect="1"/>
          </p:cNvPicPr>
          <p:nvPr/>
        </p:nvPicPr>
        <p:blipFill>
          <a:blip r:embed="rId7"/>
          <a:stretch>
            <a:fillRect/>
          </a:stretch>
        </p:blipFill>
        <p:spPr>
          <a:xfrm>
            <a:off x="5956025" y="5551185"/>
            <a:ext cx="584977" cy="967039"/>
          </a:xfrm>
          <a:prstGeom prst="rect">
            <a:avLst/>
          </a:prstGeom>
        </p:spPr>
      </p:pic>
      <p:pic>
        <p:nvPicPr>
          <p:cNvPr id="57" name="Picture 56" descr="image.png"/>
          <p:cNvPicPr>
            <a:picLocks noChangeAspect="1"/>
          </p:cNvPicPr>
          <p:nvPr/>
        </p:nvPicPr>
        <p:blipFill>
          <a:blip r:embed="rId8"/>
          <a:stretch>
            <a:fillRect/>
          </a:stretch>
        </p:blipFill>
        <p:spPr>
          <a:xfrm>
            <a:off x="5612651" y="6603568"/>
            <a:ext cx="1379448" cy="331064"/>
          </a:xfrm>
          <a:prstGeom prst="rect">
            <a:avLst/>
          </a:prstGeom>
        </p:spPr>
      </p:pic>
      <p:pic>
        <p:nvPicPr>
          <p:cNvPr id="58" name="Picture 57" descr="image.png"/>
          <p:cNvPicPr>
            <a:picLocks noChangeAspect="1"/>
          </p:cNvPicPr>
          <p:nvPr/>
        </p:nvPicPr>
        <p:blipFill>
          <a:blip r:embed="rId9"/>
          <a:stretch>
            <a:fillRect/>
          </a:stretch>
        </p:blipFill>
        <p:spPr>
          <a:xfrm>
            <a:off x="4670995" y="5539924"/>
            <a:ext cx="672744" cy="622288"/>
          </a:xfrm>
          <a:prstGeom prst="rect">
            <a:avLst/>
          </a:prstGeom>
        </p:spPr>
      </p:pic>
      <p:pic>
        <p:nvPicPr>
          <p:cNvPr id="59" name="Picture 58" descr="iaf.png"/>
          <p:cNvPicPr>
            <a:picLocks noChangeAspect="1"/>
          </p:cNvPicPr>
          <p:nvPr/>
        </p:nvPicPr>
        <p:blipFill>
          <a:blip r:embed="rId10"/>
          <a:stretch>
            <a:fillRect/>
          </a:stretch>
        </p:blipFill>
        <p:spPr>
          <a:xfrm>
            <a:off x="4717561" y="6356356"/>
            <a:ext cx="591528" cy="622288"/>
          </a:xfrm>
          <a:prstGeom prst="rect">
            <a:avLst/>
          </a:prstGeom>
        </p:spPr>
      </p:pic>
      <p:pic>
        <p:nvPicPr>
          <p:cNvPr id="60" name="Picture 59" descr="image.png"/>
          <p:cNvPicPr>
            <a:picLocks noChangeAspect="1"/>
          </p:cNvPicPr>
          <p:nvPr/>
        </p:nvPicPr>
        <p:blipFill>
          <a:blip r:embed="rId11"/>
          <a:stretch>
            <a:fillRect/>
          </a:stretch>
        </p:blipFill>
        <p:spPr>
          <a:xfrm>
            <a:off x="9351621" y="5572914"/>
            <a:ext cx="556308" cy="556308"/>
          </a:xfrm>
          <a:prstGeom prst="rect">
            <a:avLst/>
          </a:prstGeom>
        </p:spPr>
      </p:pic>
      <p:pic>
        <p:nvPicPr>
          <p:cNvPr id="62" name="Picture 61" descr="image.png"/>
          <p:cNvPicPr>
            <a:picLocks noChangeAspect="1"/>
          </p:cNvPicPr>
          <p:nvPr/>
        </p:nvPicPr>
        <p:blipFill>
          <a:blip r:embed="rId12"/>
          <a:stretch>
            <a:fillRect/>
          </a:stretch>
        </p:blipFill>
        <p:spPr>
          <a:xfrm>
            <a:off x="7835136" y="6470735"/>
            <a:ext cx="1011178" cy="393530"/>
          </a:xfrm>
          <a:prstGeom prst="rect">
            <a:avLst/>
          </a:prstGeom>
        </p:spPr>
      </p:pic>
      <p:pic>
        <p:nvPicPr>
          <p:cNvPr id="63" name="Picture 62" descr="qm.png"/>
          <p:cNvPicPr>
            <a:picLocks noChangeAspect="1"/>
          </p:cNvPicPr>
          <p:nvPr/>
        </p:nvPicPr>
        <p:blipFill>
          <a:blip r:embed="rId13"/>
          <a:stretch>
            <a:fillRect/>
          </a:stretch>
        </p:blipFill>
        <p:spPr>
          <a:xfrm>
            <a:off x="9024773" y="6501968"/>
            <a:ext cx="1210004" cy="331064"/>
          </a:xfrm>
          <a:prstGeom prst="rect">
            <a:avLst/>
          </a:prstGeom>
        </p:spPr>
      </p:pic>
      <p:pic>
        <p:nvPicPr>
          <p:cNvPr id="64" name="Picture 63" descr="image.png"/>
          <p:cNvPicPr>
            <a:picLocks noChangeAspect="1"/>
          </p:cNvPicPr>
          <p:nvPr/>
        </p:nvPicPr>
        <p:blipFill>
          <a:blip r:embed="rId14"/>
          <a:stretch>
            <a:fillRect/>
          </a:stretch>
        </p:blipFill>
        <p:spPr>
          <a:xfrm>
            <a:off x="11461061" y="6436588"/>
            <a:ext cx="1728578" cy="345712"/>
          </a:xfrm>
          <a:prstGeom prst="rect">
            <a:avLst/>
          </a:prstGeom>
        </p:spPr>
      </p:pic>
      <p:pic>
        <p:nvPicPr>
          <p:cNvPr id="65" name="Picture 64" descr="sapiens.png"/>
          <p:cNvPicPr>
            <a:picLocks noChangeAspect="1"/>
          </p:cNvPicPr>
          <p:nvPr/>
        </p:nvPicPr>
        <p:blipFill>
          <a:blip r:embed="rId15"/>
          <a:stretch>
            <a:fillRect/>
          </a:stretch>
        </p:blipFill>
        <p:spPr>
          <a:xfrm>
            <a:off x="11461061" y="5702778"/>
            <a:ext cx="1728578" cy="441722"/>
          </a:xfrm>
          <a:prstGeom prst="rect">
            <a:avLst/>
          </a:prstGeom>
        </p:spPr>
      </p:pic>
      <p:pic>
        <p:nvPicPr>
          <p:cNvPr id="53" name="Picture 52">
            <a:extLst>
              <a:ext uri="{FF2B5EF4-FFF2-40B4-BE49-F238E27FC236}">
                <a16:creationId xmlns:a16="http://schemas.microsoft.com/office/drawing/2014/main" id="{5C5654A1-3E67-8B5B-3F14-803BB0375403}"/>
              </a:ext>
            </a:extLst>
          </p:cNvPr>
          <p:cNvPicPr>
            <a:picLocks noChangeAspect="1"/>
          </p:cNvPicPr>
          <p:nvPr/>
        </p:nvPicPr>
        <p:blipFill>
          <a:blip r:embed="rId16"/>
          <a:srcRect l="12986" t="6510" r="13939" b="35371"/>
          <a:stretch>
            <a:fillRect/>
          </a:stretch>
        </p:blipFill>
        <p:spPr>
          <a:xfrm>
            <a:off x="1623326" y="3225801"/>
            <a:ext cx="1382498" cy="1373928"/>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pic>
        <p:nvPicPr>
          <p:cNvPr id="40" name="Picture 39">
            <a:extLst>
              <a:ext uri="{FF2B5EF4-FFF2-40B4-BE49-F238E27FC236}">
                <a16:creationId xmlns:a16="http://schemas.microsoft.com/office/drawing/2014/main" id="{BDB1D23F-A95C-B6EB-ABFD-953B2E26DC81}"/>
              </a:ext>
            </a:extLst>
          </p:cNvPr>
          <p:cNvPicPr>
            <a:picLocks noChangeAspect="1"/>
          </p:cNvPicPr>
          <p:nvPr/>
        </p:nvPicPr>
        <p:blipFill>
          <a:blip r:embed="rId17"/>
          <a:srcRect l="6881" r="6881" b="30229"/>
          <a:stretch>
            <a:fillRect/>
          </a:stretch>
        </p:blipFill>
        <p:spPr>
          <a:xfrm>
            <a:off x="11637625" y="3225801"/>
            <a:ext cx="1356400" cy="1371242"/>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pic>
        <p:nvPicPr>
          <p:cNvPr id="43" name="Picture 42" descr="קובץ:Tel Aviv university logo - Hebrew.png">
            <a:extLst>
              <a:ext uri="{FF2B5EF4-FFF2-40B4-BE49-F238E27FC236}">
                <a16:creationId xmlns:a16="http://schemas.microsoft.com/office/drawing/2014/main" id="{13730596-9BB0-10A3-3D2B-A6BAC3D62AA4}"/>
              </a:ext>
            </a:extLst>
          </p:cNvPr>
          <p:cNvPicPr>
            <a:picLocks noChangeAspect="1"/>
          </p:cNvPicPr>
          <p:nvPr/>
        </p:nvPicPr>
        <p:blipFill>
          <a:blip r:embed="rId18"/>
          <a:stretch>
            <a:fillRect/>
          </a:stretch>
        </p:blipFill>
        <p:spPr>
          <a:xfrm>
            <a:off x="7766305" y="5539924"/>
            <a:ext cx="1148840" cy="622288"/>
          </a:xfrm>
          <a:prstGeom prst="rect">
            <a:avLst/>
          </a:prstGeom>
        </p:spPr>
      </p:pic>
      <p:pic>
        <p:nvPicPr>
          <p:cNvPr id="30" name="Picture 29">
            <a:extLst>
              <a:ext uri="{FF2B5EF4-FFF2-40B4-BE49-F238E27FC236}">
                <a16:creationId xmlns:a16="http://schemas.microsoft.com/office/drawing/2014/main" id="{C79A746A-EAFA-24E5-CC80-D80714B72B62}"/>
              </a:ext>
            </a:extLst>
          </p:cNvPr>
          <p:cNvPicPr>
            <a:picLocks noChangeAspect="1"/>
          </p:cNvPicPr>
          <p:nvPr/>
        </p:nvPicPr>
        <p:blipFill>
          <a:blip r:embed="rId19"/>
          <a:stretch>
            <a:fillRect/>
          </a:stretch>
        </p:blipFill>
        <p:spPr>
          <a:xfrm>
            <a:off x="13048341" y="279400"/>
            <a:ext cx="1072688" cy="670430"/>
          </a:xfrm>
          <a:prstGeom prst="rect">
            <a:avLst/>
          </a:prstGeom>
        </p:spPr>
      </p:pic>
      <p:sp>
        <p:nvSpPr>
          <p:cNvPr id="17" name="TextBox 16">
            <a:extLst>
              <a:ext uri="{FF2B5EF4-FFF2-40B4-BE49-F238E27FC236}">
                <a16:creationId xmlns:a16="http://schemas.microsoft.com/office/drawing/2014/main" id="{C336DED7-DBDA-0562-6350-396AF4B35EBF}"/>
              </a:ext>
            </a:extLst>
          </p:cNvPr>
          <p:cNvSpPr txBox="1"/>
          <p:nvPr/>
        </p:nvSpPr>
        <p:spPr>
          <a:xfrm>
            <a:off x="9117084" y="6069108"/>
            <a:ext cx="1025382" cy="307777"/>
          </a:xfrm>
          <a:prstGeom prst="rect">
            <a:avLst/>
          </a:prstGeom>
          <a:noFill/>
        </p:spPr>
        <p:txBody>
          <a:bodyPr wrap="square" anchor="t">
            <a:spAutoFit/>
          </a:bodyPr>
          <a:lstStyle/>
          <a:p>
            <a:pPr algn="ctr">
              <a:lnSpc>
                <a:spcPct val="100000"/>
              </a:lnSpc>
            </a:pPr>
            <a:r>
              <a:rPr lang="he-IL" sz="1400" b="1" dirty="0">
                <a:solidFill>
                  <a:srgbClr val="037F23"/>
                </a:solidFill>
                <a:latin typeface="Arial"/>
              </a:rPr>
              <a:t>8200</a:t>
            </a:r>
            <a:endParaRPr sz="1400" b="1" dirty="0">
              <a:solidFill>
                <a:srgbClr val="037F23"/>
              </a:solidFill>
              <a:latin typeface="Arial"/>
            </a:endParaRPr>
          </a:p>
        </p:txBody>
      </p:sp>
      <p:pic>
        <p:nvPicPr>
          <p:cNvPr id="22" name="Picture 21" descr="openu.png">
            <a:extLst>
              <a:ext uri="{FF2B5EF4-FFF2-40B4-BE49-F238E27FC236}">
                <a16:creationId xmlns:a16="http://schemas.microsoft.com/office/drawing/2014/main" id="{566FA8A3-EDAE-57F9-AE7E-7F17AE368001}"/>
              </a:ext>
            </a:extLst>
          </p:cNvPr>
          <p:cNvPicPr>
            <a:picLocks noChangeAspect="1"/>
          </p:cNvPicPr>
          <p:nvPr/>
        </p:nvPicPr>
        <p:blipFill>
          <a:blip r:embed="rId20"/>
          <a:stretch>
            <a:fillRect/>
          </a:stretch>
        </p:blipFill>
        <p:spPr>
          <a:xfrm>
            <a:off x="1547172" y="6376885"/>
            <a:ext cx="679188" cy="624004"/>
          </a:xfrm>
          <a:prstGeom prst="rect">
            <a:avLst/>
          </a:prstGeom>
        </p:spPr>
      </p:pic>
      <p:pic>
        <p:nvPicPr>
          <p:cNvPr id="28" name="Picture 27" descr="image.png">
            <a:extLst>
              <a:ext uri="{FF2B5EF4-FFF2-40B4-BE49-F238E27FC236}">
                <a16:creationId xmlns:a16="http://schemas.microsoft.com/office/drawing/2014/main" id="{C4B2E2AF-6AF1-9189-AF3C-25BB5848C1E5}"/>
              </a:ext>
            </a:extLst>
          </p:cNvPr>
          <p:cNvPicPr>
            <a:picLocks noChangeAspect="1"/>
          </p:cNvPicPr>
          <p:nvPr/>
        </p:nvPicPr>
        <p:blipFill>
          <a:blip r:embed="rId21"/>
          <a:srcRect l="74500"/>
          <a:stretch>
            <a:fillRect/>
          </a:stretch>
        </p:blipFill>
        <p:spPr>
          <a:xfrm>
            <a:off x="2736466" y="5600089"/>
            <a:ext cx="690976" cy="671782"/>
          </a:xfrm>
          <a:prstGeom prst="rect">
            <a:avLst/>
          </a:prstGeom>
        </p:spPr>
      </p:pic>
      <p:pic>
        <p:nvPicPr>
          <p:cNvPr id="32" name="Picture 31" descr="matrix.png">
            <a:extLst>
              <a:ext uri="{FF2B5EF4-FFF2-40B4-BE49-F238E27FC236}">
                <a16:creationId xmlns:a16="http://schemas.microsoft.com/office/drawing/2014/main" id="{CE31F4C3-E0E0-D2C0-8B17-9349B4407A17}"/>
              </a:ext>
            </a:extLst>
          </p:cNvPr>
          <p:cNvPicPr>
            <a:picLocks noChangeAspect="1"/>
          </p:cNvPicPr>
          <p:nvPr/>
        </p:nvPicPr>
        <p:blipFill>
          <a:blip r:embed="rId22"/>
          <a:stretch>
            <a:fillRect/>
          </a:stretch>
        </p:blipFill>
        <p:spPr>
          <a:xfrm>
            <a:off x="1127043" y="5619681"/>
            <a:ext cx="1429168" cy="539000"/>
          </a:xfrm>
          <a:prstGeom prst="rect">
            <a:avLst/>
          </a:prstGeom>
        </p:spPr>
      </p:pic>
      <p:pic>
        <p:nvPicPr>
          <p:cNvPr id="36" name="Geo-Log logo">
            <a:extLst>
              <a:ext uri="{FF2B5EF4-FFF2-40B4-BE49-F238E27FC236}">
                <a16:creationId xmlns:a16="http://schemas.microsoft.com/office/drawing/2014/main" id="{57F724E3-AD81-5173-DBF3-4F804435EE73}"/>
              </a:ext>
            </a:extLst>
          </p:cNvPr>
          <p:cNvPicPr>
            <a:picLocks noChangeAspect="1"/>
          </p:cNvPicPr>
          <p:nvPr/>
        </p:nvPicPr>
        <p:blipFill>
          <a:blip r:embed="rId23"/>
          <a:srcRect l="23000" t="16000" r="23000" b="30000"/>
          <a:stretch>
            <a:fillRect/>
          </a:stretch>
        </p:blipFill>
        <p:spPr>
          <a:xfrm>
            <a:off x="2772822" y="6489268"/>
            <a:ext cx="558800" cy="558800"/>
          </a:xfrm>
          <a:prstGeom prst="rect">
            <a:avLst/>
          </a:prstGeom>
        </p:spPr>
      </p:pic>
    </p:spTree>
    <p:extLst>
      <p:ext uri="{BB962C8B-B14F-4D97-AF65-F5344CB8AC3E}">
        <p14:creationId xmlns:p14="http://schemas.microsoft.com/office/powerpoint/2010/main" val="1830407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Closing image" descr="/tmp/claude-0/-home-claude/02ea35b7-58d5-5806-896b-11c93173863e/scratchpad/build/img/image11.jp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64592" cy="8229600"/>
          </a:xfrm>
          <a:prstGeom prst="rect">
            <a:avLst/>
          </a:prstGeom>
          <a:solidFill>
            <a:srgbClr val="1FB480"/>
          </a:solidFill>
          <a:ln w="12700">
            <a:solidFill>
              <a:srgbClr val="1FB480"/>
            </a:solidFill>
            <a:prstDash val="solid"/>
          </a:ln>
        </p:spPr>
        <p:txBody>
          <a:bodyPr/>
          <a:lstStyle/>
          <a:p>
            <a:endParaRPr lang="en-IL"/>
          </a:p>
        </p:txBody>
      </p:sp>
      <p:pic>
        <p:nvPicPr>
          <p:cNvPr id="4" name="Logo" descr="/tmp/claude-0/-home-claude/02ea35b7-58d5-5806-896b-11c93173863e/scratchpad/build/img/image2.png"/>
          <p:cNvPicPr>
            <a:picLocks noChangeAspect="1"/>
          </p:cNvPicPr>
          <p:nvPr/>
        </p:nvPicPr>
        <p:blipFill>
          <a:blip r:embed="rId4"/>
          <a:stretch>
            <a:fillRect/>
          </a:stretch>
        </p:blipFill>
        <p:spPr>
          <a:xfrm>
            <a:off x="736600" y="508000"/>
            <a:ext cx="1460500" cy="914400"/>
          </a:xfrm>
          <a:prstGeom prst="rect">
            <a:avLst/>
          </a:prstGeom>
        </p:spPr>
      </p:pic>
      <p:sp>
        <p:nvSpPr>
          <p:cNvPr id="5" name="Text 1"/>
          <p:cNvSpPr txBox="1"/>
          <p:nvPr/>
        </p:nvSpPr>
        <p:spPr>
          <a:xfrm>
            <a:off x="777240" y="1554480"/>
            <a:ext cx="7315200" cy="82296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Certainty underground.</a:t>
            </a:r>
            <a:endParaRPr lang="en-US" sz="4400" dirty="0"/>
          </a:p>
        </p:txBody>
      </p:sp>
      <p:sp>
        <p:nvSpPr>
          <p:cNvPr id="6" name="Text 2"/>
          <p:cNvSpPr txBox="1"/>
          <p:nvPr/>
        </p:nvSpPr>
        <p:spPr>
          <a:xfrm>
            <a:off x="777240" y="2450592"/>
            <a:ext cx="7315200" cy="457200"/>
          </a:xfrm>
          <a:prstGeom prst="rect">
            <a:avLst/>
          </a:prstGeom>
          <a:noFill/>
          <a:ln/>
        </p:spPr>
        <p:txBody>
          <a:bodyPr wrap="square" lIns="0" tIns="0" rIns="0" bIns="0" rtlCol="0" anchor="ctr"/>
          <a:lstStyle/>
          <a:p>
            <a:pPr marL="0" indent="0">
              <a:buNone/>
            </a:pPr>
            <a:r>
              <a:rPr lang="en-US" sz="1900" dirty="0">
                <a:solidFill>
                  <a:srgbClr val="DDEDE7"/>
                </a:solidFill>
                <a:latin typeface="Arial" pitchFamily="34" charset="0"/>
                <a:ea typeface="Arial" pitchFamily="34" charset="-122"/>
                <a:cs typeface="Arial" pitchFamily="34" charset="-120"/>
              </a:rPr>
              <a:t>Every meter drilled improves the next decision.</a:t>
            </a:r>
            <a:endParaRPr lang="en-US" sz="1900" dirty="0"/>
          </a:p>
        </p:txBody>
      </p:sp>
      <p:sp>
        <p:nvSpPr>
          <p:cNvPr id="7" name="Text 3"/>
          <p:cNvSpPr txBox="1"/>
          <p:nvPr/>
        </p:nvSpPr>
        <p:spPr>
          <a:xfrm>
            <a:off x="777240" y="6629400"/>
            <a:ext cx="5486400" cy="365760"/>
          </a:xfrm>
          <a:prstGeom prst="rect">
            <a:avLst/>
          </a:prstGeom>
          <a:noFill/>
          <a:ln/>
        </p:spPr>
        <p:txBody>
          <a:bodyPr wrap="square" lIns="0" tIns="0" rIns="0" bIns="0" rtlCol="0" anchor="ctr"/>
          <a:lstStyle/>
          <a:p>
            <a:pPr marL="0" indent="0">
              <a:buNone/>
            </a:pPr>
            <a:r>
              <a:rPr lang="en-US" sz="1300" b="1" kern="0" spc="100" dirty="0">
                <a:solidFill>
                  <a:srgbClr val="2EC488"/>
                </a:solidFill>
                <a:latin typeface="Arial" pitchFamily="34" charset="0"/>
                <a:ea typeface="Arial" pitchFamily="34" charset="-122"/>
                <a:cs typeface="Arial" pitchFamily="34" charset="-120"/>
              </a:rPr>
              <a:t>WE ARE LOOKING FOR</a:t>
            </a:r>
            <a:endParaRPr lang="en-US" sz="1300" dirty="0"/>
          </a:p>
        </p:txBody>
      </p:sp>
      <p:sp>
        <p:nvSpPr>
          <p:cNvPr id="8" name="Shape 4"/>
          <p:cNvSpPr/>
          <p:nvPr/>
        </p:nvSpPr>
        <p:spPr>
          <a:xfrm>
            <a:off x="777240" y="6995160"/>
            <a:ext cx="2286000" cy="502920"/>
          </a:xfrm>
          <a:prstGeom prst="roundRect">
            <a:avLst>
              <a:gd name="adj" fmla="val 50000"/>
            </a:avLst>
          </a:prstGeom>
          <a:solidFill>
            <a:srgbClr val="063D2B">
              <a:alpha val="90000"/>
            </a:srgbClr>
          </a:solidFill>
          <a:ln w="15875">
            <a:solidFill>
              <a:srgbClr val="1FB480"/>
            </a:solidFill>
            <a:prstDash val="solid"/>
          </a:ln>
        </p:spPr>
        <p:txBody>
          <a:bodyPr/>
          <a:lstStyle/>
          <a:p>
            <a:endParaRPr lang="en-IL"/>
          </a:p>
        </p:txBody>
      </p:sp>
      <p:sp>
        <p:nvSpPr>
          <p:cNvPr id="9" name="Text 5"/>
          <p:cNvSpPr txBox="1"/>
          <p:nvPr/>
        </p:nvSpPr>
        <p:spPr>
          <a:xfrm>
            <a:off x="777240" y="6995160"/>
            <a:ext cx="228600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Pilot sites</a:t>
            </a:r>
            <a:endParaRPr lang="en-US" sz="1700" dirty="0"/>
          </a:p>
        </p:txBody>
      </p:sp>
      <p:sp>
        <p:nvSpPr>
          <p:cNvPr id="10" name="Shape 6"/>
          <p:cNvSpPr/>
          <p:nvPr/>
        </p:nvSpPr>
        <p:spPr>
          <a:xfrm>
            <a:off x="3337560" y="6995160"/>
            <a:ext cx="3291840" cy="502920"/>
          </a:xfrm>
          <a:prstGeom prst="roundRect">
            <a:avLst>
              <a:gd name="adj" fmla="val 50000"/>
            </a:avLst>
          </a:prstGeom>
          <a:solidFill>
            <a:srgbClr val="063D2B">
              <a:alpha val="90000"/>
            </a:srgbClr>
          </a:solidFill>
          <a:ln w="15875">
            <a:solidFill>
              <a:srgbClr val="1FB480"/>
            </a:solidFill>
            <a:prstDash val="solid"/>
          </a:ln>
        </p:spPr>
        <p:txBody>
          <a:bodyPr/>
          <a:lstStyle/>
          <a:p>
            <a:endParaRPr lang="en-IL"/>
          </a:p>
        </p:txBody>
      </p:sp>
      <p:sp>
        <p:nvSpPr>
          <p:cNvPr id="11" name="Text 7"/>
          <p:cNvSpPr txBox="1"/>
          <p:nvPr/>
        </p:nvSpPr>
        <p:spPr>
          <a:xfrm>
            <a:off x="3337560" y="6995160"/>
            <a:ext cx="329184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Strategic partners</a:t>
            </a:r>
            <a:endParaRPr lang="en-US" sz="1700" dirty="0"/>
          </a:p>
        </p:txBody>
      </p:sp>
      <p:sp>
        <p:nvSpPr>
          <p:cNvPr id="12" name="Shape 8"/>
          <p:cNvSpPr/>
          <p:nvPr/>
        </p:nvSpPr>
        <p:spPr>
          <a:xfrm>
            <a:off x="6903720" y="6995160"/>
            <a:ext cx="2103120" cy="502920"/>
          </a:xfrm>
          <a:prstGeom prst="roundRect">
            <a:avLst>
              <a:gd name="adj" fmla="val 50000"/>
            </a:avLst>
          </a:prstGeom>
          <a:solidFill>
            <a:srgbClr val="063D2B">
              <a:alpha val="90000"/>
            </a:srgbClr>
          </a:solidFill>
          <a:ln w="15875">
            <a:solidFill>
              <a:srgbClr val="1FB480"/>
            </a:solidFill>
            <a:prstDash val="solid"/>
          </a:ln>
        </p:spPr>
        <p:txBody>
          <a:bodyPr/>
          <a:lstStyle/>
          <a:p>
            <a:endParaRPr lang="en-IL"/>
          </a:p>
        </p:txBody>
      </p:sp>
      <p:sp>
        <p:nvSpPr>
          <p:cNvPr id="13" name="Text 9"/>
          <p:cNvSpPr txBox="1"/>
          <p:nvPr/>
        </p:nvSpPr>
        <p:spPr>
          <a:xfrm>
            <a:off x="6903720" y="6995160"/>
            <a:ext cx="21031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Investors</a:t>
            </a:r>
            <a:endParaRPr lang="en-US" sz="1700" dirty="0"/>
          </a:p>
        </p:txBody>
      </p:sp>
      <p:sp>
        <p:nvSpPr>
          <p:cNvPr id="15" name="Text 11"/>
          <p:cNvSpPr txBox="1"/>
          <p:nvPr/>
        </p:nvSpPr>
        <p:spPr>
          <a:xfrm>
            <a:off x="777240" y="7589520"/>
            <a:ext cx="10972800" cy="457200"/>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Yair Gordin, Ph.D. · Founder &amp; CEO   ·   </a:t>
            </a:r>
            <a:r>
              <a:rPr lang="en-US" sz="1300" b="1" dirty="0">
                <a:solidFill>
                  <a:srgbClr val="2EC488"/>
                </a:solidFill>
                <a:latin typeface="Arial" pitchFamily="34" charset="0"/>
                <a:ea typeface="Arial" pitchFamily="34" charset="-122"/>
                <a:cs typeface="Arial" pitchFamily="34" charset="-120"/>
              </a:rPr>
              <a:t>info@drillzy.ai   ·   drillzy.ai</a:t>
            </a:r>
            <a:endParaRPr lang="en-US" sz="1300" dirty="0"/>
          </a:p>
        </p:txBody>
      </p:sp>
      <p:sp>
        <p:nvSpPr>
          <p:cNvPr id="901" name="Roadmap eyebrow"/>
          <p:cNvSpPr txBox="1"/>
          <p:nvPr/>
        </p:nvSpPr>
        <p:spPr>
          <a:xfrm>
            <a:off x="777240" y="3154680"/>
            <a:ext cx="5486400" cy="365760"/>
          </a:xfrm>
          <a:prstGeom prst="rect">
            <a:avLst/>
          </a:prstGeom>
          <a:noFill/>
          <a:ln/>
        </p:spPr>
        <p:txBody>
          <a:bodyPr wrap="square" lIns="0" tIns="0" rIns="0" bIns="0" rtlCol="0" anchor="ctr"/>
          <a:lstStyle/>
          <a:p>
            <a:pPr marL="0" indent="0" algn="l">
              <a:buNone/>
            </a:pPr>
            <a:r>
              <a:rPr lang="en-US" sz="1300" b="1" spc="100" dirty="0">
                <a:solidFill>
                  <a:srgbClr val="2EC488"/>
                </a:solidFill>
                <a:latin typeface="Arial" pitchFamily="34" charset="0"/>
                <a:ea typeface="Arial" pitchFamily="34" charset="-122"/>
                <a:cs typeface="Arial" pitchFamily="34" charset="-120"/>
              </a:rPr>
              <a:t>WHERE WE GO</a:t>
            </a:r>
          </a:p>
        </p:txBody>
      </p:sp>
      <p:sp>
        <p:nvSpPr>
          <p:cNvPr id="902" name="Roadmap card 1"/>
          <p:cNvSpPr/>
          <p:nvPr/>
        </p:nvSpPr>
        <p:spPr>
          <a:xfrm>
            <a:off x="777240" y="3547872"/>
            <a:ext cx="4206240" cy="859536"/>
          </a:xfrm>
          <a:prstGeom prst="roundRect">
            <a:avLst>
              <a:gd name="adj" fmla="val 10000"/>
            </a:avLst>
          </a:prstGeom>
          <a:solidFill>
            <a:srgbClr val="063D2B">
              <a:alpha val="92000"/>
            </a:srgbClr>
          </a:solidFill>
          <a:ln w="22225">
            <a:solidFill>
              <a:srgbClr val="1FB480"/>
            </a:solidFill>
          </a:ln>
        </p:spPr>
        <p:txBody>
          <a:bodyPr/>
          <a:lstStyle/>
          <a:p>
            <a:endParaRPr lang="en-US"/>
          </a:p>
        </p:txBody>
      </p:sp>
      <p:sp>
        <p:nvSpPr>
          <p:cNvPr id="903" name="Roadmap text 1"/>
          <p:cNvSpPr txBox="1"/>
          <p:nvPr/>
        </p:nvSpPr>
        <p:spPr>
          <a:xfrm>
            <a:off x="777240" y="3547872"/>
            <a:ext cx="4206240" cy="859536"/>
          </a:xfrm>
          <a:prstGeom prst="rect">
            <a:avLst/>
          </a:prstGeom>
          <a:noFill/>
          <a:ln/>
        </p:spPr>
        <p:txBody>
          <a:bodyPr wrap="square" lIns="146304" tIns="146304" rIns="146304" bIns="0" rtlCol="0" anchor="t"/>
          <a:lstStyle/>
          <a:p>
            <a:pPr marL="0" indent="0" algn="l">
              <a:buNone/>
            </a:pPr>
            <a:r>
              <a:rPr lang="en-US" sz="1100" b="1" spc="100" dirty="0">
                <a:solidFill>
                  <a:srgbClr val="2EC488"/>
                </a:solidFill>
                <a:latin typeface="Arial" pitchFamily="34" charset="0"/>
                <a:ea typeface="Arial" pitchFamily="34" charset="-122"/>
                <a:cs typeface="Arial" pitchFamily="34" charset="-120"/>
              </a:rPr>
              <a:t>TODAY</a:t>
            </a:r>
          </a:p>
          <a:p>
            <a:pPr marL="0" indent="0" algn="l">
              <a:spcBef>
                <a:spcPts val="300"/>
              </a:spcBef>
              <a:buNone/>
            </a:pPr>
            <a:r>
              <a:rPr lang="en-US" sz="1500" b="1" dirty="0">
                <a:solidFill>
                  <a:srgbClr val="FFFFFF"/>
                </a:solidFill>
                <a:latin typeface="Arial" pitchFamily="34" charset="0"/>
                <a:ea typeface="Arial" pitchFamily="34" charset="-122"/>
                <a:cs typeface="Arial" pitchFamily="34" charset="-120"/>
              </a:rPr>
              <a:t>Open-pit mines</a:t>
            </a:r>
          </a:p>
          <a:p>
            <a:pPr marL="0" indent="0" algn="l">
              <a:spcBef>
                <a:spcPts val="300"/>
              </a:spcBef>
              <a:buNone/>
            </a:pPr>
            <a:r>
              <a:rPr lang="en-US" sz="1200" dirty="0">
                <a:solidFill>
                  <a:srgbClr val="CFE6DD"/>
                </a:solidFill>
                <a:latin typeface="Arial" pitchFamily="34" charset="0"/>
                <a:ea typeface="Arial" pitchFamily="34" charset="-122"/>
                <a:cs typeface="Arial" pitchFamily="34" charset="-120"/>
              </a:rPr>
              <a:t>Exploration &amp; blast-hole drilling</a:t>
            </a:r>
          </a:p>
        </p:txBody>
      </p:sp>
      <p:sp>
        <p:nvSpPr>
          <p:cNvPr id="905" name="Roadmap card 2"/>
          <p:cNvSpPr/>
          <p:nvPr/>
        </p:nvSpPr>
        <p:spPr>
          <a:xfrm>
            <a:off x="777240" y="4517136"/>
            <a:ext cx="4206240" cy="859536"/>
          </a:xfrm>
          <a:prstGeom prst="roundRect">
            <a:avLst>
              <a:gd name="adj" fmla="val 10000"/>
            </a:avLst>
          </a:prstGeom>
          <a:solidFill>
            <a:srgbClr val="063D2B">
              <a:alpha val="88000"/>
            </a:srgbClr>
          </a:solidFill>
          <a:ln w="12700">
            <a:solidFill>
              <a:srgbClr val="4F7A6B"/>
            </a:solidFill>
          </a:ln>
        </p:spPr>
        <p:txBody>
          <a:bodyPr/>
          <a:lstStyle/>
          <a:p>
            <a:endParaRPr lang="en-US"/>
          </a:p>
        </p:txBody>
      </p:sp>
      <p:sp>
        <p:nvSpPr>
          <p:cNvPr id="906" name="Roadmap text 2"/>
          <p:cNvSpPr txBox="1"/>
          <p:nvPr/>
        </p:nvSpPr>
        <p:spPr>
          <a:xfrm>
            <a:off x="777240" y="4517136"/>
            <a:ext cx="4206240" cy="859536"/>
          </a:xfrm>
          <a:prstGeom prst="rect">
            <a:avLst/>
          </a:prstGeom>
          <a:noFill/>
          <a:ln/>
        </p:spPr>
        <p:txBody>
          <a:bodyPr wrap="square" lIns="146304" tIns="146304" rIns="146304" bIns="0" rtlCol="0" anchor="t"/>
          <a:lstStyle/>
          <a:p>
            <a:pPr marL="0" indent="0" algn="l">
              <a:buNone/>
            </a:pPr>
            <a:r>
              <a:rPr lang="en-US" sz="1100" b="1" spc="100" dirty="0">
                <a:solidFill>
                  <a:srgbClr val="9DB8AE"/>
                </a:solidFill>
                <a:latin typeface="Arial" pitchFamily="34" charset="0"/>
                <a:ea typeface="Arial" pitchFamily="34" charset="-122"/>
                <a:cs typeface="Arial" pitchFamily="34" charset="-120"/>
              </a:rPr>
              <a:t>NEXT</a:t>
            </a:r>
          </a:p>
          <a:p>
            <a:pPr marL="0" indent="0" algn="l">
              <a:spcBef>
                <a:spcPts val="300"/>
              </a:spcBef>
              <a:buNone/>
            </a:pPr>
            <a:r>
              <a:rPr lang="en-US" sz="1500" b="1" dirty="0">
                <a:solidFill>
                  <a:srgbClr val="FFFFFF"/>
                </a:solidFill>
                <a:latin typeface="Arial" pitchFamily="34" charset="0"/>
                <a:ea typeface="Arial" pitchFamily="34" charset="-122"/>
                <a:cs typeface="Arial" pitchFamily="34" charset="-120"/>
              </a:rPr>
              <a:t>Underground mining &amp; tunneling</a:t>
            </a:r>
          </a:p>
          <a:p>
            <a:pPr marL="0" indent="0" algn="l">
              <a:spcBef>
                <a:spcPts val="300"/>
              </a:spcBef>
              <a:buNone/>
            </a:pPr>
            <a:r>
              <a:rPr lang="en-US" sz="1200" dirty="0">
                <a:solidFill>
                  <a:srgbClr val="9DB8AE"/>
                </a:solidFill>
                <a:latin typeface="Arial" pitchFamily="34" charset="0"/>
                <a:ea typeface="Arial" pitchFamily="34" charset="-122"/>
                <a:cs typeface="Arial" pitchFamily="34" charset="-120"/>
              </a:rPr>
              <a:t>where ground risk costs most</a:t>
            </a:r>
          </a:p>
        </p:txBody>
      </p:sp>
      <p:sp>
        <p:nvSpPr>
          <p:cNvPr id="908" name="Roadmap card 3"/>
          <p:cNvSpPr/>
          <p:nvPr/>
        </p:nvSpPr>
        <p:spPr>
          <a:xfrm>
            <a:off x="777240" y="5486400"/>
            <a:ext cx="4206240" cy="1051560"/>
          </a:xfrm>
          <a:prstGeom prst="roundRect">
            <a:avLst>
              <a:gd name="adj" fmla="val 10000"/>
            </a:avLst>
          </a:prstGeom>
          <a:solidFill>
            <a:srgbClr val="063D2B">
              <a:alpha val="88000"/>
            </a:srgbClr>
          </a:solidFill>
          <a:ln w="12700">
            <a:solidFill>
              <a:srgbClr val="4F7A6B"/>
            </a:solidFill>
          </a:ln>
        </p:spPr>
        <p:txBody>
          <a:bodyPr/>
          <a:lstStyle/>
          <a:p>
            <a:endParaRPr lang="en-US"/>
          </a:p>
        </p:txBody>
      </p:sp>
      <p:sp>
        <p:nvSpPr>
          <p:cNvPr id="909" name="Roadmap text 3"/>
          <p:cNvSpPr txBox="1"/>
          <p:nvPr/>
        </p:nvSpPr>
        <p:spPr>
          <a:xfrm>
            <a:off x="777240" y="5486400"/>
            <a:ext cx="4206240" cy="1051560"/>
          </a:xfrm>
          <a:prstGeom prst="rect">
            <a:avLst/>
          </a:prstGeom>
          <a:noFill/>
          <a:ln/>
        </p:spPr>
        <p:txBody>
          <a:bodyPr wrap="square" lIns="146304" tIns="146304" rIns="146304" bIns="0" rtlCol="0" anchor="t"/>
          <a:lstStyle/>
          <a:p>
            <a:pPr marL="0" indent="0" algn="l">
              <a:buNone/>
            </a:pPr>
            <a:r>
              <a:rPr lang="en-US" sz="1100" b="1" spc="100" dirty="0">
                <a:solidFill>
                  <a:srgbClr val="9DB8AE"/>
                </a:solidFill>
                <a:latin typeface="Arial" pitchFamily="34" charset="0"/>
                <a:ea typeface="Arial" pitchFamily="34" charset="-122"/>
                <a:cs typeface="Arial" pitchFamily="34" charset="-120"/>
              </a:rPr>
              <a:t>THEN</a:t>
            </a:r>
          </a:p>
          <a:p>
            <a:pPr marL="0" indent="0" algn="l">
              <a:spcBef>
                <a:spcPts val="300"/>
              </a:spcBef>
              <a:buNone/>
            </a:pPr>
            <a:r>
              <a:rPr lang="en-US" sz="1500" b="1" dirty="0">
                <a:solidFill>
                  <a:srgbClr val="FFFFFF"/>
                </a:solidFill>
                <a:latin typeface="Arial" pitchFamily="34" charset="0"/>
                <a:ea typeface="Arial" pitchFamily="34" charset="-122"/>
                <a:cs typeface="Arial" pitchFamily="34" charset="-120"/>
              </a:rPr>
              <a:t>Construction, foundations &amp; underground infrastructure</a:t>
            </a:r>
          </a:p>
          <a:p>
            <a:pPr marL="0" indent="0" algn="l">
              <a:spcBef>
                <a:spcPts val="300"/>
              </a:spcBef>
              <a:buNone/>
            </a:pPr>
            <a:r>
              <a:rPr lang="en-US" sz="1200" dirty="0">
                <a:solidFill>
                  <a:srgbClr val="9DB8AE"/>
                </a:solidFill>
                <a:latin typeface="Arial" pitchFamily="34" charset="0"/>
                <a:ea typeface="Arial" pitchFamily="34" charset="-122"/>
                <a:cs typeface="Arial" pitchFamily="34" charset="-120"/>
              </a:rPr>
              <a:t>~$10T / yr construction industry¹</a:t>
            </a:r>
          </a:p>
        </p:txBody>
      </p:sp>
      <p:sp>
        <p:nvSpPr>
          <p:cNvPr id="910" name="Roadmap sources"/>
          <p:cNvSpPr txBox="1"/>
          <p:nvPr/>
        </p:nvSpPr>
        <p:spPr>
          <a:xfrm>
            <a:off x="777240" y="7882127"/>
            <a:ext cx="10972800" cy="228600"/>
          </a:xfrm>
          <a:prstGeom prst="rect">
            <a:avLst/>
          </a:prstGeom>
          <a:noFill/>
          <a:ln/>
        </p:spPr>
        <p:txBody>
          <a:bodyPr wrap="square" lIns="0" tIns="0" rIns="0" bIns="0" rtlCol="0" anchor="ctr"/>
          <a:lstStyle/>
          <a:p>
            <a:pPr marL="0" indent="0" algn="l">
              <a:buNone/>
            </a:pPr>
            <a:r>
              <a:rPr lang="en-US" sz="900" dirty="0">
                <a:solidFill>
                  <a:srgbClr val="9DB8AE"/>
                </a:solidFill>
                <a:latin typeface="Arial" pitchFamily="34" charset="0"/>
                <a:ea typeface="Arial" pitchFamily="34" charset="-122"/>
                <a:cs typeface="Arial" pitchFamily="34" charset="-120"/>
              </a:rPr>
              <a:t>1. Oxford Economics, Global Construction Futures (US$9.7T in 2022).</a:t>
            </a:r>
          </a:p>
        </p:txBody>
      </p:sp>
    </p:spTree>
    <p:extLst>
      <p:ext uri="{BB962C8B-B14F-4D97-AF65-F5344CB8AC3E}">
        <p14:creationId xmlns:p14="http://schemas.microsoft.com/office/powerpoint/2010/main" val="336945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5">
    <p:spTree>
      <p:nvGrpSpPr>
        <p:cNvPr id="1" name=""/>
        <p:cNvGrpSpPr/>
        <p:nvPr/>
      </p:nvGrpSpPr>
      <p:grpSpPr>
        <a:xfrm>
          <a:off x="0" y="0"/>
          <a:ext cx="0" cy="0"/>
          <a:chOff x="0" y="0"/>
          <a:chExt cx="0" cy="0"/>
        </a:xfrm>
      </p:grpSpPr>
      <p:sp>
        <p:nvSpPr>
          <p:cNvPr id="2" name="Eyebrow"/>
          <p:cNvSpPr txBox="1"/>
          <p:nvPr/>
        </p:nvSpPr>
        <p:spPr>
          <a:xfrm>
            <a:off x="777240" y="502920"/>
            <a:ext cx="10972800" cy="365760"/>
          </a:xfrm>
          <a:prstGeom prst="rect">
            <a:avLst/>
          </a:prstGeom>
          <a:noFill/>
          <a:ln/>
        </p:spPr>
        <p:txBody>
          <a:bodyPr wrap="square" lIns="0" tIns="0" rIns="0" bIns="0" rtlCol="0" anchor="ctr"/>
          <a:lstStyle/>
          <a:p>
            <a:pPr marL="0" indent="0">
              <a:buNone/>
            </a:pPr>
            <a:r>
              <a:rPr lang="en-US" sz="1500" b="1" kern="0" spc="100" dirty="0">
                <a:solidFill>
                  <a:srgbClr val="1FB480"/>
                </a:solidFill>
                <a:latin typeface="Arial" pitchFamily="34" charset="0"/>
                <a:ea typeface="Arial" pitchFamily="34" charset="-122"/>
                <a:cs typeface="Arial" pitchFamily="34" charset="-120"/>
              </a:rPr>
              <a:t>THE PLATFORM</a:t>
            </a:r>
            <a:endParaRPr lang="en-US" sz="1500" dirty="0"/>
          </a:p>
        </p:txBody>
      </p:sp>
      <p:sp>
        <p:nvSpPr>
          <p:cNvPr id="3" name="Title"/>
          <p:cNvSpPr txBox="1"/>
          <p:nvPr/>
        </p:nvSpPr>
        <p:spPr>
          <a:xfrm>
            <a:off x="777240" y="1005840"/>
            <a:ext cx="12435840" cy="731520"/>
          </a:xfrm>
          <a:prstGeom prst="rect">
            <a:avLst/>
          </a:prstGeom>
          <a:noFill/>
          <a:ln/>
        </p:spPr>
        <p:txBody>
          <a:bodyPr wrap="square" lIns="0" tIns="0" rIns="0" bIns="0" rtlCol="0" anchor="ctr"/>
          <a:lstStyle/>
          <a:p>
            <a:pPr marL="0" indent="0">
              <a:buNone/>
            </a:pPr>
            <a:r>
              <a:rPr lang="en-US" sz="3200" b="1" dirty="0">
                <a:solidFill>
                  <a:srgbClr val="063D2B"/>
                </a:solidFill>
                <a:latin typeface="Arial" pitchFamily="34" charset="0"/>
                <a:ea typeface="Arial" pitchFamily="34" charset="-122"/>
                <a:cs typeface="Arial" pitchFamily="34" charset="-120"/>
              </a:rPr>
              <a:t>One shared picture. Three decisions.</a:t>
            </a:r>
            <a:endParaRPr lang="en-US" sz="3200" dirty="0"/>
          </a:p>
        </p:txBody>
      </p:sp>
      <p:sp>
        <p:nvSpPr>
          <p:cNvPr id="4" name="Shape 2"/>
          <p:cNvSpPr/>
          <p:nvPr/>
        </p:nvSpPr>
        <p:spPr>
          <a:xfrm>
            <a:off x="11567160" y="1115568"/>
            <a:ext cx="1828800" cy="402336"/>
          </a:xfrm>
          <a:prstGeom prst="roundRect">
            <a:avLst>
              <a:gd name="adj" fmla="val 50000"/>
            </a:avLst>
          </a:prstGeom>
          <a:solidFill>
            <a:srgbClr val="F4FBF8"/>
          </a:solidFill>
          <a:ln w="12700">
            <a:solidFill>
              <a:srgbClr val="1FB480"/>
            </a:solidFill>
            <a:prstDash val="solid"/>
          </a:ln>
        </p:spPr>
        <p:txBody>
          <a:bodyPr/>
          <a:lstStyle/>
          <a:p>
            <a:endParaRPr lang="en-IL"/>
          </a:p>
        </p:txBody>
      </p:sp>
      <p:sp>
        <p:nvSpPr>
          <p:cNvPr id="5" name="Text 3"/>
          <p:cNvSpPr txBox="1"/>
          <p:nvPr/>
        </p:nvSpPr>
        <p:spPr>
          <a:xfrm>
            <a:off x="11567160" y="1115568"/>
            <a:ext cx="1828800" cy="402336"/>
          </a:xfrm>
          <a:prstGeom prst="rect">
            <a:avLst/>
          </a:prstGeom>
          <a:noFill/>
          <a:ln/>
        </p:spPr>
        <p:txBody>
          <a:bodyPr wrap="square" lIns="0" tIns="0" rIns="0" bIns="0" rtlCol="0" anchor="ctr"/>
          <a:lstStyle/>
          <a:p>
            <a:pPr marL="0" indent="0" algn="ctr">
              <a:buNone/>
            </a:pPr>
            <a:r>
              <a:rPr lang="en-US" sz="1100" b="1" dirty="0">
                <a:solidFill>
                  <a:srgbClr val="1FB480"/>
                </a:solidFill>
                <a:latin typeface="Arial" pitchFamily="34" charset="0"/>
                <a:ea typeface="Arial" pitchFamily="34" charset="-122"/>
                <a:cs typeface="Arial" pitchFamily="34" charset="-120"/>
              </a:rPr>
              <a:t>Product preview</a:t>
            </a:r>
            <a:endParaRPr lang="en-US" sz="1100" dirty="0"/>
          </a:p>
        </p:txBody>
      </p:sp>
      <p:pic>
        <p:nvPicPr>
          <p:cNvPr id="6" name="Platform screen" descr="/tmp/claude-0/-home-claude/02ea35b7-58d5-5806-896b-11c93173863e/scratchpad/build/img/image10.png"/>
          <p:cNvPicPr>
            <a:picLocks noChangeAspect="1"/>
          </p:cNvPicPr>
          <p:nvPr/>
        </p:nvPicPr>
        <p:blipFill>
          <a:blip r:embed="rId3"/>
          <a:stretch>
            <a:fillRect/>
          </a:stretch>
        </p:blipFill>
        <p:spPr>
          <a:xfrm>
            <a:off x="777240" y="2103120"/>
            <a:ext cx="8321040" cy="5202936"/>
          </a:xfrm>
          <a:prstGeom prst="rect">
            <a:avLst/>
          </a:prstGeom>
        </p:spPr>
      </p:pic>
      <p:sp>
        <p:nvSpPr>
          <p:cNvPr id="7" name="Shape 4"/>
          <p:cNvSpPr/>
          <p:nvPr/>
        </p:nvSpPr>
        <p:spPr>
          <a:xfrm>
            <a:off x="9418320" y="2103120"/>
            <a:ext cx="4434840" cy="1591056"/>
          </a:xfrm>
          <a:prstGeom prst="roundRect">
            <a:avLst>
              <a:gd name="adj" fmla="val 5747"/>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sp>
        <p:nvSpPr>
          <p:cNvPr id="8" name="Text 5"/>
          <p:cNvSpPr txBox="1"/>
          <p:nvPr/>
        </p:nvSpPr>
        <p:spPr>
          <a:xfrm>
            <a:off x="9674352" y="2304288"/>
            <a:ext cx="3931920" cy="411480"/>
          </a:xfrm>
          <a:prstGeom prst="rect">
            <a:avLst/>
          </a:prstGeom>
          <a:noFill/>
          <a:ln/>
        </p:spPr>
        <p:txBody>
          <a:bodyPr wrap="square" lIns="0" tIns="0" rIns="0" bIns="0" rtlCol="0" anchor="ctr"/>
          <a:lstStyle/>
          <a:p>
            <a:pPr marL="0" indent="0">
              <a:buNone/>
            </a:pPr>
            <a:r>
              <a:rPr lang="en-US" sz="1900" b="1" dirty="0">
                <a:solidFill>
                  <a:srgbClr val="063D2B"/>
                </a:solidFill>
                <a:latin typeface="Arial" pitchFamily="34" charset="0"/>
                <a:ea typeface="Arial" pitchFamily="34" charset="-122"/>
                <a:cs typeface="Arial" pitchFamily="34" charset="-120"/>
              </a:rPr>
              <a:t>Driller</a:t>
            </a:r>
            <a:endParaRPr lang="en-US" sz="1900" dirty="0"/>
          </a:p>
        </p:txBody>
      </p:sp>
      <p:sp>
        <p:nvSpPr>
          <p:cNvPr id="9" name="Text 6"/>
          <p:cNvSpPr txBox="1"/>
          <p:nvPr/>
        </p:nvSpPr>
        <p:spPr>
          <a:xfrm>
            <a:off x="9674352" y="2779776"/>
            <a:ext cx="3931920" cy="822960"/>
          </a:xfrm>
          <a:prstGeom prst="rect">
            <a:avLst/>
          </a:prstGeom>
          <a:noFill/>
          <a:ln/>
        </p:spPr>
        <p:txBody>
          <a:bodyPr wrap="square" lIns="0" tIns="0" rIns="0" bIns="0" rtlCol="0" anchor="t"/>
          <a:lstStyle/>
          <a:p>
            <a:pPr marL="0" indent="0">
              <a:buNone/>
            </a:pPr>
            <a:r>
              <a:rPr lang="en-US" sz="1400" dirty="0">
                <a:solidFill>
                  <a:srgbClr val="2B3A35"/>
                </a:solidFill>
                <a:latin typeface="Arial" pitchFamily="34" charset="0"/>
                <a:ea typeface="Arial" pitchFamily="34" charset="-122"/>
                <a:cs typeface="Arial" pitchFamily="34" charset="-120"/>
              </a:rPr>
              <a:t>Sees the ground change as it happens. Knows when to stop, and when to sample.</a:t>
            </a:r>
            <a:endParaRPr lang="en-US" sz="1400" dirty="0"/>
          </a:p>
        </p:txBody>
      </p:sp>
      <p:sp>
        <p:nvSpPr>
          <p:cNvPr id="10" name="Shape 7"/>
          <p:cNvSpPr/>
          <p:nvPr/>
        </p:nvSpPr>
        <p:spPr>
          <a:xfrm>
            <a:off x="9418320" y="3913632"/>
            <a:ext cx="4434840" cy="1591056"/>
          </a:xfrm>
          <a:prstGeom prst="roundRect">
            <a:avLst>
              <a:gd name="adj" fmla="val 5747"/>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sp>
        <p:nvSpPr>
          <p:cNvPr id="11" name="Text 8"/>
          <p:cNvSpPr txBox="1"/>
          <p:nvPr/>
        </p:nvSpPr>
        <p:spPr>
          <a:xfrm>
            <a:off x="9674352" y="4114800"/>
            <a:ext cx="3931920" cy="411480"/>
          </a:xfrm>
          <a:prstGeom prst="rect">
            <a:avLst/>
          </a:prstGeom>
          <a:noFill/>
          <a:ln/>
        </p:spPr>
        <p:txBody>
          <a:bodyPr wrap="square" lIns="0" tIns="0" rIns="0" bIns="0" rtlCol="0" anchor="ctr"/>
          <a:lstStyle/>
          <a:p>
            <a:pPr marL="0" indent="0">
              <a:buNone/>
            </a:pPr>
            <a:r>
              <a:rPr lang="en-US" sz="1900" b="1" dirty="0">
                <a:solidFill>
                  <a:srgbClr val="063D2B"/>
                </a:solidFill>
                <a:latin typeface="Arial" pitchFamily="34" charset="0"/>
                <a:ea typeface="Arial" pitchFamily="34" charset="-122"/>
                <a:cs typeface="Arial" pitchFamily="34" charset="-120"/>
              </a:rPr>
              <a:t>Operations</a:t>
            </a:r>
            <a:endParaRPr lang="en-US" sz="1900" dirty="0"/>
          </a:p>
        </p:txBody>
      </p:sp>
      <p:sp>
        <p:nvSpPr>
          <p:cNvPr id="12" name="Text 9"/>
          <p:cNvSpPr txBox="1"/>
          <p:nvPr/>
        </p:nvSpPr>
        <p:spPr>
          <a:xfrm>
            <a:off x="9674352" y="4590288"/>
            <a:ext cx="3931920" cy="822960"/>
          </a:xfrm>
          <a:prstGeom prst="rect">
            <a:avLst/>
          </a:prstGeom>
          <a:noFill/>
          <a:ln/>
        </p:spPr>
        <p:txBody>
          <a:bodyPr wrap="square" lIns="0" tIns="0" rIns="0" bIns="0" rtlCol="0" anchor="t"/>
          <a:lstStyle/>
          <a:p>
            <a:pPr marL="0" indent="0">
              <a:buNone/>
            </a:pPr>
            <a:r>
              <a:rPr lang="en-US" sz="1400" dirty="0">
                <a:solidFill>
                  <a:srgbClr val="2B3A35"/>
                </a:solidFill>
                <a:latin typeface="Arial" pitchFamily="34" charset="0"/>
                <a:ea typeface="Arial" pitchFamily="34" charset="-122"/>
                <a:cs typeface="Arial" pitchFamily="34" charset="-120"/>
              </a:rPr>
              <a:t>Every rig and every hole, against the plan.</a:t>
            </a:r>
            <a:endParaRPr lang="en-US" sz="1400" dirty="0"/>
          </a:p>
        </p:txBody>
      </p:sp>
      <p:sp>
        <p:nvSpPr>
          <p:cNvPr id="13" name="Shape 10"/>
          <p:cNvSpPr/>
          <p:nvPr/>
        </p:nvSpPr>
        <p:spPr>
          <a:xfrm>
            <a:off x="9418320" y="5724144"/>
            <a:ext cx="4434840" cy="1591056"/>
          </a:xfrm>
          <a:prstGeom prst="roundRect">
            <a:avLst>
              <a:gd name="adj" fmla="val 5747"/>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sp>
        <p:nvSpPr>
          <p:cNvPr id="14" name="Text 11"/>
          <p:cNvSpPr txBox="1"/>
          <p:nvPr/>
        </p:nvSpPr>
        <p:spPr>
          <a:xfrm>
            <a:off x="9674352" y="5925312"/>
            <a:ext cx="3931920" cy="411480"/>
          </a:xfrm>
          <a:prstGeom prst="rect">
            <a:avLst/>
          </a:prstGeom>
          <a:noFill/>
          <a:ln/>
        </p:spPr>
        <p:txBody>
          <a:bodyPr wrap="square" lIns="0" tIns="0" rIns="0" bIns="0" rtlCol="0" anchor="ctr"/>
          <a:lstStyle/>
          <a:p>
            <a:pPr marL="0" indent="0">
              <a:buNone/>
            </a:pPr>
            <a:r>
              <a:rPr lang="en-US" sz="1900" b="1" dirty="0">
                <a:solidFill>
                  <a:srgbClr val="063D2B"/>
                </a:solidFill>
                <a:latin typeface="Arial" pitchFamily="34" charset="0"/>
                <a:ea typeface="Arial" pitchFamily="34" charset="-122"/>
                <a:cs typeface="Arial" pitchFamily="34" charset="-120"/>
              </a:rPr>
              <a:t>Geology &amp; engineering</a:t>
            </a:r>
            <a:endParaRPr lang="en-US" sz="1900" dirty="0"/>
          </a:p>
        </p:txBody>
      </p:sp>
      <p:sp>
        <p:nvSpPr>
          <p:cNvPr id="15" name="Text 12"/>
          <p:cNvSpPr txBox="1"/>
          <p:nvPr/>
        </p:nvSpPr>
        <p:spPr>
          <a:xfrm>
            <a:off x="9674352" y="6400800"/>
            <a:ext cx="3931920" cy="822960"/>
          </a:xfrm>
          <a:prstGeom prst="rect">
            <a:avLst/>
          </a:prstGeom>
          <a:noFill/>
          <a:ln/>
        </p:spPr>
        <p:txBody>
          <a:bodyPr wrap="square" lIns="0" tIns="0" rIns="0" bIns="0" rtlCol="0" anchor="t"/>
          <a:lstStyle/>
          <a:p>
            <a:pPr marL="0" indent="0">
              <a:buNone/>
            </a:pPr>
            <a:r>
              <a:rPr lang="en-US" sz="1400" dirty="0">
                <a:solidFill>
                  <a:srgbClr val="2B3A35"/>
                </a:solidFill>
                <a:latin typeface="Arial" pitchFamily="34" charset="0"/>
                <a:ea typeface="Arial" pitchFamily="34" charset="-122"/>
                <a:cs typeface="Arial" pitchFamily="34" charset="-120"/>
              </a:rPr>
              <a:t>A model that updates with every hole, and shows where to drill next.</a:t>
            </a:r>
            <a:endParaRPr lang="en-US" sz="1400" dirty="0"/>
          </a:p>
        </p:txBody>
      </p:sp>
      <p:sp>
        <p:nvSpPr>
          <p:cNvPr id="25"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8BF217-0DF2-CC37-2BEF-C7B06641B0CF}"/>
            </a:ext>
          </a:extLst>
        </p:cNvPr>
        <p:cNvGrpSpPr/>
        <p:nvPr/>
      </p:nvGrpSpPr>
      <p:grpSpPr>
        <a:xfrm>
          <a:off x="0" y="0"/>
          <a:ext cx="0" cy="0"/>
          <a:chOff x="0" y="0"/>
          <a:chExt cx="0" cy="0"/>
        </a:xfrm>
      </p:grpSpPr>
      <p:sp>
        <p:nvSpPr>
          <p:cNvPr id="2" name="Eyebrow">
            <a:extLst>
              <a:ext uri="{FF2B5EF4-FFF2-40B4-BE49-F238E27FC236}">
                <a16:creationId xmlns:a16="http://schemas.microsoft.com/office/drawing/2014/main" id="{BDB31981-A71B-5208-5B5A-ED878DBF5A48}"/>
              </a:ext>
            </a:extLst>
          </p:cNvPr>
          <p:cNvSpPr txBox="1"/>
          <p:nvPr/>
        </p:nvSpPr>
        <p:spPr>
          <a:xfrm>
            <a:off x="777240" y="502920"/>
            <a:ext cx="10972800" cy="365760"/>
          </a:xfrm>
          <a:prstGeom prst="rect">
            <a:avLst/>
          </a:prstGeom>
          <a:noFill/>
          <a:ln/>
        </p:spPr>
        <p:txBody>
          <a:bodyPr wrap="square" lIns="0" tIns="0" rIns="0" bIns="0" rtlCol="0" anchor="ctr"/>
          <a:lstStyle/>
          <a:p>
            <a:pPr marL="0" indent="0">
              <a:buNone/>
            </a:pPr>
            <a:r>
              <a:rPr lang="en-US" sz="1500" b="1" kern="0" spc="100" dirty="0">
                <a:solidFill>
                  <a:srgbClr val="1FB480"/>
                </a:solidFill>
                <a:latin typeface="Arial" pitchFamily="34" charset="0"/>
                <a:ea typeface="Arial" pitchFamily="34" charset="-122"/>
                <a:cs typeface="Arial" pitchFamily="34" charset="-120"/>
              </a:rPr>
              <a:t>IN THE FIELD</a:t>
            </a:r>
            <a:endParaRPr lang="en-US" sz="1500" dirty="0"/>
          </a:p>
        </p:txBody>
      </p:sp>
      <p:sp>
        <p:nvSpPr>
          <p:cNvPr id="3" name="Title">
            <a:extLst>
              <a:ext uri="{FF2B5EF4-FFF2-40B4-BE49-F238E27FC236}">
                <a16:creationId xmlns:a16="http://schemas.microsoft.com/office/drawing/2014/main" id="{6C426C0B-99DE-1E56-626F-4789660BF55F}"/>
              </a:ext>
            </a:extLst>
          </p:cNvPr>
          <p:cNvSpPr txBox="1"/>
          <p:nvPr/>
        </p:nvSpPr>
        <p:spPr>
          <a:xfrm>
            <a:off x="777240" y="1005840"/>
            <a:ext cx="12435840" cy="731520"/>
          </a:xfrm>
          <a:prstGeom prst="rect">
            <a:avLst/>
          </a:prstGeom>
          <a:noFill/>
          <a:ln/>
        </p:spPr>
        <p:txBody>
          <a:bodyPr wrap="square" lIns="0" tIns="0" rIns="0" bIns="0" rtlCol="0" anchor="ctr"/>
          <a:lstStyle/>
          <a:p>
            <a:pPr marL="0" indent="0">
              <a:buNone/>
            </a:pPr>
            <a:r>
              <a:rPr lang="en-US" sz="3200" b="1" dirty="0">
                <a:solidFill>
                  <a:srgbClr val="063D2B"/>
                </a:solidFill>
                <a:latin typeface="Arial" pitchFamily="34" charset="0"/>
                <a:ea typeface="Arial" pitchFamily="34" charset="-122"/>
                <a:cs typeface="Arial" pitchFamily="34" charset="-120"/>
              </a:rPr>
              <a:t>Real rigs. Real drilling. Real data.</a:t>
            </a:r>
            <a:endParaRPr lang="en-US" sz="3200" dirty="0"/>
          </a:p>
        </p:txBody>
      </p:sp>
      <p:pic>
        <p:nvPicPr>
          <p:cNvPr id="4" name="Photo: team at the rig" descr="/tmp/claude-0/-home-claude/02ea35b7-58d5-5806-896b-11c93173863e/scratchpad/build/img/image6.jpg">
            <a:extLst>
              <a:ext uri="{FF2B5EF4-FFF2-40B4-BE49-F238E27FC236}">
                <a16:creationId xmlns:a16="http://schemas.microsoft.com/office/drawing/2014/main" id="{87CF177F-EC04-440C-38AD-91E99B7EFAD1}"/>
              </a:ext>
            </a:extLst>
          </p:cNvPr>
          <p:cNvPicPr>
            <a:picLocks noChangeAspect="1"/>
          </p:cNvPicPr>
          <p:nvPr/>
        </p:nvPicPr>
        <p:blipFill>
          <a:blip r:embed="rId3"/>
          <a:stretch>
            <a:fillRect/>
          </a:stretch>
        </p:blipFill>
        <p:spPr>
          <a:xfrm>
            <a:off x="777240" y="1920240"/>
            <a:ext cx="5486400" cy="4114800"/>
          </a:xfrm>
          <a:prstGeom prst="rect">
            <a:avLst/>
          </a:prstGeom>
        </p:spPr>
      </p:pic>
      <p:sp>
        <p:nvSpPr>
          <p:cNvPr id="5" name="Text 2">
            <a:extLst>
              <a:ext uri="{FF2B5EF4-FFF2-40B4-BE49-F238E27FC236}">
                <a16:creationId xmlns:a16="http://schemas.microsoft.com/office/drawing/2014/main" id="{6689DD5D-F072-F22E-857B-D004C401EE68}"/>
              </a:ext>
            </a:extLst>
          </p:cNvPr>
          <p:cNvSpPr txBox="1"/>
          <p:nvPr/>
        </p:nvSpPr>
        <p:spPr>
          <a:xfrm>
            <a:off x="777240" y="6126480"/>
            <a:ext cx="5486400" cy="274320"/>
          </a:xfrm>
          <a:prstGeom prst="rect">
            <a:avLst/>
          </a:prstGeom>
          <a:noFill/>
          <a:ln/>
        </p:spPr>
        <p:txBody>
          <a:bodyPr wrap="square" lIns="0" tIns="0" rIns="0" bIns="0" rtlCol="0" anchor="ctr"/>
          <a:lstStyle/>
          <a:p>
            <a:pPr marL="0" indent="0">
              <a:buNone/>
            </a:pPr>
            <a:r>
              <a:rPr lang="en-US" sz="1200" dirty="0">
                <a:solidFill>
                  <a:srgbClr val="5E7A70"/>
                </a:solidFill>
                <a:latin typeface="Arial" pitchFamily="34" charset="0"/>
                <a:ea typeface="Arial" pitchFamily="34" charset="-122"/>
                <a:cs typeface="Arial" pitchFamily="34" charset="-120"/>
              </a:rPr>
              <a:t>The Drillzy team on a working rig · open-pit mine</a:t>
            </a:r>
            <a:endParaRPr lang="en-US" sz="1200" dirty="0"/>
          </a:p>
        </p:txBody>
      </p:sp>
      <p:sp>
        <p:nvSpPr>
          <p:cNvPr id="6" name="Data card">
            <a:extLst>
              <a:ext uri="{FF2B5EF4-FFF2-40B4-BE49-F238E27FC236}">
                <a16:creationId xmlns:a16="http://schemas.microsoft.com/office/drawing/2014/main" id="{2D2272C3-9BAE-5ED6-5163-B5B0FAE86C30}"/>
              </a:ext>
            </a:extLst>
          </p:cNvPr>
          <p:cNvSpPr/>
          <p:nvPr/>
        </p:nvSpPr>
        <p:spPr>
          <a:xfrm>
            <a:off x="6537960" y="1920240"/>
            <a:ext cx="4617720" cy="4114800"/>
          </a:xfrm>
          <a:prstGeom prst="roundRect">
            <a:avLst>
              <a:gd name="adj" fmla="val 2222"/>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pic>
        <p:nvPicPr>
          <p:cNvPr id="7" name="Illustrative depth log" descr="/tmp/claude-0/-home-claude/02ea35b7-58d5-5806-896b-11c93173863e/scratchpad/build/img/sim_log.png">
            <a:extLst>
              <a:ext uri="{FF2B5EF4-FFF2-40B4-BE49-F238E27FC236}">
                <a16:creationId xmlns:a16="http://schemas.microsoft.com/office/drawing/2014/main" id="{45012484-E30D-4830-397F-FB5043CE6174}"/>
              </a:ext>
            </a:extLst>
          </p:cNvPr>
          <p:cNvPicPr>
            <a:picLocks noChangeAspect="1"/>
          </p:cNvPicPr>
          <p:nvPr/>
        </p:nvPicPr>
        <p:blipFill>
          <a:blip r:embed="rId4"/>
          <a:stretch>
            <a:fillRect/>
          </a:stretch>
        </p:blipFill>
        <p:spPr>
          <a:xfrm>
            <a:off x="6665976" y="2029968"/>
            <a:ext cx="4361688" cy="3730752"/>
          </a:xfrm>
          <a:prstGeom prst="rect">
            <a:avLst/>
          </a:prstGeom>
        </p:spPr>
      </p:pic>
      <p:sp>
        <p:nvSpPr>
          <p:cNvPr id="8" name="Text 4">
            <a:extLst>
              <a:ext uri="{FF2B5EF4-FFF2-40B4-BE49-F238E27FC236}">
                <a16:creationId xmlns:a16="http://schemas.microsoft.com/office/drawing/2014/main" id="{828E70FC-197B-F228-7E06-1FFF8605B9E4}"/>
              </a:ext>
            </a:extLst>
          </p:cNvPr>
          <p:cNvSpPr txBox="1"/>
          <p:nvPr/>
        </p:nvSpPr>
        <p:spPr>
          <a:xfrm>
            <a:off x="6537960" y="6126480"/>
            <a:ext cx="4617720" cy="274320"/>
          </a:xfrm>
          <a:prstGeom prst="rect">
            <a:avLst/>
          </a:prstGeom>
          <a:noFill/>
          <a:ln/>
        </p:spPr>
        <p:txBody>
          <a:bodyPr wrap="square" lIns="0" tIns="0" rIns="0" bIns="0" rtlCol="0" anchor="ctr"/>
          <a:lstStyle/>
          <a:p>
            <a:pPr marL="0" indent="0">
              <a:buNone/>
            </a:pPr>
            <a:r>
              <a:rPr lang="en-US" sz="1200" dirty="0">
                <a:solidFill>
                  <a:srgbClr val="5E7A70"/>
                </a:solidFill>
                <a:latin typeface="Arial" pitchFamily="34" charset="0"/>
                <a:ea typeface="Arial" pitchFamily="34" charset="-122"/>
                <a:cs typeface="Arial" pitchFamily="34" charset="-120"/>
              </a:rPr>
              <a:t>Illustrative example · simulated phosphate section</a:t>
            </a:r>
            <a:endParaRPr lang="en-US" sz="1200" dirty="0"/>
          </a:p>
        </p:txBody>
      </p:sp>
      <p:sp>
        <p:nvSpPr>
          <p:cNvPr id="9" name="Shape 5">
            <a:extLst>
              <a:ext uri="{FF2B5EF4-FFF2-40B4-BE49-F238E27FC236}">
                <a16:creationId xmlns:a16="http://schemas.microsoft.com/office/drawing/2014/main" id="{B6C48C33-E3A5-3289-93D3-E823836B515F}"/>
              </a:ext>
            </a:extLst>
          </p:cNvPr>
          <p:cNvSpPr/>
          <p:nvPr/>
        </p:nvSpPr>
        <p:spPr>
          <a:xfrm>
            <a:off x="11430000" y="1920240"/>
            <a:ext cx="2423160" cy="1280160"/>
          </a:xfrm>
          <a:prstGeom prst="roundRect">
            <a:avLst>
              <a:gd name="adj" fmla="val 7143"/>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sp>
        <p:nvSpPr>
          <p:cNvPr id="10" name="Text 6">
            <a:extLst>
              <a:ext uri="{FF2B5EF4-FFF2-40B4-BE49-F238E27FC236}">
                <a16:creationId xmlns:a16="http://schemas.microsoft.com/office/drawing/2014/main" id="{62B29D5E-D22F-BDF0-73B3-D8B09EE1AD82}"/>
              </a:ext>
            </a:extLst>
          </p:cNvPr>
          <p:cNvSpPr txBox="1"/>
          <p:nvPr/>
        </p:nvSpPr>
        <p:spPr>
          <a:xfrm>
            <a:off x="11612880" y="2029968"/>
            <a:ext cx="2103120" cy="548640"/>
          </a:xfrm>
          <a:prstGeom prst="rect">
            <a:avLst/>
          </a:prstGeom>
          <a:noFill/>
          <a:ln/>
        </p:spPr>
        <p:txBody>
          <a:bodyPr wrap="square" lIns="0" tIns="0" rIns="0" bIns="0" rtlCol="0" anchor="ctr"/>
          <a:lstStyle/>
          <a:p>
            <a:pPr marL="0" indent="0">
              <a:buNone/>
            </a:pPr>
            <a:r>
              <a:rPr lang="en-US" sz="3000" b="1" dirty="0">
                <a:solidFill>
                  <a:srgbClr val="1FB480"/>
                </a:solidFill>
                <a:latin typeface="Arial" pitchFamily="34" charset="0"/>
                <a:ea typeface="Arial" pitchFamily="34" charset="-122"/>
                <a:cs typeface="Arial" pitchFamily="34" charset="-120"/>
              </a:rPr>
              <a:t>Dozens</a:t>
            </a:r>
            <a:endParaRPr lang="en-US" sz="3000" dirty="0"/>
          </a:p>
        </p:txBody>
      </p:sp>
      <p:sp>
        <p:nvSpPr>
          <p:cNvPr id="11" name="Text 7">
            <a:extLst>
              <a:ext uri="{FF2B5EF4-FFF2-40B4-BE49-F238E27FC236}">
                <a16:creationId xmlns:a16="http://schemas.microsoft.com/office/drawing/2014/main" id="{4B7665CA-BAA3-39DF-4DBF-702A1BA6E389}"/>
              </a:ext>
            </a:extLst>
          </p:cNvPr>
          <p:cNvSpPr txBox="1"/>
          <p:nvPr/>
        </p:nvSpPr>
        <p:spPr>
          <a:xfrm>
            <a:off x="11612880" y="2606040"/>
            <a:ext cx="2148840" cy="502920"/>
          </a:xfrm>
          <a:prstGeom prst="rect">
            <a:avLst/>
          </a:prstGeom>
          <a:noFill/>
          <a:ln/>
        </p:spPr>
        <p:txBody>
          <a:bodyPr wrap="square" lIns="0" tIns="0" rIns="0" bIns="0" rtlCol="0" anchor="t"/>
          <a:lstStyle/>
          <a:p>
            <a:pPr marL="0" indent="0">
              <a:buNone/>
            </a:pPr>
            <a:r>
              <a:rPr lang="en-US" sz="1250" dirty="0">
                <a:solidFill>
                  <a:srgbClr val="2B3A35"/>
                </a:solidFill>
                <a:latin typeface="Arial" pitchFamily="34" charset="0"/>
                <a:ea typeface="Arial" pitchFamily="34" charset="-122"/>
                <a:cs typeface="Arial" pitchFamily="34" charset="-120"/>
              </a:rPr>
              <a:t>boreholes, many deeper than 100 m</a:t>
            </a:r>
            <a:endParaRPr lang="en-US" sz="1250" dirty="0"/>
          </a:p>
        </p:txBody>
      </p:sp>
      <p:sp>
        <p:nvSpPr>
          <p:cNvPr id="12" name="Shape 8">
            <a:extLst>
              <a:ext uri="{FF2B5EF4-FFF2-40B4-BE49-F238E27FC236}">
                <a16:creationId xmlns:a16="http://schemas.microsoft.com/office/drawing/2014/main" id="{8C81727F-A7A1-550D-1D8D-875276CF3A68}"/>
              </a:ext>
            </a:extLst>
          </p:cNvPr>
          <p:cNvSpPr/>
          <p:nvPr/>
        </p:nvSpPr>
        <p:spPr>
          <a:xfrm>
            <a:off x="11430000" y="3337560"/>
            <a:ext cx="2423160" cy="1280160"/>
          </a:xfrm>
          <a:prstGeom prst="roundRect">
            <a:avLst>
              <a:gd name="adj" fmla="val 7143"/>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sp>
        <p:nvSpPr>
          <p:cNvPr id="13" name="Text 9">
            <a:extLst>
              <a:ext uri="{FF2B5EF4-FFF2-40B4-BE49-F238E27FC236}">
                <a16:creationId xmlns:a16="http://schemas.microsoft.com/office/drawing/2014/main" id="{800B1174-2485-DF8F-7C9F-21D494C2668D}"/>
              </a:ext>
            </a:extLst>
          </p:cNvPr>
          <p:cNvSpPr txBox="1"/>
          <p:nvPr/>
        </p:nvSpPr>
        <p:spPr>
          <a:xfrm>
            <a:off x="11612880" y="3447288"/>
            <a:ext cx="2103120" cy="548640"/>
          </a:xfrm>
          <a:prstGeom prst="rect">
            <a:avLst/>
          </a:prstGeom>
          <a:noFill/>
          <a:ln/>
        </p:spPr>
        <p:txBody>
          <a:bodyPr wrap="square" lIns="0" tIns="0" rIns="0" bIns="0" rtlCol="0" anchor="ctr"/>
          <a:lstStyle/>
          <a:p>
            <a:pPr marL="0" indent="0">
              <a:buNone/>
            </a:pPr>
            <a:r>
              <a:rPr lang="en-US" sz="3000" b="1" dirty="0">
                <a:solidFill>
                  <a:srgbClr val="1FB480"/>
                </a:solidFill>
                <a:latin typeface="Arial" pitchFamily="34" charset="0"/>
                <a:ea typeface="Arial" pitchFamily="34" charset="-122"/>
                <a:cs typeface="Arial" pitchFamily="34" charset="-120"/>
              </a:rPr>
              <a:t>3</a:t>
            </a:r>
            <a:endParaRPr lang="en-US" sz="3000" dirty="0"/>
          </a:p>
        </p:txBody>
      </p:sp>
      <p:sp>
        <p:nvSpPr>
          <p:cNvPr id="14" name="Text 10">
            <a:extLst>
              <a:ext uri="{FF2B5EF4-FFF2-40B4-BE49-F238E27FC236}">
                <a16:creationId xmlns:a16="http://schemas.microsoft.com/office/drawing/2014/main" id="{D56E25C5-0B31-7ECB-1A06-DDAD2127891F}"/>
              </a:ext>
            </a:extLst>
          </p:cNvPr>
          <p:cNvSpPr txBox="1"/>
          <p:nvPr/>
        </p:nvSpPr>
        <p:spPr>
          <a:xfrm>
            <a:off x="11612880" y="4023360"/>
            <a:ext cx="2148840" cy="502920"/>
          </a:xfrm>
          <a:prstGeom prst="rect">
            <a:avLst/>
          </a:prstGeom>
          <a:noFill/>
          <a:ln/>
        </p:spPr>
        <p:txBody>
          <a:bodyPr wrap="square" lIns="0" tIns="0" rIns="0" bIns="0" rtlCol="0" anchor="t"/>
          <a:lstStyle/>
          <a:p>
            <a:pPr marL="0" indent="0">
              <a:buNone/>
            </a:pPr>
            <a:r>
              <a:rPr lang="en-US" sz="1250" dirty="0">
                <a:solidFill>
                  <a:srgbClr val="2B3A35"/>
                </a:solidFill>
                <a:latin typeface="Arial" pitchFamily="34" charset="0"/>
                <a:ea typeface="Arial" pitchFamily="34" charset="-122"/>
                <a:cs typeface="Arial" pitchFamily="34" charset="-120"/>
              </a:rPr>
              <a:t>projects in representative geologies</a:t>
            </a:r>
            <a:endParaRPr lang="en-US" sz="1250" dirty="0"/>
          </a:p>
        </p:txBody>
      </p:sp>
      <p:sp>
        <p:nvSpPr>
          <p:cNvPr id="15" name="Shape 11">
            <a:extLst>
              <a:ext uri="{FF2B5EF4-FFF2-40B4-BE49-F238E27FC236}">
                <a16:creationId xmlns:a16="http://schemas.microsoft.com/office/drawing/2014/main" id="{40E89287-5168-23FD-683E-E766D2334924}"/>
              </a:ext>
            </a:extLst>
          </p:cNvPr>
          <p:cNvSpPr/>
          <p:nvPr/>
        </p:nvSpPr>
        <p:spPr>
          <a:xfrm>
            <a:off x="11430000" y="4754880"/>
            <a:ext cx="2423160" cy="1280160"/>
          </a:xfrm>
          <a:prstGeom prst="roundRect">
            <a:avLst>
              <a:gd name="adj" fmla="val 7143"/>
            </a:avLst>
          </a:prstGeom>
          <a:solidFill>
            <a:srgbClr val="FFFFFF"/>
          </a:solidFill>
          <a:ln w="12700">
            <a:solidFill>
              <a:srgbClr val="DDEDE7"/>
            </a:solidFill>
            <a:prstDash val="solid"/>
          </a:ln>
          <a:effectLst>
            <a:outerShdw blurRad="76200" dist="25400" dir="5400000" algn="bl" rotWithShape="0">
              <a:srgbClr val="063D2B">
                <a:alpha val="10000"/>
              </a:srgbClr>
            </a:outerShdw>
          </a:effectLst>
        </p:spPr>
        <p:txBody>
          <a:bodyPr/>
          <a:lstStyle/>
          <a:p>
            <a:endParaRPr lang="en-IL"/>
          </a:p>
        </p:txBody>
      </p:sp>
      <p:sp>
        <p:nvSpPr>
          <p:cNvPr id="16" name="Text 12">
            <a:extLst>
              <a:ext uri="{FF2B5EF4-FFF2-40B4-BE49-F238E27FC236}">
                <a16:creationId xmlns:a16="http://schemas.microsoft.com/office/drawing/2014/main" id="{EBD41E7A-352B-1DD0-83EC-E863FC228B6B}"/>
              </a:ext>
            </a:extLst>
          </p:cNvPr>
          <p:cNvSpPr txBox="1"/>
          <p:nvPr/>
        </p:nvSpPr>
        <p:spPr>
          <a:xfrm>
            <a:off x="11612880" y="4864608"/>
            <a:ext cx="2103120" cy="548640"/>
          </a:xfrm>
          <a:prstGeom prst="rect">
            <a:avLst/>
          </a:prstGeom>
          <a:noFill/>
          <a:ln/>
        </p:spPr>
        <p:txBody>
          <a:bodyPr wrap="square" lIns="0" tIns="0" rIns="0" bIns="0" rtlCol="0" anchor="ctr"/>
          <a:lstStyle/>
          <a:p>
            <a:pPr marL="0" indent="0">
              <a:buNone/>
            </a:pPr>
            <a:r>
              <a:rPr lang="en-US" sz="3000" b="1" dirty="0">
                <a:solidFill>
                  <a:srgbClr val="1FB480"/>
                </a:solidFill>
                <a:latin typeface="Arial" pitchFamily="34" charset="0"/>
                <a:ea typeface="Arial" pitchFamily="34" charset="-122"/>
                <a:cs typeface="Arial" pitchFamily="34" charset="-120"/>
              </a:rPr>
              <a:t>#1</a:t>
            </a:r>
            <a:endParaRPr lang="en-US" sz="3000" dirty="0"/>
          </a:p>
        </p:txBody>
      </p:sp>
      <p:sp>
        <p:nvSpPr>
          <p:cNvPr id="17" name="Text 13">
            <a:extLst>
              <a:ext uri="{FF2B5EF4-FFF2-40B4-BE49-F238E27FC236}">
                <a16:creationId xmlns:a16="http://schemas.microsoft.com/office/drawing/2014/main" id="{1CAD2581-92C0-A8F1-EF63-E666DB0B4CA9}"/>
              </a:ext>
            </a:extLst>
          </p:cNvPr>
          <p:cNvSpPr txBox="1"/>
          <p:nvPr/>
        </p:nvSpPr>
        <p:spPr>
          <a:xfrm>
            <a:off x="11612880" y="5440680"/>
            <a:ext cx="2148840" cy="502920"/>
          </a:xfrm>
          <a:prstGeom prst="rect">
            <a:avLst/>
          </a:prstGeom>
          <a:noFill/>
          <a:ln/>
        </p:spPr>
        <p:txBody>
          <a:bodyPr wrap="square" lIns="0" tIns="0" rIns="0" bIns="0" rtlCol="0" anchor="t"/>
          <a:lstStyle/>
          <a:p>
            <a:pPr marL="0" indent="0">
              <a:buNone/>
            </a:pPr>
            <a:r>
              <a:rPr lang="en-US" sz="1250" dirty="0">
                <a:solidFill>
                  <a:srgbClr val="2B3A35"/>
                </a:solidFill>
                <a:latin typeface="Arial" pitchFamily="34" charset="0"/>
                <a:ea typeface="Arial" pitchFamily="34" charset="-122"/>
                <a:cs typeface="Arial" pitchFamily="34" charset="-120"/>
              </a:rPr>
              <a:t>Israel's Critical Minerals competition, 2026</a:t>
            </a:r>
            <a:endParaRPr lang="en-US" sz="1250" dirty="0"/>
          </a:p>
        </p:txBody>
      </p:sp>
      <p:sp>
        <p:nvSpPr>
          <p:cNvPr id="18" name="Text 14">
            <a:extLst>
              <a:ext uri="{FF2B5EF4-FFF2-40B4-BE49-F238E27FC236}">
                <a16:creationId xmlns:a16="http://schemas.microsoft.com/office/drawing/2014/main" id="{8C424C92-A05C-3EFA-2701-040BEAAF37D4}"/>
              </a:ext>
            </a:extLst>
          </p:cNvPr>
          <p:cNvSpPr txBox="1"/>
          <p:nvPr/>
        </p:nvSpPr>
        <p:spPr>
          <a:xfrm>
            <a:off x="11430000" y="6126480"/>
            <a:ext cx="2514600" cy="274320"/>
          </a:xfrm>
          <a:prstGeom prst="rect">
            <a:avLst/>
          </a:prstGeom>
          <a:noFill/>
          <a:ln/>
        </p:spPr>
        <p:txBody>
          <a:bodyPr wrap="square" lIns="0" tIns="0" rIns="0" bIns="0" rtlCol="0" anchor="ctr"/>
          <a:lstStyle/>
          <a:p>
            <a:pPr marL="0" indent="0">
              <a:buNone/>
            </a:pPr>
            <a:r>
              <a:rPr lang="en-US" sz="1200" b="1" dirty="0">
                <a:solidFill>
                  <a:srgbClr val="1FB480"/>
                </a:solidFill>
                <a:latin typeface="Arial" pitchFamily="34" charset="0"/>
                <a:ea typeface="Arial" pitchFamily="34" charset="-122"/>
                <a:cs typeface="Arial" pitchFamily="34" charset="-120"/>
              </a:rPr>
              <a:t>Any rig · vendor-agnostic</a:t>
            </a:r>
            <a:endParaRPr lang="en-US" sz="1200" dirty="0"/>
          </a:p>
        </p:txBody>
      </p:sp>
      <p:sp>
        <p:nvSpPr>
          <p:cNvPr id="19" name="Text 15">
            <a:extLst>
              <a:ext uri="{FF2B5EF4-FFF2-40B4-BE49-F238E27FC236}">
                <a16:creationId xmlns:a16="http://schemas.microsoft.com/office/drawing/2014/main" id="{EFCE98A1-0B5E-C1C8-C671-34D149C848BC}"/>
              </a:ext>
            </a:extLst>
          </p:cNvPr>
          <p:cNvSpPr txBox="1"/>
          <p:nvPr/>
        </p:nvSpPr>
        <p:spPr>
          <a:xfrm>
            <a:off x="777240" y="6473952"/>
            <a:ext cx="5486400" cy="274320"/>
          </a:xfrm>
          <a:prstGeom prst="rect">
            <a:avLst/>
          </a:prstGeom>
          <a:noFill/>
          <a:ln/>
        </p:spPr>
        <p:txBody>
          <a:bodyPr wrap="square" lIns="0" tIns="0" rIns="0" bIns="0" rtlCol="0" anchor="ctr"/>
          <a:lstStyle/>
          <a:p>
            <a:pPr marL="0" indent="0">
              <a:buNone/>
            </a:pPr>
            <a:r>
              <a:rPr lang="en-US" sz="1400" b="1" kern="0" spc="100" dirty="0">
                <a:solidFill>
                  <a:srgbClr val="1FB480"/>
                </a:solidFill>
                <a:latin typeface="Arial" pitchFamily="34" charset="0"/>
                <a:ea typeface="Arial" pitchFamily="34" charset="-122"/>
                <a:cs typeface="Arial" pitchFamily="34" charset="-120"/>
              </a:rPr>
              <a:t>OUR DESIGN PARTNERS</a:t>
            </a:r>
            <a:endParaRPr lang="en-US" sz="1400" dirty="0"/>
          </a:p>
        </p:txBody>
      </p:sp>
      <p:sp>
        <p:nvSpPr>
          <p:cNvPr id="20" name="Shape 16">
            <a:extLst>
              <a:ext uri="{FF2B5EF4-FFF2-40B4-BE49-F238E27FC236}">
                <a16:creationId xmlns:a16="http://schemas.microsoft.com/office/drawing/2014/main" id="{63BB95C3-10DA-34B5-1FFA-C05903A73E68}"/>
              </a:ext>
            </a:extLst>
          </p:cNvPr>
          <p:cNvSpPr/>
          <p:nvPr/>
        </p:nvSpPr>
        <p:spPr>
          <a:xfrm>
            <a:off x="777240" y="6858000"/>
            <a:ext cx="4178808" cy="804672"/>
          </a:xfrm>
          <a:prstGeom prst="roundRect">
            <a:avLst>
              <a:gd name="adj" fmla="val 11364"/>
            </a:avLst>
          </a:prstGeom>
          <a:solidFill>
            <a:srgbClr val="1FB480"/>
          </a:solidFill>
          <a:ln w="12700">
            <a:solidFill>
              <a:srgbClr val="1FB480"/>
            </a:solidFill>
            <a:prstDash val="solid"/>
          </a:ln>
          <a:effectLst>
            <a:outerShdw blurRad="76200" dist="25400" dir="5400000" algn="bl" rotWithShape="0">
              <a:srgbClr val="063D2B">
                <a:alpha val="10000"/>
              </a:srgbClr>
            </a:outerShdw>
          </a:effectLst>
        </p:spPr>
        <p:txBody>
          <a:bodyPr/>
          <a:lstStyle/>
          <a:p>
            <a:endParaRPr lang="en-IL"/>
          </a:p>
        </p:txBody>
      </p:sp>
      <p:sp>
        <p:nvSpPr>
          <p:cNvPr id="21" name="Shape 17">
            <a:extLst>
              <a:ext uri="{FF2B5EF4-FFF2-40B4-BE49-F238E27FC236}">
                <a16:creationId xmlns:a16="http://schemas.microsoft.com/office/drawing/2014/main" id="{20F92755-78A0-1BB2-17E1-1D25086DF72C}"/>
              </a:ext>
            </a:extLst>
          </p:cNvPr>
          <p:cNvSpPr/>
          <p:nvPr/>
        </p:nvSpPr>
        <p:spPr>
          <a:xfrm>
            <a:off x="905256" y="6958584"/>
            <a:ext cx="1188720" cy="603504"/>
          </a:xfrm>
          <a:prstGeom prst="roundRect">
            <a:avLst>
              <a:gd name="adj" fmla="val 12121"/>
            </a:avLst>
          </a:prstGeom>
          <a:solidFill>
            <a:srgbClr val="FFFFFF"/>
          </a:solidFill>
          <a:ln w="12700">
            <a:solidFill>
              <a:srgbClr val="FFFFFF"/>
            </a:solidFill>
            <a:prstDash val="solid"/>
          </a:ln>
        </p:spPr>
        <p:txBody>
          <a:bodyPr/>
          <a:lstStyle/>
          <a:p>
            <a:endParaRPr lang="en-IL"/>
          </a:p>
        </p:txBody>
      </p:sp>
      <p:pic>
        <p:nvPicPr>
          <p:cNvPr id="22" name="Image 2" descr="/tmp/claude-0/-home-claude/02ea35b7-58d5-5806-896b-11c93173863e/scratchpad/build/img/image8.png">
            <a:extLst>
              <a:ext uri="{FF2B5EF4-FFF2-40B4-BE49-F238E27FC236}">
                <a16:creationId xmlns:a16="http://schemas.microsoft.com/office/drawing/2014/main" id="{0A5E7B90-BBEF-67D7-CFB2-47DD5B64A777}"/>
              </a:ext>
            </a:extLst>
          </p:cNvPr>
          <p:cNvPicPr>
            <a:picLocks noChangeAspect="1"/>
          </p:cNvPicPr>
          <p:nvPr/>
        </p:nvPicPr>
        <p:blipFill>
          <a:blip r:embed="rId5"/>
          <a:stretch>
            <a:fillRect/>
          </a:stretch>
        </p:blipFill>
        <p:spPr>
          <a:xfrm>
            <a:off x="973836" y="7045452"/>
            <a:ext cx="1051560" cy="429768"/>
          </a:xfrm>
          <a:prstGeom prst="rect">
            <a:avLst/>
          </a:prstGeom>
        </p:spPr>
      </p:pic>
      <p:sp>
        <p:nvSpPr>
          <p:cNvPr id="23" name="Text 18">
            <a:extLst>
              <a:ext uri="{FF2B5EF4-FFF2-40B4-BE49-F238E27FC236}">
                <a16:creationId xmlns:a16="http://schemas.microsoft.com/office/drawing/2014/main" id="{12FC8AD2-D298-39A9-9E1F-50C35C84BB89}"/>
              </a:ext>
            </a:extLst>
          </p:cNvPr>
          <p:cNvSpPr txBox="1"/>
          <p:nvPr/>
        </p:nvSpPr>
        <p:spPr>
          <a:xfrm>
            <a:off x="2258568" y="6858000"/>
            <a:ext cx="2606040" cy="804672"/>
          </a:xfrm>
          <a:prstGeom prst="rect">
            <a:avLst/>
          </a:prstGeom>
          <a:noFill/>
          <a:ln/>
        </p:spPr>
        <p:txBody>
          <a:bodyPr wrap="square" lIns="0" tIns="0" rIns="0" bIns="0" rtlCol="0" anchor="ctr"/>
          <a:lstStyle/>
          <a:p>
            <a:pPr marL="0" indent="0">
              <a:buNone/>
            </a:pPr>
            <a:r>
              <a:rPr lang="en-US" sz="1600" b="1" dirty="0">
                <a:solidFill>
                  <a:srgbClr val="063D2B"/>
                </a:solidFill>
                <a:latin typeface="Arial" pitchFamily="34" charset="0"/>
                <a:ea typeface="Arial" pitchFamily="34" charset="-122"/>
                <a:cs typeface="Arial" pitchFamily="34" charset="-120"/>
              </a:rPr>
              <a:t>Mining</a:t>
            </a:r>
            <a:endParaRPr lang="en-US" sz="1600" dirty="0"/>
          </a:p>
          <a:p>
            <a:pPr marL="0" indent="0">
              <a:buNone/>
            </a:pPr>
            <a:r>
              <a:rPr lang="en-US" sz="1300" dirty="0">
                <a:solidFill>
                  <a:srgbClr val="063D2B"/>
                </a:solidFill>
                <a:latin typeface="Arial" pitchFamily="34" charset="0"/>
                <a:ea typeface="Arial" pitchFamily="34" charset="-122"/>
                <a:cs typeface="Arial" pitchFamily="34" charset="-120"/>
              </a:rPr>
              <a:t>Phosphate mine</a:t>
            </a:r>
            <a:endParaRPr lang="en-US" sz="1600" dirty="0"/>
          </a:p>
        </p:txBody>
      </p:sp>
      <p:sp>
        <p:nvSpPr>
          <p:cNvPr id="24" name="Shape 19">
            <a:extLst>
              <a:ext uri="{FF2B5EF4-FFF2-40B4-BE49-F238E27FC236}">
                <a16:creationId xmlns:a16="http://schemas.microsoft.com/office/drawing/2014/main" id="{54BDF944-F469-43A9-4F8E-DB5AD556BFC4}"/>
              </a:ext>
            </a:extLst>
          </p:cNvPr>
          <p:cNvSpPr/>
          <p:nvPr/>
        </p:nvSpPr>
        <p:spPr>
          <a:xfrm>
            <a:off x="5230368" y="6858000"/>
            <a:ext cx="4178808" cy="804672"/>
          </a:xfrm>
          <a:prstGeom prst="roundRect">
            <a:avLst>
              <a:gd name="adj" fmla="val 11364"/>
            </a:avLst>
          </a:prstGeom>
          <a:solidFill>
            <a:srgbClr val="1FB480"/>
          </a:solidFill>
          <a:ln w="12700">
            <a:solidFill>
              <a:srgbClr val="1FB480"/>
            </a:solidFill>
            <a:prstDash val="solid"/>
          </a:ln>
          <a:effectLst>
            <a:outerShdw blurRad="76200" dist="25400" dir="5400000" algn="bl" rotWithShape="0">
              <a:srgbClr val="063D2B">
                <a:alpha val="10000"/>
              </a:srgbClr>
            </a:outerShdw>
          </a:effectLst>
        </p:spPr>
        <p:txBody>
          <a:bodyPr/>
          <a:lstStyle/>
          <a:p>
            <a:endParaRPr lang="en-IL"/>
          </a:p>
        </p:txBody>
      </p:sp>
      <p:sp>
        <p:nvSpPr>
          <p:cNvPr id="25" name="Shape 20">
            <a:extLst>
              <a:ext uri="{FF2B5EF4-FFF2-40B4-BE49-F238E27FC236}">
                <a16:creationId xmlns:a16="http://schemas.microsoft.com/office/drawing/2014/main" id="{CBAD567B-0C75-6424-EC00-00A63592B804}"/>
              </a:ext>
            </a:extLst>
          </p:cNvPr>
          <p:cNvSpPr/>
          <p:nvPr/>
        </p:nvSpPr>
        <p:spPr>
          <a:xfrm>
            <a:off x="5358384" y="6958584"/>
            <a:ext cx="1188720" cy="603504"/>
          </a:xfrm>
          <a:prstGeom prst="roundRect">
            <a:avLst>
              <a:gd name="adj" fmla="val 12121"/>
            </a:avLst>
          </a:prstGeom>
          <a:solidFill>
            <a:srgbClr val="FFFFFF"/>
          </a:solidFill>
          <a:ln w="12700">
            <a:solidFill>
              <a:srgbClr val="FFFFFF"/>
            </a:solidFill>
            <a:prstDash val="solid"/>
          </a:ln>
        </p:spPr>
        <p:txBody>
          <a:bodyPr/>
          <a:lstStyle/>
          <a:p>
            <a:endParaRPr lang="en-IL"/>
          </a:p>
        </p:txBody>
      </p:sp>
      <p:pic>
        <p:nvPicPr>
          <p:cNvPr id="26" name="Image 3" descr="/tmp/claude-0/-home-claude/02ea35b7-58d5-5806-896b-11c93173863e/scratchpad/build/img/FaLandmark.png">
            <a:extLst>
              <a:ext uri="{FF2B5EF4-FFF2-40B4-BE49-F238E27FC236}">
                <a16:creationId xmlns:a16="http://schemas.microsoft.com/office/drawing/2014/main" id="{48468525-151A-F602-93AA-6E2E2B36E0F1}"/>
              </a:ext>
            </a:extLst>
          </p:cNvPr>
          <p:cNvPicPr>
            <a:picLocks noChangeAspect="1"/>
          </p:cNvPicPr>
          <p:nvPr/>
        </p:nvPicPr>
        <p:blipFill>
          <a:blip r:embed="rId6"/>
          <a:stretch>
            <a:fillRect/>
          </a:stretch>
        </p:blipFill>
        <p:spPr>
          <a:xfrm>
            <a:off x="5724144" y="7031736"/>
            <a:ext cx="457200" cy="457200"/>
          </a:xfrm>
          <a:prstGeom prst="rect">
            <a:avLst/>
          </a:prstGeom>
        </p:spPr>
      </p:pic>
      <p:sp>
        <p:nvSpPr>
          <p:cNvPr id="27" name="Text 21">
            <a:extLst>
              <a:ext uri="{FF2B5EF4-FFF2-40B4-BE49-F238E27FC236}">
                <a16:creationId xmlns:a16="http://schemas.microsoft.com/office/drawing/2014/main" id="{8F743E54-5619-D2E6-3601-5ADC7179849A}"/>
              </a:ext>
            </a:extLst>
          </p:cNvPr>
          <p:cNvSpPr txBox="1"/>
          <p:nvPr/>
        </p:nvSpPr>
        <p:spPr>
          <a:xfrm>
            <a:off x="6711696" y="6858000"/>
            <a:ext cx="2606040" cy="804672"/>
          </a:xfrm>
          <a:prstGeom prst="rect">
            <a:avLst/>
          </a:prstGeom>
          <a:noFill/>
          <a:ln/>
        </p:spPr>
        <p:txBody>
          <a:bodyPr wrap="square" lIns="0" tIns="0" rIns="0" bIns="0" rtlCol="0" anchor="ctr"/>
          <a:lstStyle/>
          <a:p>
            <a:pPr marL="0" indent="0">
              <a:buNone/>
            </a:pPr>
            <a:r>
              <a:rPr lang="en-US" sz="1600" b="1" dirty="0">
                <a:solidFill>
                  <a:srgbClr val="063D2B"/>
                </a:solidFill>
                <a:latin typeface="Arial" pitchFamily="34" charset="0"/>
                <a:ea typeface="Arial" pitchFamily="34" charset="-122"/>
                <a:cs typeface="Arial" pitchFamily="34" charset="-120"/>
              </a:rPr>
              <a:t>Government body</a:t>
            </a:r>
            <a:endParaRPr lang="en-US" sz="1600" dirty="0"/>
          </a:p>
          <a:p>
            <a:pPr marL="0" indent="0">
              <a:buNone/>
            </a:pPr>
            <a:r>
              <a:rPr lang="en-US" sz="1300" dirty="0">
                <a:solidFill>
                  <a:srgbClr val="063D2B"/>
                </a:solidFill>
                <a:latin typeface="Arial" pitchFamily="34" charset="0"/>
                <a:ea typeface="Arial" pitchFamily="34" charset="-122"/>
                <a:cs typeface="Arial" pitchFamily="34" charset="-120"/>
              </a:rPr>
              <a:t>Hard rock</a:t>
            </a:r>
            <a:endParaRPr lang="en-US" sz="1600" dirty="0"/>
          </a:p>
        </p:txBody>
      </p:sp>
      <p:sp>
        <p:nvSpPr>
          <p:cNvPr id="28" name="Shape 22">
            <a:extLst>
              <a:ext uri="{FF2B5EF4-FFF2-40B4-BE49-F238E27FC236}">
                <a16:creationId xmlns:a16="http://schemas.microsoft.com/office/drawing/2014/main" id="{2EE634B6-D98F-0350-8592-62CFA28BEE2B}"/>
              </a:ext>
            </a:extLst>
          </p:cNvPr>
          <p:cNvSpPr/>
          <p:nvPr/>
        </p:nvSpPr>
        <p:spPr>
          <a:xfrm>
            <a:off x="9683496" y="6858000"/>
            <a:ext cx="4178808" cy="804672"/>
          </a:xfrm>
          <a:prstGeom prst="roundRect">
            <a:avLst>
              <a:gd name="adj" fmla="val 11364"/>
            </a:avLst>
          </a:prstGeom>
          <a:solidFill>
            <a:srgbClr val="1FB480"/>
          </a:solidFill>
          <a:ln w="12700">
            <a:solidFill>
              <a:srgbClr val="1FB480"/>
            </a:solidFill>
            <a:prstDash val="solid"/>
          </a:ln>
          <a:effectLst>
            <a:outerShdw blurRad="76200" dist="25400" dir="5400000" algn="bl" rotWithShape="0">
              <a:srgbClr val="063D2B">
                <a:alpha val="10000"/>
              </a:srgbClr>
            </a:outerShdw>
          </a:effectLst>
        </p:spPr>
        <p:txBody>
          <a:bodyPr/>
          <a:lstStyle/>
          <a:p>
            <a:endParaRPr lang="en-IL"/>
          </a:p>
        </p:txBody>
      </p:sp>
      <p:sp>
        <p:nvSpPr>
          <p:cNvPr id="29" name="Shape 23">
            <a:extLst>
              <a:ext uri="{FF2B5EF4-FFF2-40B4-BE49-F238E27FC236}">
                <a16:creationId xmlns:a16="http://schemas.microsoft.com/office/drawing/2014/main" id="{E5A89B3C-571F-6C8D-F445-916C453E4744}"/>
              </a:ext>
            </a:extLst>
          </p:cNvPr>
          <p:cNvSpPr/>
          <p:nvPr/>
        </p:nvSpPr>
        <p:spPr>
          <a:xfrm>
            <a:off x="9811512" y="6958584"/>
            <a:ext cx="1188720" cy="603504"/>
          </a:xfrm>
          <a:prstGeom prst="roundRect">
            <a:avLst>
              <a:gd name="adj" fmla="val 12121"/>
            </a:avLst>
          </a:prstGeom>
          <a:solidFill>
            <a:srgbClr val="FFFFFF"/>
          </a:solidFill>
          <a:ln w="12700">
            <a:solidFill>
              <a:srgbClr val="FFFFFF"/>
            </a:solidFill>
            <a:prstDash val="solid"/>
          </a:ln>
        </p:spPr>
        <p:txBody>
          <a:bodyPr/>
          <a:lstStyle/>
          <a:p>
            <a:endParaRPr lang="en-IL"/>
          </a:p>
        </p:txBody>
      </p:sp>
      <p:pic>
        <p:nvPicPr>
          <p:cNvPr id="30" name="Image 4" descr="/tmp/claude-0/-home-claude/02ea35b7-58d5-5806-896b-11c93173863e/scratchpad/build/img/image9.jpg">
            <a:extLst>
              <a:ext uri="{FF2B5EF4-FFF2-40B4-BE49-F238E27FC236}">
                <a16:creationId xmlns:a16="http://schemas.microsoft.com/office/drawing/2014/main" id="{02C11BB3-A7FC-0F8E-44E6-2DFBAE776A8F}"/>
              </a:ext>
            </a:extLst>
          </p:cNvPr>
          <p:cNvPicPr>
            <a:picLocks noChangeAspect="1"/>
          </p:cNvPicPr>
          <p:nvPr/>
        </p:nvPicPr>
        <p:blipFill>
          <a:blip r:embed="rId7"/>
          <a:stretch>
            <a:fillRect/>
          </a:stretch>
        </p:blipFill>
        <p:spPr>
          <a:xfrm>
            <a:off x="10177272" y="6995160"/>
            <a:ext cx="457200" cy="530352"/>
          </a:xfrm>
          <a:prstGeom prst="rect">
            <a:avLst/>
          </a:prstGeom>
        </p:spPr>
      </p:pic>
      <p:sp>
        <p:nvSpPr>
          <p:cNvPr id="31" name="Text 24">
            <a:extLst>
              <a:ext uri="{FF2B5EF4-FFF2-40B4-BE49-F238E27FC236}">
                <a16:creationId xmlns:a16="http://schemas.microsoft.com/office/drawing/2014/main" id="{09406A5C-47F8-DD7C-3791-AF8B1BAFD5F4}"/>
              </a:ext>
            </a:extLst>
          </p:cNvPr>
          <p:cNvSpPr txBox="1"/>
          <p:nvPr/>
        </p:nvSpPr>
        <p:spPr>
          <a:xfrm>
            <a:off x="11164824" y="6858000"/>
            <a:ext cx="2606040" cy="804672"/>
          </a:xfrm>
          <a:prstGeom prst="rect">
            <a:avLst/>
          </a:prstGeom>
          <a:noFill/>
          <a:ln/>
        </p:spPr>
        <p:txBody>
          <a:bodyPr wrap="square" lIns="0" tIns="0" rIns="0" bIns="0" rtlCol="0" anchor="ctr"/>
          <a:lstStyle/>
          <a:p>
            <a:pPr marL="0" indent="0">
              <a:buNone/>
            </a:pPr>
            <a:r>
              <a:rPr lang="en-US" sz="1600" b="1" dirty="0">
                <a:solidFill>
                  <a:srgbClr val="063D2B"/>
                </a:solidFill>
                <a:latin typeface="Arial" pitchFamily="34" charset="0"/>
                <a:ea typeface="Arial" pitchFamily="34" charset="-122"/>
                <a:cs typeface="Arial" pitchFamily="34" charset="-120"/>
              </a:rPr>
              <a:t>Water utility</a:t>
            </a:r>
            <a:endParaRPr lang="en-US" sz="1600" dirty="0"/>
          </a:p>
          <a:p>
            <a:pPr marL="0" indent="0">
              <a:buNone/>
            </a:pPr>
            <a:r>
              <a:rPr lang="en-US" sz="1300" dirty="0">
                <a:solidFill>
                  <a:srgbClr val="063D2B"/>
                </a:solidFill>
                <a:latin typeface="Arial" pitchFamily="34" charset="0"/>
                <a:ea typeface="Arial" pitchFamily="34" charset="-122"/>
                <a:cs typeface="Arial" pitchFamily="34" charset="-120"/>
              </a:rPr>
              <a:t>Aquifer</a:t>
            </a:r>
            <a:endParaRPr lang="en-US" sz="1600" dirty="0"/>
          </a:p>
        </p:txBody>
      </p:sp>
      <p:sp>
        <p:nvSpPr>
          <p:cNvPr id="32" name="Slide Number Placeholder 0">
            <a:extLst>
              <a:ext uri="{FF2B5EF4-FFF2-40B4-BE49-F238E27FC236}">
                <a16:creationId xmlns:a16="http://schemas.microsoft.com/office/drawing/2014/main" id="{30249491-C0E3-1C04-D403-1F56F5B25C7E}"/>
              </a:ext>
            </a:extLst>
          </p:cNvPr>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5E7A70"/>
                </a:solidFill>
              </a:defRPr>
            </a:lvl1pPr>
          </a:lstStyle>
          <a:p>
            <a:pPr algn="r"/>
            <a:fld id="{F7021451-1387-4CA6-816F-3879F97B5CBC}" type="slidenum">
              <a:rPr lang="en-US" b="0"/>
              <a:t>11</a:t>
            </a:fld>
            <a:endParaRPr lang="en-US"/>
          </a:p>
        </p:txBody>
      </p:sp>
    </p:spTree>
    <p:extLst>
      <p:ext uri="{BB962C8B-B14F-4D97-AF65-F5344CB8AC3E}">
        <p14:creationId xmlns:p14="http://schemas.microsoft.com/office/powerpoint/2010/main" val="3152230602"/>
      </p:ext>
    </p:extLst>
  </p:cSld>
  <p:clrMapOvr>
    <a:masterClrMapping/>
  </p:clrMapOvr>
</p:sld>
</file>

<file path=ppt/theme/theme1.xml><?xml version="1.0" encoding="utf-8"?>
<a:theme xmlns:a="http://schemas.openxmlformats.org/drawingml/2006/main" name="Drillzy [1792138541106]">
  <a:themeElements>
    <a:clrScheme name="Drillzy">
      <a:dk1>
        <a:srgbClr val="000000"/>
      </a:dk1>
      <a:lt1>
        <a:srgbClr val="FFFFFF"/>
      </a:lt1>
      <a:dk2>
        <a:srgbClr val="063D2B"/>
      </a:dk2>
      <a:lt2>
        <a:srgbClr val="F4FBF8"/>
      </a:lt2>
      <a:accent1>
        <a:srgbClr val="1FB480"/>
      </a:accent1>
      <a:accent2>
        <a:srgbClr val="2EC488"/>
      </a:accent2>
      <a:accent3>
        <a:srgbClr val="E0A526"/>
      </a:accent3>
      <a:accent4>
        <a:srgbClr val="2E8FA8"/>
      </a:accent4>
      <a:accent5>
        <a:srgbClr val="8A2A3B"/>
      </a:accent5>
      <a:accent6>
        <a:srgbClr val="5E7A70"/>
      </a:accent6>
      <a:hlink>
        <a:srgbClr val="1FB480"/>
      </a:hlink>
      <a:folHlink>
        <a:srgbClr val="5E7A70"/>
      </a:folHlink>
    </a:clrScheme>
    <a:fontScheme name="Drillz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714D843-028F-4003-9B11-BCDB14AC74B5}">
  <we:reference id="wa200010001" version="1.0.0.1" store="en-US" storeType="OMEX"/>
  <we:alternateReferences>
    <we:reference id="WA200010001" version="1.0.0.1" store="" storeType="OMEX"/>
  </we:alternateReferences>
  <we:properties>
    <we:property name="claude.fileId" value="&quot;9c50db3a-6163-4436-b136-95f8338d606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3097</TotalTime>
  <Words>2008</Words>
  <Application>Microsoft Office PowerPoint</Application>
  <PresentationFormat>Custom</PresentationFormat>
  <Paragraphs>248</Paragraphs>
  <Slides>11</Slides>
  <Notes>11</Notes>
  <HiddenSlides>2</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Drillzy [1792138541106]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Drillzy - Vision (4 min)</dc:title>
  <dc:subject>PptxGenJS Presentation</dc:subject>
  <dc:creator>Yair Gordin</dc:creator>
  <cp:lastModifiedBy>Yair Gordin</cp:lastModifiedBy>
  <cp:revision>22</cp:revision>
  <dcterms:created xsi:type="dcterms:W3CDTF">2026-10-14T06:51:46Z</dcterms:created>
  <dcterms:modified xsi:type="dcterms:W3CDTF">2026-10-20T08:39:52Z</dcterms:modified>
</cp:coreProperties>
</file>